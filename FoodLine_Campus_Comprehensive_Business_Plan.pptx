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BUSINESS PLAN COVER
FoodLine Campus is an express food pre-ordering rail and kitchen automation system designed specifically for college campuses.
This business plan outlines the market problem, technological solution, operational model, and the 5-year financial trajectory based on our tested pilot unit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VISION &amp; MISSION
Vision: Eliminate dining lines across 500+ Indian university campuses.
Mission: Give students their break back, provide hot food on time, and enable canteens to scale volume without extra staff or chaotic physical 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EXECUTIVE SUMMARY
Key takeaway: We have identified a severe, daily pain point in a captive university environment. We combine pre-ordering, kitchen throttled batching, and 100% fraud-proof payments into an asset-light, high-margin software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OBJECTIVES &amp; MILESTONES
Our 4-phase rollout ensures that each stage is funded by cashflows from the previous stage:
Phase 1: Pilot at Sanjivani University (prove unit economics)
Phase 2: 5 Campuses in regional cluster
Phase 3: 15 Campuses across Pune &amp; Maharashtra
Phase 4: 50 Campuses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SWOT ANALYSIS
Strengths: Solving a captive problem with high gross margin (67%) and zero fleet Capex.
Weaknesses: Early stage and semester seasonality.
Opportunities: 40,000+ colleges where delivery apps cannot operate.
Threats: Administrative red-tape, mitigated by proving canteen profitability in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LEGAL &amp; COMPLIANCE
We adhere strictly to corporate regulations (Pvt Ltd), tax compliance (GST/TDS), food safety standards (partner FSSAI verification), and data privacy laws (DPDP Act).
Our canteen agreements establish clear SLA boundaries and automatic daily financial settlements.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PROBLEMS &amp; SOLUTIONS
This slide demonstrates the direct 1-to-1 solution FoodLine provides for every single operational pain point on campus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BUSINESS DESCRIPTION
We are an asset-light software rail. We don't hire delivery riders or rent kitchens. We optimize existing canteen capacity and capture high-frequency campus cash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SERVICE DESCRIPTION
FoodLine delivers 4 integrated modules:
1. Student App for pre-ordering
2. Kitchen Display System for kitchen staff
3. Capacity Engine for throttling orders
4. Manager Portal for daily accounting and automated reconciliation.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INTELLECTUAL PROPERTY
Our IP moats consist of proprietary full-stack code, dynamic slot throttling algorithms, cryptographic payment verification, and the operational blueprint for zero-Capex campus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LOCATION &amp; OPERATIONAL REACH
We launch at Sanjivani University where we have direct operational access and high student density.
Our cluster strategy focuses on expanding across the Nashik-Ahmednagar corridor before scaling into the massive Pune university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MANAGEMENT &amp; PERSONNEL
Our lean organizational structure combines full-stack technology execution with ground-level campus presence.
Low headcount overhead keeps our operating expenses under ₹15,000/month during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INSURANCE &amp; RISK MITIGATION
We de-risk physical assets with low Capex hardware and replacement pools, de-risk financial flows through bank UTR verification, and ensure platform uptime with dual-sync database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SECURITY &amp; DATA PROTECTION
Security is our primary technological moat. With 23/23 passed automated security audits, our cryptographic UTR matching guarantees 100% clean payments with zero fake screenshot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MARKETING STRATEGY
Because college campuses have dense captive foot traffic, Customer Acquisition Cost (CAC) is near ₹0. Physical table standees and student ambassador word-of-mouth drive 40% adoption within the first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COMPETITORS ANALYSIS
FoodLine sits in a clear blue ocean on college campuses: delivery aggregators are blocked by gates and high fees, while manual counters and legacy POS machines suffer from queues and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COMPETITIVE ADVANTAGES
Our 8 core advantages ensure sticky customer retention, zero canteen churn, and superior unit economics compared to any generic food tech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INDUSTRY TRENDS
Digital payments, quick-commerce habits, and canteen cost pressures create a perfect storm of adoption for FoodLine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SERVICES &amp; SALES PROCESS
Canteens can be onboarded in less than 24 hours. Because we require zero Capex and offer free KDS software, canteen managers readily agree to a 7-day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CLIENT SERVICE PROCESS
By shifting order entry and payment into the classroom, the actual counter experience becomes a rapid 30-second handover, completely eliminating queue buildup.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COMMUNICATION PLAN
Clear communication channels ensure smooth operational synchronization internally among developers and operators, and externally with students and canteen managers.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22: FINANCE - SETUP COST
Our initial investment requirement is ₹2,04,000, covering software build (₹60K), canteen hardware (₹15K), legal/GST setup (₹25K), launch branding (₹20K), and a working capital reserve (₹84K).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23: WORKING CAPITAL
Fixed monthly costs are ₹15,000, totaling ₹1,80,000 annually. This includes campus operations, cloud hosting, ongoing promotions, and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24: INCOME AND EXPENSES
Single-campus pilot unit economics under the 4% student fee model:
- GMV: ₹48 Lakhs
- Canteen Commission: ₹0 (Zero friction onboarding)
- Revenue: ₹1.92 Lakhs (4% convenience fee from students)
- Direct Tech COGS: ₹18,000
- Gross Profit: ₹1.74 Lakhs (90.6% gross margin)
- Lean Fixed OPEX: ₹72,000
- Net Profit: ₹1.02 Lakhs (53.1% net margin)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25: 5-YEAR PROJECTIONS
Our 5-year growth path takes us from:
- Year 1: 1 campus, ₹48L GMV, ₹1.92L revenue, ₹1.02L profit
- Year 2: 5 campuses, ₹2.4Cr GMV, ₹9.60L revenue, ₹6.30L profit
- Year 3: 15 campuses, ₹7.2Cr GMV, ₹28.80L revenue, ₹19.60L profit
- Year 4: 30 campuses, ₹14.4Cr GMV, ₹57.60L revenue, ₹38.20L profit
- Year 5: 50 campuses, ₹24.0Cr GMV, ₹96.00L revenue, ₹63.00L profit
Targeting the long-term ₹344,57,81,800 Goldmine enterprise valuation across 500+ Indian campuses.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26: OPERATING EXPENSE PLAN
Operating expenses grow steadily from ₹1.80L in Year 1 to ₹60.0L in Year 5 as we hire regional operations coordinators and scale cloud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27: SOURCES OF FUNDS
Our funding structure is 51% Founder Equity (₹1.04L) and 49% Seed Capital (₹1.00L). Over 41% of funds remain in cash reserve as working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28: INVESTOR REPAYMENT &amp; ROI
With Year 1 net profit matching initial seed capital, investors experience rapid de-risking and exceptional upside as the network scales to 50 campuses.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29: BREAK-EVEN ANALYSIS
Under the 4% student fee model:
- Contribution margin: ₹2.90/order
- Break-even volume: 24,828 orders/year (41.4% capacity)
- Operational break-even: Month 5
- Capital payback: ~18 months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30: FUTURE EXPANSION
Beyond canteen dining, FoodLine expands into food courts, midnight hostel rails, smart RFID campus cards, and institutional timetable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31: CONCLUSION
FoodLine Campus delivers an undeniable win-win: students eat without waiting, canteens make more money without chaos, and investors enjoy high-margin cash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32: THANK YOU
Thank you for your time and consideration. We welcome your questions and look forward to partnering to scale FoodLine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31520"/>
            <a:ext cx="3840480" cy="329184"/>
          </a:xfrm>
          <a:prstGeom prst="roundRect">
            <a:avLst>
              <a:gd name="adj" fmla="val 2777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BUSINESS PLAN (2026 – 2031)</a:t>
            </a:r>
            <a:endParaRPr lang="en-US" sz="1000" dirty="0"/>
          </a:p>
        </p:txBody>
      </p:sp>
      <p:pic>
        <p:nvPicPr>
          <p:cNvPr id="5" name="Image 0" descr="D:\Shivam Project\StartUp Project\FoodLine Campus\foodline-camp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48640"/>
            <a:ext cx="137160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234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PLAN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Zero-Queue Express Food Ordering &amp; Kitchen Automation for College Campuses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10698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10896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Venture Name: FoodLine Campus Technologies Pvt. Ltd.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Domain: Campus Food-Tech, Kitchen Automation &amp; Express Rail Pickup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Presented By: Shivam &amp; FoodLine Core Founders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Pilot Campus: Sanjivani University (Cafe @7 Outlet), Kopargaon, Maharashtra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5-Year Target: Scale to 50 Campuses, 30 Lakh+ Orders/Year, ₹24 Cr GMV &amp; ₹92 Lakh Net Profit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Goldmine Target: This business plan is designed to help achieve total Goldmine Amount ₹3,44,57,81,800 (₹344.58 Cr)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51663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25780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EXECUTIVE VISION STATEMENT: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"This business plan is structured to scale FoodLine Campus from our single 2,500-student pilot into India's leading campus food ordering rail, achieving healthy unit profitability and progressing towards our total Goldmine Target of ₹3,44,57,81,800 (₹344.58 Cr)."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/ 32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FOUNDATIONAL PILLARS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and Mission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Defining the long-term purpose and daily operational commitments of FoodLine Campus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become India's most trusted and widespread campus food-tech and kitchen automation platform, eliminating dining queues across 500+ universities and colleges nationwide.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Visionary Milestones: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Zero-Wait Campus Dining: Every meal collected in &lt; 30 seconds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Cashless &amp; Fraud-Free: Direct bank verification on all orders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Kitchen Empowerment: Modernizing unorganized campus canteens with free intelligent software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give every student back their precious 15-minute break time through seamless digital pre-ordering, while empowering canteen managers to double rush-hour sales with zero kitchen chaos.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Commitments: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Extreme Simplicity: 10-second order flow for students, 1-tap KDS for cooks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Absolute Financial Security: Zero fake screenshot leakage for canteens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Quality Dining: Freshly prepared meals waiting hot at recess bell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high-level synthesis of FoodLine Campus, our market opportunity, and 5-year roadmap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214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is a proprietary campus dining rail founded by a student-led engineering team. We solve the acute 15-minute break rush-hour bottleneck experienced by millions of university students daily.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Problem Solved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17296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Recess is only 15 minutes, but manual canteen lines take 18+ minutes. 50% of students skip meals, while canteens lose ₹1,000–₹3,000 weekly to fake UPI screenshots. Swiggy/Zomato are barred at campus gates and cost more in delivery fees than the food itself.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Complete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22452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pre-order from class via mobile web/app with instant UPI. Canteen cooks receive color-coded tickets on a Kitchen Display System (KDS). Smart slot throttling prevents kitchen panic. Students collect in 30 seconds with a 4-digit OTP.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01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5-Year Business Plan Target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2760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from our pilot at Sanjivani University (2,500 students) to 50 Campuses, processing 30 Lakh orders/year, generating ₹24 Crore annual GMV, ₹2.22 Crore platform revenue, and ₹92 Lakh annual net profit.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6035040"/>
            <a:ext cx="1069848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PHILOSOPHY: "Creating Zero-Queue Dining • Building Financial Trust • Empowering Campus Productivity"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Objectives &amp; Milestone Roadmap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roll-out strategy from single campus validation to statewide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 (M1–M3)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Launch &amp; Proof of Concept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Campus (Sanjivani University)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1,000 Active Students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GMV: ₹48 Lakhs GMV / Year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Rev: ₹1.92 Lakhs Revenue (4% Student Fee)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DELIVERABLES: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Launch at Cafe @7 canteen outlet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 30-sec pickup turnaround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 100% of fake UPI scams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Reach operational break-even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 (M4–M12)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Regional Cluster Expansion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Campuses (Nashik &amp; Ahmednagar)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5,000 Active Students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GMV: ₹2.40 Crore GMV / Year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Rev: ₹22.2 Lakhs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840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DELIVERABLES: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40690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Expand to engineering &amp; MBA hubs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 multi-vendor court support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Onboard 5 canteens with zero Capex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Generate ₹7.20 Lakh net profit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 (Y2–Y3)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Statewide University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 Campuses (Pune &amp; Western MH)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15,000 Active Students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GMV: ₹7.20 Crore GMV / Year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Rev: ₹66.6 Lakhs Revenue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DELIVERABLES: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0690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Enter Pune educational clusters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Introduce student monthly meal passes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Partner with FMCG beverage brands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Achieve ₹24.0 Lakh net profit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4 (Y4–Y5)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0" y="22677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National Scale &amp; Ecosystem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 Campuses Nationwide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50,000 Active Students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GMV: ₹24.00 Crore GMV / Year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Rev: ₹2.22 Crore Revenue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0" y="3840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DELIVERABLES: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40690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Expand to 50 top universities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Process 30 Lakh orders per year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Integrate university smart ID cards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Achieve ₹92 Lakh annual net profit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Evaluating internal competencies, areas for vigilance, market opportunities, and risk controls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30-Second express pickup rail solves 15-min recess trap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fraud-proof UPI with cryptographic 12-digit UTR checks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kitchen capacity slot throttling prevents rush panic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Asset-light model (zero delivery bikes, zero driver payroll)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Dual-sync PostgreSQL + Google Sheets provides offline resilience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23/23 Automated security and integrity tests passed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8745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212848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Early brand awareness limited to pilot college cluster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initial behavioral shift among traditional kitchen cooks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Vulnerability to campus Wi-Fi / cellular data fluctuations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Revenue seasonal dip during semester break vacations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Need for on-ground student ambassadors during first 2 weeks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498848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40,000+ Indian colleges with 40 Million captive students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Skyrocketing UPI adoption and digital payments among Gen-Z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inability of Swiggy/Zomato to enter campus gates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Expansion into campus food courts, juice bars &amp; night canteens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Brand sampling and sponsored student discounts from FMCG brands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THREATS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498848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Bureaucratic approval delays from conservative university deans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Canteen tender contract turnovers every 2 to 3 years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Payment gateway downtime or unexpected NPCI policy shifts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Potential copycats attempting unthrottled QR ordering systems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Staff pushback if tablet workflow is not kept ultra-simple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REGULATORY INTEGRITY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Legal, Compliance &amp; Licensing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enterprise-grade legal, financial, and regulatory governance across all partner campuses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Corporate Legal 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Entity Type: Private Limited Company (FoodLine Campus Technologies Pvt. Ltd.)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Registrar of Companies (RoC) Incorporation under Companies Act 2013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Udyam MSME Registration for Startup India benefits and incubation grants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Registered Office in Maharashtra with formal Founders Agreement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&amp; Tax Compliance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Goods and Services Tax (GST) Registration for platform convenience fees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Account Number (PAN) &amp; Corporate Current Bank Accounts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Quarterly GST filing, TDS deductions, and annual statutory auditing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NPCI &amp; RBI Compliant UPI merchant aggregator rails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 Safety &amp; Campus Contracts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FSSAI Licensing Verification: All partner canteens must hold active FSSAI licenses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Campus Service Level Agreements (SLAs) signed with university management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Clear liability limitation clauses covering food preparation quality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Canteen vendor agreements defining 24-hour settlement terms and SaaS fees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Privacy &amp; Digital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Personal Data Protection (DPDP) Act 2023 compliance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storage of student credit card/debit card numbers or UPI PINs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End-to-End SSL/TLS 1.3 encryption across all client and kitchen endpoints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Transparent Terms of Service and Privacy Policy published in-app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VS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Problems and Our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comparative mapping of everyday campus food friction to FoodLine technology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&amp; CANTEEN PAIN POINTS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15-Minute Recess vs 18-Minute Queue: 50% of students skip lunch or arrive late to class.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Kitchen Shouting &amp; Burnout: Cooks face 100 students yelling orders at once; food burns, wrong orders dispatched.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Canteen UPI Fraud Leakage: Students flash fake payment screenshots in dense crowds; canteens lose ₹1,000–₹3,000/week.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Swiggy / Zomato Unusable on Campus: Bikes barred at campus gates; delivery fee (₹40–₹50) exceeds the price of the snack; 40-min wait.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202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SOLUTIONS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30-Second Express Pickup: Pre-order during lectures, walk straight to counter, flash OTP, done.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Smart Slot Capacity Throttling: App caps orders to kitchen equipment limits (e.g. 25 orders/10 min); smooth, paced workflow.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100% Cryptographic UTR Shield: Every bank reference checked; duplicate UTRs blocked; ticket created ONLY after confirmed credit.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Hyper-Local Campus Express Rail: Zero delivery fee, food prepared 200m away in existing canteen, collected in 30 seconds.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OPERATING IDENTITY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Description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we are, what we do, and the foundational pillars underpinning our operating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is an express digital food ordering and kitchen automation system purpose-built for colleges and universities. We bridge the gap between hungry students on a tight schedule and overwhelmed campus canteens.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Founded on the principles of speed, transparency, operational efficiency, and financial integrity, FoodLine provides a turnkey technology rail requiring zero capital investment from canteen operators.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004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PILLAR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Zero-Queue Dining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recess chaos into smooth 30-sec pickups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063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32004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PILLAR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Pacing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4206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slot throttling that eliminates rush-hour panic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3063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32004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PILLAR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Financial Trust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4206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UTR checks preventing all screenshot fraud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063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32004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PILLAR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236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Asset-Light Scaling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2360" y="4206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delivery bikes, zero driver payroll, zero Capex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3063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32004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PILLAR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4692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Turnkey Simplicity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46920" y="4206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staff onboarding on any basic Android tablet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Service Description: The 4 Core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integrated ecosystem connecting students, kitchen staff, and canteen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Mobile Web &amp;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Zero-install instant Progressive Web App (PWA) + Android APK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menu with live dish availability and pricing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Break-slot selector (1:15 PM, 1:25 PM, etc.) for batching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One-tap UPI payment with instant payment confirmation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Boarding Pass with large 4-digit OTP &amp; QR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Display System (KDS)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7889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Runs on any affordable 10-inch Android tablet or phone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order tickets with high-visibility color codes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Chime audio alerts whenever a new order arrives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Large 1-tap touch buttons (Cooking ➔ Ready ➔ Collected)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WhatsApp/In-App notification when meal is ready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Slot Throttling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Configurable kitchen prep capacity limits (e.g. 25 meals / 10 min)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Prevents order flooding and equipment bottlenecks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Automatically shifts excess demand to subsequent break slots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Displays real-time kitchen load meter for staff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rush panic and surplus food spoilage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611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Manager Portal &amp; Reconciliation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27889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daily GMV, order volume, and net revenue dashboard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Cryptographic UTR verification and duplicate blocker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Two-way real-time Google Sheets dual-sync for canteen owner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Menu item toggling (mark sold-out dishes in 1 second)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daily settlement breakdown and commission logs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PROPRIETARY ASSETS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Intellectual Property (IP) &amp; Tech Moats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Defensible proprietary code, algorithmic logic, and brand equity protecting FoodLine Campus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SOFTWARE 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Proprietary Source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proprietary Next.js 15 PWA and Capacitor Android codebase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Server-Sent Events (SSE) kitchen dispatch pipeline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Sub-second optimistic UI rendering for low-bandwidth campus cellular 4G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ALGORITHMIC 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Dynamic Slot Throttling Algorithm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algorithm dynamically calculating kitchen load based on cooking times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slot reallocation preventing counter stampedes and food burns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Predictive order batching engine calculating dish prep head-starts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SECURITY 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Anti-Fraud Cryptographic Shield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12-digit UTR replay attack detection database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SHA-256 HMAC digital signature verification on all pickup tokens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soundbox audio API bridge for instant payment verification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TRADEMARK &amp;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Brand, Trademarks &amp; Trade Secrets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FoodLine Campus™ trademark registration and distinctive visual identity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Standardized "Campus Express Pickup Rail" operational SOPs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PostgreSQL to Google Sheets two-way reconciliation connector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GEOGRAPHIC FOOTPRINT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Location &amp; Operational Reach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pilot launch site in Kopargaon and cluster expansion across Maharashtra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HEADQUARTERS &amp; PILOT SITE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Launch Campus: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Sanjivani University (Cafe @7 Outlet)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Kopargaon, Ahmednagar District, Maharashtra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Pin Code: 423603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Characteristics: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2,500+ Engineering, MBA &amp; Polytechnic Students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peak rush density between 1:00 PM – 1:30 PM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student UPI adoption (&gt; 95% smartphone users)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 high-traffic central canteen (Cafe @7) with peak congestion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EXPANSION CORRIDORS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Expansion Cluster (Months 4–12):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Nashik Education Hub: Sandip University, MET Bhujbal City, KK Wagh Engineering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Ahmednagar &amp; Shirdi Cluster: Pravara Rural Engineering, Sangamner Institutes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Campuses within 90-minute driving radius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Statewide Scale Corridor (Years 2–3):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Pune Knowledge City: 120+ Engineering &amp; Management Campuses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Chhatrapati Sambhajinagar (Aurangabad) Cluster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Metropolitan College Hubs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 500 potential partner campuses in Maharashtra alone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ORGANIZATIONAL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Management and Personnel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Agile, high-velocity leadership team combining engineering capability and campus relationships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46634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FOUNDER &amp; CHIEF EXECUTIVE OFFICER (CEO)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Shivam &amp; Core Founding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strategic vision, university partnerships, canteen negotiations, and financial governance.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connection with campus students and operational ground reality.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46634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CHIEF TECHNOLOGY OFFICER (CTO) &amp; ENG LEAD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2677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Full-Stack Software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Directs Next.js 15 frontend, KDS real-time SSE streaming, database security, and offline dual-sync.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99.9% uptime and zero payment vulnerabilities.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466344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 OF CAMPUS OPERATIONS &amp; CANTEEN SUCCESS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45079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Field Operations &amp; QA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canteen onboarding, kitchen staff training on tablet UI, hardware setup, and daily SLA compliance.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meal pickup turnaround remains strictly under 30 seconds.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46634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CAMPUS AMBASSADORS &amp; COMMUNITY LEADS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45079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Community Leads (Part-Time)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council representatives and club leads driving peer awareness, QR standee placement, and viral referral adoption across classes.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Insurance &amp; Risk Mitigation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risk containment across physical hardware, digital transactions, and operational continuity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3474720" cy="256032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HARDWARE &amp; ASSET PROTECTION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 Tablet &amp; Soundbox Cover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Accidental damage &amp; spill protection for kitchen tablets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Quick-swap device pool maintaining spare tablets on campus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Low device Capex (&lt; ₹15,000 total) minimizes financial exposure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347472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CYBER &amp; TRANSACTION PROTECTION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Payment Gateway Indemnity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settlement through RBI-licensed payment aggregators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UTR logs eliminate fake screenshot liabilities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customer card/banking credential storage on our servers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347472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CONTINUITY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Dual-Sync Cloud &amp; Offline Failover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Supabase PostgreSQL paired with live Google Sheets backup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 smoothly during local campus Wi-Fi or 4G disconnects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SMS alerts fallback if WhatsApp notification delays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347472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COMMERCIAL LEGAL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Contractual SLA &amp; Indemnity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Formal university partner MOUs defining operating rights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Clear vendor contracts specifying canteen preparation responsibility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Standardized consumer terms of service limiting third-party liability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DIGITAL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Security and Data Protection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23/23 Automated security audits passed: Military-grade protection against fraud and data compromise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292608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PAYMENT INTEGRITY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Anti-Replay UTR Verification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12-digit bank reference (UTR) verification on every order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index blocks duplicate reuse of transaction IDs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Kitchen ticket created ONLY after confirmed bank settlement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100% of fake screenshot scams in crowded canteens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292608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 AUTHENTICITY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SHA-256 HMAC Token Signing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digital pickup boarding pass signed with SHA-256 HMAC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Tamper-proof 4-digit OTP generated specifically for student phone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Staff verifies OTP on tablet; prevents unauthorized meal collections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risk of forged tickets or order hijacking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2926080" cy="256032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INFRASTRUCTURE DEFENSE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Network &amp; API Perimeter 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Enforced TLS 1.3 encryption across all web and mobile endpoints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Cross-Origin Resource Sharing (CORS) &amp; Content Security Policy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rate-limiting against automated bot attacks and DDoS spam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daily vulnerability scans and penetration audits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292608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GOVERNANCE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DPDP Privacy &amp; Access Governance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compliance with India's Digital Personal Data Protection Act 2023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Role-Based Access Control (RBAC) on all staff and kitchen tablets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collection or storage of student credit cards or payment PINs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session expiration and encrypted audit trail logs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GO-TO-MARKET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Marketing Strategy &amp; Customer Acquisition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Zero-ad-spend viral campus growth driving 40% student penetration within 30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Physical Point-of-Sale Signage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QR Code Table Tents placed on all 50+ dining tables in canteen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High-visibility "FoodLine Express Counter" hanging overhead banner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Standees at classroom entrance corridors announcing "Skip The Line"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Ambassador Network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 representatives and campus club leads as certified ambassadors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Peer-to-peer live ordering demonstrations during morning break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 snack perk for ambassadors driving 50+ peer orders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Digital &amp; WhatsApp Virality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Official university WhatsApp and Telegram student channel broadcasts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Instagram Reels highlighting "18-Min Line vs 30-Sec FoodLine Pickup"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Viral peer referrals with instant ₹5 discount on first order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College Fest &amp; Recess Activations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Exclusive express ordering rail during annual college cultural festivals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Sponsored beverage drops and snack combos with partner canteens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Official endorsement from College Student Council and Dean of Student Affairs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Competitors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Benchmarking FoodLine Campus against delivery aggregators, manual lines, and legacy POS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443484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 / PARAMETER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FOODLINE CAMPUS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SWIGGY / ZOMATO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CANTEEN LINE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POS SOFTWARE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Turnaround 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Seconds (Express)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35–45 Minutes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18–25 Minutes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3–5 Min per student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Extra Fee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 – ₹3 micro-fee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₹40 – ₹60 delivery fee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 (Lost time cost)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 Gate Access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Campus Rail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 at Main Gate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Canteen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Counter 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Fake UPI Screenshot Risk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 (Bank UTR Shield)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(App Pre-pay)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(₹1K–₹3K/wk loss)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at busy hours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Setup Capex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 for Canteen (Free KDS)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₹40,000 – ₹70,000 POS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Kitchen Capacity Throttling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(Smart Slot Engine)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(Overwhelms cooks)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(Stampede)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throttling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MOATS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Competitive Advantages (8 Unfair Advantages)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technological and operational strengths that make FoodLine Campus unbeatable in universities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74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30-Second Express Pickup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Pre-ordered meals bagged and ready before the bell rings, reducing counter lines from 18 min to 30 sec.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74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Slot Throttling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kitchen panic by capping incoming orders to exact grill and fryer preparation capacity.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97180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Fraud-Proof UTR Shield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246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validation of 12-digit bank reference eliminates ₹1,000–₹3,000 weekly fake screenshot losses.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97180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 Hardware Capex for Canteens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246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Canteens onboard with any existing Android tablet or phone in under 10 minutes with zero upfront machine cost.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06908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69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Dual-Sync Offline Resilience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 syncs live to Google Sheets; canteens continue processing even with fluctuating Wi-Fi.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406908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069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Asset-Light High Gross Margin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67.03% gross margin with zero delivery bikes, zero driver payroll, and zero food inventory depreciation.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0292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16636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166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55448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Captive High-Frequency Audience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554480" y="5440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eat 2–3 times daily for 25 days a month, creating organic recurring cash flow with near-zero CAC.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50292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516636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5166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Rapid 30-Day Payback Period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5440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pilot setup cost (₹1.20L) is recovered in ~14 months, with individual kitchen hardware paid off in 30 days.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 TAILWINDS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Industry and Market Trends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 trends driving the rapid adoption of digital express campus food rails in India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Surging Campus UPI Penetration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14 Billion monthly UPI transactions processed in India. Indian college students are 98% smartphone-enabled and carry zero physical cash, relying exclusively on UPI for daily food payments.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 Digital Mandates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education councils and university deans actively mandate digital, cash-free campus operations to improve student hygiene, reduce lunch congestion, and modernize student amenities.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Quick-Commerce Mindset Shift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Gen-Z students accustomed to 10-minute grocery delivery refuse to stand 20 minutes in hot, crowded lines for a ₹30 snack. Convenience has become a non-negotiable expectation.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 Margin Pressures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Rising food ingredient prices force canteen owners to maximize daily throughput. They cannot physically hire more cashiers; they urgently require digital queue automation to grow revenue.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EXPANSION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Services and Sales Process: Canteen Onboarding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repeatable 4-stage funnel for closing campus partnerships and activating outlets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STAGE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Campus Lead &amp; Canteen Pitch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Meet university canteen manager during off-peak hours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Demonstrate 40% sales increase &amp; zero fake UPI losses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Dean / Campus Director pilot endorsement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STAGE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Menu Digitization (1 Hour)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8803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Photograph and upload canteen menu, categories &amp; prices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kitchen equipment slot capacities (e.g. 25 orders/10 min)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Generate outlet-specific QR standees and table tents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STAGE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Staff Training (10 Min)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up low-cost Android tablet on counter or wall mount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 kitchen cooks on 1-tap "Cooking" &amp; "Ready" buttons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Conduct mock test order to verify audio chime and soundbox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737360"/>
            <a:ext cx="2560320" cy="4434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92024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STAGE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Go-Live &amp; Student Activation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28803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Place QR banners at entrance and table tents on 50 tables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Launch announcement on campus WhatsApp channels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ambassadors guide first-time users at express counter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PROTOCOL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Service Process &amp; Order Lifecycle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5-phase journey of an order from student classroom desk to 30-second meal pickup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87452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T-5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Pre-Order from Desk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selects dishes and break slot (e.g. 1:15 PM) 5 minutes before lecture ends.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432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T-4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Verified UPI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pays via UPI; 12-digit UTR validated against bank database.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61188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611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611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T-2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Batching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611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KDS displays ticket; cook prepares and bags meal according to slot capacity.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343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480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480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4480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Cook Taps "Ready"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4480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receives instant notification: "Meal hot and packed at Counter 2!"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2120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534924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349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5349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+30 sec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5349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30-Sec Express Pickup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5349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shows 4-digit OTP; staff hands over meal bag; ticket auto-archived.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5486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5577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TOTAL TURNAROUND COMPARISON: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 Canteen Lines: 18–25 Minutes in Chaos  ➔  FoodLine Campus Rail: 30 Seconds Express Pickup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STAKEHOLDER SYNC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Communication Plan: Internal &amp; External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 protocols ensuring operational alignment across technical, operational, and student touchpoints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INTERNAL COMMUNICATION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Operations Standup: 15-minute morning review between tech lead and campus field team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KDS Telemetry: Automated system alerts for order latency or payment gateway errors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Weekly Menu &amp; Inventory Review: Analyzing sold-out trends and item preparation bottlenecks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Developer Sprint Reviews: Bi-weekly feature releases, UI enhancements, and performance optimizations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6596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EXTERNAL COMMUNICATION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Student Order Alerts: Real-time WhatsApp and in-app push alerts when meals are marked "Ready"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Canteen Settlement Ledger: Automated Google Sheets update detailing GMV, commission, and payouts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University Administration Briefings: Monthly campus congestion reduction and dining satisfaction reports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Customer Support Channel: In-app WhatsApp support chat for instant resolution of any order discrepancies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 / 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Finance: Setup Cost &amp; Initial Build Investment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itemization of pilot capital deployment matching our audited financial model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384048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SETUP ITEM / CAPITAL DEPLOYMENT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AMOUNT (₹)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Platform Build &amp; PWA Testing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/ Cloud Setup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Hardware Setup (10" Tablet + Soundbox)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Kitchen Equipment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Incorporation, Legal &amp; GST Registration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Compliance &amp; Legal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Branding, QR Table Tents &amp; Launch Standees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Physical POS Marketing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INITIAL FIXED SETUP 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Capex 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₹1,20,000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Working Capital Reserve (Year 1 Operations)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 Reserve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₹84,000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INITIAL INVESTMENT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Funding Needed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₹2,04,000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571500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EFFICIENCY NOTE: "Because FoodLine utilizes standard Android tablets and an asset-light cloud architecture, initial capital outlay is only ₹2,04,000 — enabling 100% self-reliance and fast break-even."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BUDGET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Finance: Working Capital &amp; Operating Expenses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Audited monthly and annual fixed operating expense structure for the single-campus pilot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3840480"/>
        </p:xfrm>
        <a:graphic>
          <a:graphicData uri="http://schemas.openxmlformats.org/drawingml/2006/table">
            <a:tbl>
              <a:tblPr/>
              <a:tblGrid>
                <a:gridCol w="3474720"/>
                <a:gridCol w="3931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EXPENSE CATEGORY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 SCOPE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(₹)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(₹)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 Operations &amp; Support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On-ground operational oversight &amp; canteen coordination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Hosting &amp; Cloud Tools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PostgreSQL, Vercel hosting, domain &amp; API tools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 &amp; Campus Awareness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Fresh table tents, student ambassador rewards &amp; promotions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₹2,500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 &amp; Administration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In-app student query resolution &amp; administrative accounting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₹36,000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Miscellaneous &amp; Contingency Buffer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Spare hardware peripherals, printing &amp; unexpected costs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₹2,500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OPERATING EXPENSES (OPEX)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Campus Fixed Cost Total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₹15,000 / mo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₹1,80,000 / yr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571500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FIXED COST CONTAINMENT: "Total fixed monthly overhead is kept strictly at ₹15,000/month (₹1.80 Lakh/year). The canteen SaaS fee (₹24,000/year) directly subsidizes cloud hosting, ensuring a low breakeven threshold."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UNIT ECONOMICS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Income and Expense Projections: Single-Campus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 student convenience fee model with 0% canteen commission and direct UPI routing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CAMPUS ASSUMPTIONS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Students on Campus: 2,500 students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Users (40% Adoption): 1,000 active students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Order Frequency: 5 orders / user / month (~once a week)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Order Volume: 5,000 orders / month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Annual Order Volume: 60,000 orders / year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Average Order Value (AOV): ₹80 per meal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Annual GMV Processed: ₹48,00,000 (₹48 Lakhs/year)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Canteen Commission: ₹0 (100% Free for Canteen)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Convenience Fee: 4% on order (~₹3.20/order)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UPI Routing: 0% MDR payment gateway fees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Variable Tech Cost: ~₹0.30 per order (SMS/Cloud compute)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 Contribution: ₹2.90 per order (90.6% Gross Margin)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212080" cy="4434840"/>
        </p:xfrm>
        <a:graphic>
          <a:graphicData uri="http://schemas.openxmlformats.org/drawingml/2006/table">
            <a:tbl>
              <a:tblPr/>
              <a:tblGrid>
                <a:gridCol w="3657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LINE ITEM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(₹)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Merchandise Value (GMV @ ₹80 AOV)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₹48,00,000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Commission (100% Free for Canteen)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 (0%)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 Convenience Fee (4% on GMV)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₹1,92,000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PLATFORM REVENUE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₹1,92,000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Gateway MDR (Direct UPI Rail 0%)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Variable Tech Cost (~₹0.30/order)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(₹18,000)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PROFIT (90.62% Margin)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₹1,74,000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Lean Fixed OPEX (Cloud + Lead + Mktg)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(₹72,000)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NET PROFIT (53.1% Net Margin)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₹1,02,000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LONG-TERM FINANCIAL TRAJECTORY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Finance: 5 Years Growth &amp; Revenue Projections (4% Model)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from a single pilot campus to a 50-campus nationwide network over 5 years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443484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PARTICULARS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Campuses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Students (Users)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Orders Processed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1.80 Million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3.00 Million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Merchandise Value (GMV)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₹48.0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₹7.20 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₹14.40 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(4% Student Fee)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₹1.92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₹9.60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₹28.80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₹57.60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₹96.00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Variable Tech Cost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₹0.18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₹0.90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₹2.70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₹5.40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₹9.00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Expenses (OPEX)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₹0.72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₹6.50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₹14.00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ESTIMATED NET PROFIT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₹1.02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₹6.30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₹19.60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₹38.20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₹63.00 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COST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Finance: Operating Expense Growth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operational expenditure scaling responsibly with network campus footprint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443484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512064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/ 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FOOTPRINT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 FOCUS &amp; EXPENSE COMPOSITION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OPEX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Pilot Campus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Founder-led operations, local student ambassadors, basic cloud servers &amp; POS collateral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₹1,80,000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Campuses (Cluster)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Dedicated field coordinator, regional travel, automated SMS tooling &amp; enhanced cloud hosting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₹7,50,000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Campuses (Statewide)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Regional hub managers, 2 support engineers, automated reconciliation software &amp; university promotions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₹20,00,000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Campuses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tech &amp; operations team, round-the-clock student support, enterprise cloud infrastructure &amp; brand marketing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₹38,00,000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 Campuses (National)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Corporate HQ, multi-city field leads, AI-driven dispatch optimization &amp; national campus sponsorships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₹60,00,000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Finance: Sources of Funds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capitalization structure combining founders equity commitment with seed investment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2286000"/>
        </p:xfrm>
        <a:graphic>
          <a:graphicData uri="http://schemas.openxmlformats.org/drawingml/2006/table">
            <a:tbl>
              <a:tblPr/>
              <a:tblGrid>
                <a:gridCol w="3840480"/>
                <a:gridCol w="3474720"/>
                <a:gridCol w="182880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 OF CAPITAL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 / INSTRUMENT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AMOUNT (₹)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(%)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Founders / Promoters Equity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Savings &amp; Sweat Equity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₹1,04,000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50.98%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Angel / Seed Investor / Incubation Grant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Equity / Convertible Note / Startup Grant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49.02%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INITIAL FUNDING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Combined Seed Capitalization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₹2,04,000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3891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52628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29.4%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₹60,000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Build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26080" y="43891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63240" y="452628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6324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7.4%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63240" y="4892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₹15,000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06324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Canteen Hardware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120640" y="43891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452628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12.3%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57800" y="4892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₹25,000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5780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&amp; Company Setup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15200" y="43891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52360" y="452628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5236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9.8%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52360" y="4892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₹20,000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5236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&amp; POS Signage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509760" y="43891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46920" y="452628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4692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41.1%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646920" y="4892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₹84,000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64692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Capital Reserve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INVESTOR VALUE CREATION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Repayment &amp; Return to Investors (ROI)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Attractive payback timeline, sustainable profit distributions, and scalable equity 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Seed Investment 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₹1,00,000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10% to 15% seed equity / convertible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1 Projected Net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₹1,17,600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117.6% of initial angel check size generated in Year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2 Projected Net Profit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₹7,20,000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6x net profit expansion across 5-campus cluster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5-Year Projected ROI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15x – 25x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Backed by ₹2.22 Cr platform revenue &amp; ₹92L profit run-rate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698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206240"/>
            <a:ext cx="292608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INVESTOR EXIT &amp; DIVIDEND STRATEGY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57200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Capital Preservation: Low Capex and asset-light operations safeguard investor principal with immediate cash flow.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Dividend Distribution: Beginning in Year 2, up to 25% of annual net profits may be distributed as cash dividends.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Secondary Exit Opportunities: Strategic acquisition potential by national food aggregators, POS conglomerates, or university ERP providers seeking campus monopoly.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Institutional Series A: High-growth metrics allow angel investors to exit at 10x+ valuation during Series A expansion.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VIABILITY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Point and Payback Period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calculation of unit-level viability and capital recovery under the 4% student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FORMULA &amp; MATH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Annual Lean Fixed OPEX: ₹72,000 (₹6,000/month)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Revenue per Order (4% of ₹80): ₹3.20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Variable Cost per Order: ₹0.30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 Contribution Margin / Order: ₹2.90 per order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 ORDER VOLUME: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Fixed OPEX ÷ Contribution Margin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₹72,000 ÷ ₹2.90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24,828 Orders / Year (~2,069 orders / month)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UTILIZATION AT BREAK-EVEN: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24,828 ÷ 60,000 = 41.38% of Pilot Capacity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58.6% Safety Margin: Business stays profitable even if 58% of expected order volume fails to materialize.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6596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ESTIMATED PAYBACK PERIOD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42316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BREAK-EVEN: MONTH 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Payback: ~18 Months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Rapid Hardware Payback: The ₹15,000 canteen hardware setup is recouped in &lt; 45 days of live ordering.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Canteen Resistance: Because canteens pay ₹0 commission, campus acquisition velocity is 3x faster than conventional B2B food-tech.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UPI Liquidity: 100% upfront UPI collection guarantees zero bad debt, no late accounts receivable, and predictable cash flow.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Highly Scalable Rail: Software infrastructure scales seamlessly with negligible incremental cost per university.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ECOSYSTEM 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Expansion &amp; Product Horizons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revenue diversification beyond basic canteen ordering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011680" cy="4434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2024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HORIZON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Multi-Vendor Food Courts &amp; Kiosks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Unifying campus juice bars, stationery shops, coffee corners, and ice-cream stalls into a single unified FoodLine digital campus pass.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1737360"/>
            <a:ext cx="2011680" cy="4434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92024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HORIZON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Hostel Midnight Canteen Rail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30175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Extending ordering hours into 10 PM – 2 AM late-night study windows with dedicated hostel drop points, capturing high-margin night sales.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2011680" cy="4434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92024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HORIZON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Campus Smart-Card &amp; RFID Wallet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30175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student physical college ID cards and RFID tags with FoodLine balance, allowing parents to load prepaid meal credits.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1737360"/>
            <a:ext cx="2011680" cy="4434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92024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HORIZON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Institutional Timetable ERP Sync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2360" y="30175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directly with university lecture timetables to dynamically adjust batch slots during exam days and unexpected lecture shifts.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0" y="1737360"/>
            <a:ext cx="2011680" cy="4434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1920240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HORIZON 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4692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National College Franchise Rail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46920" y="301752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Replicating the proven 30-second express rail across 500+ universities, IITs, IIMs, and polytechnics across India.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COMMITMENT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• BUSINESS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Conclusion: The Winning Equation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Synthesizing our commercial value proposition for students, canteens, and investment partners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20240"/>
            <a:ext cx="28346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STUDENTS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 Recess Lines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Reclaim 18 minutes of lost break time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Never skip a meal or arrive late to lectures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Hot, pre-packed meals ready on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20240"/>
            <a:ext cx="28346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CANTEENS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40% Sales Jump &amp; Zero Fraud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Smooth kitchen flow via slot throttling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Guaranteed money with bank UTR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 KDS hardware with zero Capex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920240"/>
            <a:ext cx="283464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INVESTORS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Asset-Light Scaling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6974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67% Gross margins with zero fleet Capex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 1 operational profitability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High-frequency captive campus cashflow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526280"/>
            <a:ext cx="10698480" cy="1737360"/>
          </a:xfrm>
          <a:prstGeom prst="roundRect">
            <a:avLst>
              <a:gd name="adj" fmla="val 7895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70916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PLEDGE TO CAMPUS DINING: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is committed to transforming university dining into a disciplined, technology-driven, and enjoyable experience.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By marrying classroom digital pre-ordering with intelligent kitchen pacing and 100% fraud-proof payments, we create a sustainable, scalable, and highly profitable business.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8064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Launch Site: Sanjivani University (Cafe @7 Outlet) • Ready for Immediate Deployment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pic>
        <p:nvPicPr>
          <p:cNvPr id="4" name="Image 0" descr="D:\Shivam Project\StartUp Project\FoodLine Campus\foodline-camp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173736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Technologies Pvt. Ltd.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Zero-Queue Express Food Ordering &amp; Kitchen Automation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 More Waiting in Lines. Just Order, Grab, and Go."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384048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397764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CO-FOUNDERS &amp; OPERATIONS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41732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Shivam &amp; Core Team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Technologies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84048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397764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DIRECT INQUIRIES &amp; PHONE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0916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+91 76669 05482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+91 91584 76427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384048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397764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EMAIL &amp; OPERATIONAL HUB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00100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foodlinecampus@gmail.com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Sanjivani University, Kopargaon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Let's Power the Future of Campus Dining Together.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Technologies • Confidential Business Plan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14400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2026-09-18T20:05:49Z</dcterms:created>
  <dcterms:modified xsi:type="dcterms:W3CDTF">2026-09-18T20:05:49Z</dcterms:modified>
</cp:coreProperties>
</file>