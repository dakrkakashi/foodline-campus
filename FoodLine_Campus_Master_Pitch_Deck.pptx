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SPEAKER SCRIPT:
"Welcome everyone. Today we are introducing FoodLine Campus — the zero-queue express food ordering and kitchen automation system built specifically for college universities.
Every single day, thousands of students have only 15 minutes between lectures to eat. Canteens get completely flooded with 200 students pushing at the counter at the exact same minute. FoodLine fixes this forever — with a simple 30-second pickup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SPEAKER SCRIPT:
"Think of a school bell ringing. If 500 kids all try to squeeze through one narrow door at the same second, everyone gets stuck. That is what happens at campus canteens today.
The break is only 15 minutes long, but the physical queue takes 18 minutes. Half the students turn back hungry or end up late to class. Meanwhile, the canteen owner loses hundreds of sales every single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SPEAKER SCRIPT:
"Commercial food apps are built for cities, not university campuses. Students don't need a motorbike rider. The food is already cooked 200 meters away in their campus canteen. They just need an express lane.
Delivery bikes cannot enter campus gates, delivery fees double the price of a snack, and deliveries take 40 minutes when the break is only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SPEAKER SCRIPT:
"FoodLine is like an airport boarding pass for your lunch. You pre-book, you arrive, you show your pass, and you pick up your hot snack without waiting a single minute.
Students order during the last 5 minutes of class, pay upfront via UPI, and simply walk up to Counter 2, flash the 4-digit code, and grab their fresh meal in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SPEAKER SCRIPT:
"Step 1: You choose what you want to eat while in class.
Step 2: The kitchen packs it while you walk over to the canteen.
Step 3: You grab your food in 30 seconds and eat peacefully.
It is completely frictionless for both the student and the kitchen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SPEAKER SCRIPT:
"To our canteen managers: You know that feeling when 100 students scream at your counter at 1:05 PM? FoodLine stops that. The app acts like a smart traffic police officer, letting in only as many orders as your kitchen can cook comfortably.
If your grill can only make 30 sandwiches in 10 minutes, the app caps the slot at 30. No more burnt food, no panic, and zero food wastage."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SPEAKER SCRIPT:
"No more students holding up their phone in a crowd claiming 'Bhaiya, paise bhej diye!' while showing an old screenshot.
With FoodLine, every order requires a real 12-digit bank reference. If someone tries to reuse an old transaction ID, our system immediately rejects it. If the money isn't safely confirmed in the canteen's account, the kitchen ticket is not even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SPEAKER SCRIPT:
"The staff doesn't need to learn complicated computers. It's just two big buttons: 'Cooking' and 'Ready'.
When the cook taps 'Ready', the student's phone automatically beeps to tell them to come pick it up at Counter 2. No lost paper slips, no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SPEAKER SCRIPT:
"For our financial partners: FoodLine does not own kitchens, buy vegetables, or pay bike riders. We are an asset-light software rail.
With 3,000 orders every day on a single campus, saving students 20 minutes creates a high-margin, sticky daily revenue stream across micro-convenience fees, canteen revenue shares, and brand sponsorships."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SPEAKER SCRIPT:
"Here is the simple math: A university campus is a captive audience. Students eat 2 to 3 times a day, 25 days a month.
Because the hardware cost per kitchen is so tiny (just one tablet and soundbox under ₹15,000), every single new campus becomes profitable in its very first month. At 50 campuses, this is a ₹1 Crore monthly run-rate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SPEAKER SCRIPT:
"We are not here with just a slide deck and an idea. The software is completely coded, tested with 23 automated security audits, and ready for deployment at the canteen tomorrow.
We have a live Android APK, a fast web app, a Kitchen Display System, and dual-sync architecture that keeps working even if campus Wi-Fi fluctuates."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SPEAKER SCRIPT:
"FoodLine makes life better for the student, makes more money for the canteen owner, and creates a reliable, fast-growing business for our investors.
Our pilot is ready for rollout at Sanjivani University's Cafe @7 outlet. Let's make campus lunchtime simple, stress-free, and profitable together.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59669"/>
          </a:solidFill>
          <a:ln w="12700">
            <a:solidFill>
              <a:srgbClr val="059669"/>
            </a:solidFill>
            <a:prstDash val="solid"/>
          </a:ln>
        </p:spPr>
      </p:sp>
      <p:sp>
        <p:nvSpPr>
          <p:cNvPr id="3" name="Shape 1"/>
          <p:cNvSpPr/>
          <p:nvPr/>
        </p:nvSpPr>
        <p:spPr>
          <a:xfrm>
            <a:off x="731520" y="731520"/>
            <a:ext cx="4206240" cy="329184"/>
          </a:xfrm>
          <a:prstGeom prst="roundRect">
            <a:avLst>
              <a:gd name="adj" fmla="val 27778"/>
            </a:avLst>
          </a:prstGeom>
          <a:solidFill>
            <a:srgbClr val="ECFDF5"/>
          </a:solidFill>
          <a:ln w="12700">
            <a:solidFill>
              <a:srgbClr val="A7F3D0"/>
            </a:solidFill>
            <a:prstDash val="solid"/>
          </a:ln>
        </p:spPr>
      </p:sp>
      <p:sp>
        <p:nvSpPr>
          <p:cNvPr id="4" name="Text 2"/>
          <p:cNvSpPr/>
          <p:nvPr/>
        </p:nvSpPr>
        <p:spPr>
          <a:xfrm>
            <a:off x="731520" y="731520"/>
            <a:ext cx="4206240" cy="329184"/>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FOODLINE CAMPUS • 2026 INVESTOR &amp; PARTNER DECK</a:t>
            </a:r>
            <a:endParaRPr lang="en-US" sz="1000" dirty="0"/>
          </a:p>
        </p:txBody>
      </p:sp>
      <p:pic>
        <p:nvPicPr>
          <p:cNvPr id="5" name="Image 0" descr="D:\Shivam Project\StartUp Project\FoodLine Campus\foodline-campus-logo.png">    </p:cNvPr>
          <p:cNvPicPr>
            <a:picLocks noChangeAspect="1"/>
          </p:cNvPicPr>
          <p:nvPr/>
        </p:nvPicPr>
        <p:blipFill>
          <a:blip r:embed="rId1"/>
          <a:stretch>
            <a:fillRect/>
          </a:stretch>
        </p:blipFill>
        <p:spPr>
          <a:xfrm>
            <a:off x="10058400" y="548640"/>
            <a:ext cx="1371600" cy="548640"/>
          </a:xfrm>
          <a:prstGeom prst="rect">
            <a:avLst/>
          </a:prstGeom>
        </p:spPr>
      </p:pic>
      <p:sp>
        <p:nvSpPr>
          <p:cNvPr id="6" name="Text 3"/>
          <p:cNvSpPr/>
          <p:nvPr/>
        </p:nvSpPr>
        <p:spPr>
          <a:xfrm>
            <a:off x="731520" y="1234440"/>
            <a:ext cx="10698480" cy="777240"/>
          </a:xfrm>
          <a:prstGeom prst="rect">
            <a:avLst/>
          </a:prstGeom>
          <a:noFill/>
          <a:ln/>
        </p:spPr>
        <p:txBody>
          <a:bodyPr wrap="square" rtlCol="0" anchor="ctr"/>
          <a:lstStyle/>
          <a:p>
            <a:pPr indent="0" marL="0">
              <a:buNone/>
            </a:pPr>
            <a:r>
              <a:rPr lang="en-US" sz="4000" b="1" dirty="0">
                <a:solidFill>
                  <a:srgbClr val="0F172A"/>
                </a:solidFill>
                <a:latin typeface="Arial" pitchFamily="34" charset="0"/>
                <a:ea typeface="Arial" pitchFamily="34" charset="-122"/>
                <a:cs typeface="Arial" pitchFamily="34" charset="-120"/>
              </a:rPr>
              <a:t>FoodLine Campus</a:t>
            </a:r>
            <a:endParaRPr lang="en-US" sz="4000" dirty="0"/>
          </a:p>
        </p:txBody>
      </p:sp>
      <p:sp>
        <p:nvSpPr>
          <p:cNvPr id="7" name="Text 4"/>
          <p:cNvSpPr/>
          <p:nvPr/>
        </p:nvSpPr>
        <p:spPr>
          <a:xfrm>
            <a:off x="731520" y="2011680"/>
            <a:ext cx="10698480" cy="457200"/>
          </a:xfrm>
          <a:prstGeom prst="rect">
            <a:avLst/>
          </a:prstGeom>
          <a:noFill/>
          <a:ln/>
        </p:spPr>
        <p:txBody>
          <a:bodyPr wrap="square" rtlCol="0" anchor="ctr"/>
          <a:lstStyle/>
          <a:p>
            <a:pPr indent="0" marL="0">
              <a:buNone/>
            </a:pPr>
            <a:r>
              <a:rPr lang="en-US" sz="1800" b="1" dirty="0">
                <a:solidFill>
                  <a:srgbClr val="059669"/>
                </a:solidFill>
                <a:latin typeface="Arial" pitchFamily="34" charset="0"/>
                <a:ea typeface="Arial" pitchFamily="34" charset="-122"/>
                <a:cs typeface="Arial" pitchFamily="34" charset="-120"/>
              </a:rPr>
              <a:t>Zero-Queue Express Food Ordering &amp; Kitchen Automation for College Campuses</a:t>
            </a:r>
            <a:endParaRPr lang="en-US" sz="1800" dirty="0"/>
          </a:p>
        </p:txBody>
      </p:sp>
      <p:sp>
        <p:nvSpPr>
          <p:cNvPr id="8" name="Text 5"/>
          <p:cNvSpPr/>
          <p:nvPr/>
        </p:nvSpPr>
        <p:spPr>
          <a:xfrm>
            <a:off x="731520" y="2468880"/>
            <a:ext cx="10698480" cy="32004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Target Audience: Financers, Angel Investors &amp; Canteen Operations Partners</a:t>
            </a:r>
            <a:endParaRPr lang="en-US" sz="1200" dirty="0"/>
          </a:p>
        </p:txBody>
      </p:sp>
      <p:sp>
        <p:nvSpPr>
          <p:cNvPr id="9" name="Shape 6"/>
          <p:cNvSpPr/>
          <p:nvPr/>
        </p:nvSpPr>
        <p:spPr>
          <a:xfrm>
            <a:off x="731520" y="2971800"/>
            <a:ext cx="10698480" cy="1005840"/>
          </a:xfrm>
          <a:prstGeom prst="roundRect">
            <a:avLst>
              <a:gd name="adj" fmla="val 10909"/>
            </a:avLst>
          </a:prstGeom>
          <a:solidFill>
            <a:srgbClr val="FFFFFF"/>
          </a:solidFill>
          <a:ln w="12700">
            <a:solidFill>
              <a:srgbClr val="E2E8F0"/>
            </a:solidFill>
            <a:prstDash val="solid"/>
          </a:ln>
        </p:spPr>
      </p:sp>
      <p:sp>
        <p:nvSpPr>
          <p:cNvPr id="10" name="Text 7"/>
          <p:cNvSpPr/>
          <p:nvPr/>
        </p:nvSpPr>
        <p:spPr>
          <a:xfrm>
            <a:off x="1005840" y="3063240"/>
            <a:ext cx="10149840" cy="411480"/>
          </a:xfrm>
          <a:prstGeom prst="rect">
            <a:avLst/>
          </a:prstGeom>
          <a:noFill/>
          <a:ln/>
        </p:spPr>
        <p:txBody>
          <a:bodyPr wrap="square" rtlCol="0" anchor="ctr"/>
          <a:lstStyle/>
          <a:p>
            <a:pPr indent="0" marL="0">
              <a:buNone/>
            </a:pPr>
            <a:r>
              <a:rPr lang="en-US" sz="2000" b="1" dirty="0">
                <a:solidFill>
                  <a:srgbClr val="0F172A"/>
                </a:solidFill>
                <a:latin typeface="Arial" pitchFamily="34" charset="0"/>
                <a:ea typeface="Arial" pitchFamily="34" charset="-122"/>
                <a:cs typeface="Arial" pitchFamily="34" charset="-120"/>
              </a:rPr>
              <a:t>"No More Waiting in Lines. Just Order, Grab, and Go."</a:t>
            </a:r>
            <a:endParaRPr lang="en-US" sz="2000" dirty="0"/>
          </a:p>
        </p:txBody>
      </p:sp>
      <p:sp>
        <p:nvSpPr>
          <p:cNvPr id="11" name="Text 8"/>
          <p:cNvSpPr/>
          <p:nvPr/>
        </p:nvSpPr>
        <p:spPr>
          <a:xfrm>
            <a:off x="1005840" y="3474720"/>
            <a:ext cx="10149840" cy="365760"/>
          </a:xfrm>
          <a:prstGeom prst="rect">
            <a:avLst/>
          </a:prstGeom>
          <a:noFill/>
          <a:ln/>
        </p:spPr>
        <p:txBody>
          <a:bodyPr wrap="square" rtlCol="0" anchor="ctr"/>
          <a:lstStyle/>
          <a:p>
            <a:pPr indent="0" marL="0">
              <a:buNone/>
            </a:pPr>
            <a:r>
              <a:rPr lang="en-US" sz="1300" dirty="0">
                <a:solidFill>
                  <a:srgbClr val="334155"/>
                </a:solidFill>
                <a:latin typeface="Arial" pitchFamily="34" charset="0"/>
                <a:ea typeface="Arial" pitchFamily="34" charset="-122"/>
                <a:cs typeface="Arial" pitchFamily="34" charset="-120"/>
              </a:rPr>
              <a:t>Transforming chaotic university canteens into frictionless, 30-second digital pickup rails.</a:t>
            </a:r>
            <a:endParaRPr lang="en-US" sz="1300" dirty="0"/>
          </a:p>
        </p:txBody>
      </p:sp>
      <p:sp>
        <p:nvSpPr>
          <p:cNvPr id="12" name="Shape 9"/>
          <p:cNvSpPr/>
          <p:nvPr/>
        </p:nvSpPr>
        <p:spPr>
          <a:xfrm>
            <a:off x="731520" y="4160520"/>
            <a:ext cx="5212080" cy="2103120"/>
          </a:xfrm>
          <a:prstGeom prst="roundRect">
            <a:avLst>
              <a:gd name="adj" fmla="val 5217"/>
            </a:avLst>
          </a:prstGeom>
          <a:solidFill>
            <a:srgbClr val="FFFFFF"/>
          </a:solidFill>
          <a:ln w="12700">
            <a:solidFill>
              <a:srgbClr val="A7F3D0"/>
            </a:solidFill>
            <a:prstDash val="solid"/>
          </a:ln>
        </p:spPr>
      </p:sp>
      <p:sp>
        <p:nvSpPr>
          <p:cNvPr id="13" name="Shape 10"/>
          <p:cNvSpPr/>
          <p:nvPr/>
        </p:nvSpPr>
        <p:spPr>
          <a:xfrm>
            <a:off x="1005840" y="4343400"/>
            <a:ext cx="2286000" cy="274320"/>
          </a:xfrm>
          <a:prstGeom prst="roundRect">
            <a:avLst>
              <a:gd name="adj" fmla="val 26667"/>
            </a:avLst>
          </a:prstGeom>
          <a:solidFill>
            <a:srgbClr val="ECFDF5"/>
          </a:solidFill>
          <a:ln w="12700">
            <a:solidFill>
              <a:srgbClr val="A7F3D0"/>
            </a:solidFill>
            <a:prstDash val="solid"/>
          </a:ln>
        </p:spPr>
      </p:sp>
      <p:sp>
        <p:nvSpPr>
          <p:cNvPr id="14" name="Text 11"/>
          <p:cNvSpPr/>
          <p:nvPr/>
        </p:nvSpPr>
        <p:spPr>
          <a:xfrm>
            <a:off x="1005840" y="4343400"/>
            <a:ext cx="2286000" cy="274320"/>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FOR STUDENTS</a:t>
            </a:r>
            <a:endParaRPr lang="en-US" sz="1000" dirty="0"/>
          </a:p>
        </p:txBody>
      </p:sp>
      <p:sp>
        <p:nvSpPr>
          <p:cNvPr id="15" name="Text 12"/>
          <p:cNvSpPr/>
          <p:nvPr/>
        </p:nvSpPr>
        <p:spPr>
          <a:xfrm>
            <a:off x="1005840" y="4709160"/>
            <a:ext cx="4663440" cy="1371600"/>
          </a:xfrm>
          <a:prstGeom prst="rect">
            <a:avLst/>
          </a:prstGeom>
          <a:noFill/>
          <a:ln/>
        </p:spPr>
        <p:txBody>
          <a:bodyPr wrap="square" rtlCol="0" anchor="ctr"/>
          <a:lstStyle/>
          <a:p>
            <a:pPr indent="0" marL="0">
              <a:lnSpc>
                <a:spcPct val="120000"/>
              </a:lnSpc>
              <a:buNone/>
            </a:pPr>
            <a:r>
              <a:rPr lang="en-US" sz="1200" dirty="0">
                <a:solidFill>
                  <a:srgbClr val="334155"/>
                </a:solidFill>
                <a:latin typeface="Arial" pitchFamily="34" charset="0"/>
                <a:ea typeface="Arial" pitchFamily="34" charset="-122"/>
                <a:cs typeface="Arial" pitchFamily="34" charset="-120"/>
              </a:rPr>
              <a:t>• Order meals during the last 5 minutes of lecture</a:t>
            </a:r>
            <a:endParaRPr lang="en-US" sz="1200" dirty="0"/>
          </a:p>
          <a:p>
            <a:pPr indent="0" marL="0">
              <a:lnSpc>
                <a:spcPct val="120000"/>
              </a:lnSpc>
              <a:buNone/>
            </a:pPr>
            <a:r>
              <a:rPr lang="en-US" sz="1200" dirty="0">
                <a:solidFill>
                  <a:srgbClr val="334155"/>
                </a:solidFill>
                <a:latin typeface="Arial" pitchFamily="34" charset="0"/>
                <a:ea typeface="Arial" pitchFamily="34" charset="-122"/>
                <a:cs typeface="Arial" pitchFamily="34" charset="-120"/>
              </a:rPr>
              <a:t>• 100% Upfront UPI payment with instant confirmation</a:t>
            </a:r>
            <a:endParaRPr lang="en-US" sz="1200" dirty="0"/>
          </a:p>
          <a:p>
            <a:pPr indent="0" marL="0">
              <a:lnSpc>
                <a:spcPct val="120000"/>
              </a:lnSpc>
              <a:buNone/>
            </a:pPr>
            <a:r>
              <a:rPr lang="en-US" sz="1200" dirty="0">
                <a:solidFill>
                  <a:srgbClr val="334155"/>
                </a:solidFill>
                <a:latin typeface="Arial" pitchFamily="34" charset="0"/>
                <a:ea typeface="Arial" pitchFamily="34" charset="-122"/>
                <a:cs typeface="Arial" pitchFamily="34" charset="-120"/>
              </a:rPr>
              <a:t>• 30-Second grab-and-go pickup at dedicated express counter</a:t>
            </a:r>
            <a:endParaRPr lang="en-US" sz="1200" dirty="0"/>
          </a:p>
          <a:p>
            <a:pPr indent="0" marL="0">
              <a:lnSpc>
                <a:spcPct val="120000"/>
              </a:lnSpc>
              <a:buNone/>
            </a:pPr>
            <a:r>
              <a:rPr lang="en-US" sz="1200" dirty="0">
                <a:solidFill>
                  <a:srgbClr val="334155"/>
                </a:solidFill>
                <a:latin typeface="Arial" pitchFamily="34" charset="0"/>
                <a:ea typeface="Arial" pitchFamily="34" charset="-122"/>
                <a:cs typeface="Arial" pitchFamily="34" charset="-120"/>
              </a:rPr>
              <a:t>• Never skip a meal or arrive late to class again</a:t>
            </a:r>
            <a:endParaRPr lang="en-US" sz="1200" dirty="0"/>
          </a:p>
        </p:txBody>
      </p:sp>
      <p:sp>
        <p:nvSpPr>
          <p:cNvPr id="16" name="Shape 13"/>
          <p:cNvSpPr/>
          <p:nvPr/>
        </p:nvSpPr>
        <p:spPr>
          <a:xfrm>
            <a:off x="6217920" y="4160520"/>
            <a:ext cx="5212080" cy="2103120"/>
          </a:xfrm>
          <a:prstGeom prst="roundRect">
            <a:avLst>
              <a:gd name="adj" fmla="val 5217"/>
            </a:avLst>
          </a:prstGeom>
          <a:solidFill>
            <a:srgbClr val="FFFFFF"/>
          </a:solidFill>
          <a:ln w="12700">
            <a:solidFill>
              <a:srgbClr val="BFDBFE"/>
            </a:solidFill>
            <a:prstDash val="solid"/>
          </a:ln>
        </p:spPr>
      </p:sp>
      <p:sp>
        <p:nvSpPr>
          <p:cNvPr id="17" name="Shape 14"/>
          <p:cNvSpPr/>
          <p:nvPr/>
        </p:nvSpPr>
        <p:spPr>
          <a:xfrm>
            <a:off x="6492240" y="4343400"/>
            <a:ext cx="2926080" cy="274320"/>
          </a:xfrm>
          <a:prstGeom prst="roundRect">
            <a:avLst>
              <a:gd name="adj" fmla="val 26667"/>
            </a:avLst>
          </a:prstGeom>
          <a:solidFill>
            <a:srgbClr val="EFF6FF"/>
          </a:solidFill>
          <a:ln w="12700">
            <a:solidFill>
              <a:srgbClr val="BFDBFE"/>
            </a:solidFill>
            <a:prstDash val="solid"/>
          </a:ln>
        </p:spPr>
      </p:sp>
      <p:sp>
        <p:nvSpPr>
          <p:cNvPr id="18" name="Text 15"/>
          <p:cNvSpPr/>
          <p:nvPr/>
        </p:nvSpPr>
        <p:spPr>
          <a:xfrm>
            <a:off x="6492240" y="4343400"/>
            <a:ext cx="2926080" cy="274320"/>
          </a:xfrm>
          <a:prstGeom prst="rect">
            <a:avLst/>
          </a:prstGeom>
          <a:noFill/>
          <a:ln/>
        </p:spPr>
        <p:txBody>
          <a:bodyPr wrap="square" rtlCol="0" anchor="ctr"/>
          <a:lstStyle/>
          <a:p>
            <a:pPr algn="ctr" indent="0" marL="0">
              <a:buNone/>
            </a:pPr>
            <a:r>
              <a:rPr lang="en-US" sz="1000" b="1" dirty="0">
                <a:solidFill>
                  <a:srgbClr val="2563EB"/>
                </a:solidFill>
                <a:latin typeface="Arial" pitchFamily="34" charset="0"/>
                <a:ea typeface="Arial" pitchFamily="34" charset="-122"/>
                <a:cs typeface="Arial" pitchFamily="34" charset="-120"/>
              </a:rPr>
              <a:t>FOR CANTEENS &amp; INVESTORS</a:t>
            </a:r>
            <a:endParaRPr lang="en-US" sz="1000" dirty="0"/>
          </a:p>
        </p:txBody>
      </p:sp>
      <p:sp>
        <p:nvSpPr>
          <p:cNvPr id="19" name="Text 16"/>
          <p:cNvSpPr/>
          <p:nvPr/>
        </p:nvSpPr>
        <p:spPr>
          <a:xfrm>
            <a:off x="6492240" y="4709160"/>
            <a:ext cx="4663440" cy="1371600"/>
          </a:xfrm>
          <a:prstGeom prst="rect">
            <a:avLst/>
          </a:prstGeom>
          <a:noFill/>
          <a:ln/>
        </p:spPr>
        <p:txBody>
          <a:bodyPr wrap="square" rtlCol="0" anchor="ctr"/>
          <a:lstStyle/>
          <a:p>
            <a:pPr indent="0" marL="0">
              <a:lnSpc>
                <a:spcPct val="120000"/>
              </a:lnSpc>
              <a:buNone/>
            </a:pPr>
            <a:r>
              <a:rPr lang="en-US" sz="1200" dirty="0">
                <a:solidFill>
                  <a:srgbClr val="334155"/>
                </a:solidFill>
                <a:latin typeface="Arial" pitchFamily="34" charset="0"/>
                <a:ea typeface="Arial" pitchFamily="34" charset="-122"/>
                <a:cs typeface="Arial" pitchFamily="34" charset="-120"/>
              </a:rPr>
              <a:t>• 40% Increase in rush-hour order processing capacity</a:t>
            </a:r>
            <a:endParaRPr lang="en-US" sz="1200" dirty="0"/>
          </a:p>
          <a:p>
            <a:pPr indent="0" marL="0">
              <a:lnSpc>
                <a:spcPct val="120000"/>
              </a:lnSpc>
              <a:buNone/>
            </a:pPr>
            <a:r>
              <a:rPr lang="en-US" sz="1200" dirty="0">
                <a:solidFill>
                  <a:srgbClr val="334155"/>
                </a:solidFill>
                <a:latin typeface="Arial" pitchFamily="34" charset="0"/>
                <a:ea typeface="Arial" pitchFamily="34" charset="-122"/>
                <a:cs typeface="Arial" pitchFamily="34" charset="-120"/>
              </a:rPr>
              <a:t>• 100% Fraud-Proof: Cryptographic UTR bank verification</a:t>
            </a:r>
            <a:endParaRPr lang="en-US" sz="1200" dirty="0"/>
          </a:p>
          <a:p>
            <a:pPr indent="0" marL="0">
              <a:lnSpc>
                <a:spcPct val="120000"/>
              </a:lnSpc>
              <a:buNone/>
            </a:pPr>
            <a:r>
              <a:rPr lang="en-US" sz="1200" dirty="0">
                <a:solidFill>
                  <a:srgbClr val="334155"/>
                </a:solidFill>
                <a:latin typeface="Arial" pitchFamily="34" charset="0"/>
                <a:ea typeface="Arial" pitchFamily="34" charset="-122"/>
                <a:cs typeface="Arial" pitchFamily="34" charset="-120"/>
              </a:rPr>
              <a:t>• Zero delivery fleet, zero drivers, zero kitchen Capex</a:t>
            </a:r>
            <a:endParaRPr lang="en-US" sz="1200" dirty="0"/>
          </a:p>
          <a:p>
            <a:pPr indent="0" marL="0">
              <a:lnSpc>
                <a:spcPct val="120000"/>
              </a:lnSpc>
              <a:buNone/>
            </a:pPr>
            <a:r>
              <a:rPr lang="en-US" sz="1200" dirty="0">
                <a:solidFill>
                  <a:srgbClr val="334155"/>
                </a:solidFill>
                <a:latin typeface="Arial" pitchFamily="34" charset="0"/>
                <a:ea typeface="Arial" pitchFamily="34" charset="-122"/>
                <a:cs typeface="Arial" pitchFamily="34" charset="-120"/>
              </a:rPr>
              <a:t>• Sticky, high-frequency daily campus cashflow</a:t>
            </a:r>
            <a:endParaRPr lang="en-US" sz="1200" dirty="0"/>
          </a:p>
        </p:txBody>
      </p:sp>
      <p:sp>
        <p:nvSpPr>
          <p:cNvPr id="20" name="Text 17"/>
          <p:cNvSpPr/>
          <p:nvPr/>
        </p:nvSpPr>
        <p:spPr>
          <a:xfrm>
            <a:off x="731520" y="6446520"/>
            <a:ext cx="5486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FoodLine Campus • Master Pitch Deck 2026</a:t>
            </a:r>
            <a:endParaRPr lang="en-US" sz="900" dirty="0"/>
          </a:p>
        </p:txBody>
      </p:sp>
      <p:sp>
        <p:nvSpPr>
          <p:cNvPr id="21" name="Text 18"/>
          <p:cNvSpPr/>
          <p:nvPr/>
        </p:nvSpPr>
        <p:spPr>
          <a:xfrm>
            <a:off x="9144000" y="64465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1 /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926080" cy="292608"/>
          </a:xfrm>
          <a:prstGeom prst="roundRect">
            <a:avLst>
              <a:gd name="adj" fmla="val 25000"/>
            </a:avLst>
          </a:prstGeom>
          <a:solidFill>
            <a:srgbClr val="ECFDF5"/>
          </a:solidFill>
          <a:ln w="12700">
            <a:solidFill>
              <a:srgbClr val="A7F3D0"/>
            </a:solidFill>
            <a:prstDash val="solid"/>
          </a:ln>
        </p:spPr>
      </p:sp>
      <p:sp>
        <p:nvSpPr>
          <p:cNvPr id="3" name="Text 1"/>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THE RUSH-HOUR CRISIS</a:t>
            </a:r>
            <a:endParaRPr lang="en-US" sz="1000" dirty="0"/>
          </a:p>
        </p:txBody>
      </p:sp>
      <p:sp>
        <p:nvSpPr>
          <p:cNvPr id="4" name="Text 2"/>
          <p:cNvSpPr/>
          <p:nvPr/>
        </p:nvSpPr>
        <p:spPr>
          <a:xfrm>
            <a:off x="9144000" y="411480"/>
            <a:ext cx="2286000" cy="292608"/>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FOODLINE CAMPUS</a:t>
            </a:r>
            <a:endParaRPr lang="en-US" sz="1000" dirty="0"/>
          </a:p>
        </p:txBody>
      </p:sp>
      <p:sp>
        <p:nvSpPr>
          <p:cNvPr id="5" name="Text 3"/>
          <p:cNvSpPr/>
          <p:nvPr/>
        </p:nvSpPr>
        <p:spPr>
          <a:xfrm>
            <a:off x="731520" y="777240"/>
            <a:ext cx="10698480" cy="50292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The 15-Minute Break Trap</a:t>
            </a:r>
            <a:endParaRPr lang="en-US" sz="2400" dirty="0"/>
          </a:p>
        </p:txBody>
      </p:sp>
      <p:sp>
        <p:nvSpPr>
          <p:cNvPr id="6" name="Text 4"/>
          <p:cNvSpPr/>
          <p:nvPr/>
        </p:nvSpPr>
        <p:spPr>
          <a:xfrm>
            <a:off x="731520" y="1280160"/>
            <a:ext cx="10698480" cy="347472"/>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"The bell rings at 1:00 PM. By 1:02 PM, the canteen is an unmanageable battlefield."</a:t>
            </a:r>
            <a:endParaRPr lang="en-US" sz="1300" dirty="0"/>
          </a:p>
        </p:txBody>
      </p:sp>
      <p:sp>
        <p:nvSpPr>
          <p:cNvPr id="7" name="Shape 5"/>
          <p:cNvSpPr/>
          <p:nvPr/>
        </p:nvSpPr>
        <p:spPr>
          <a:xfrm>
            <a:off x="731520" y="1737360"/>
            <a:ext cx="5212080" cy="3474720"/>
          </a:xfrm>
          <a:prstGeom prst="roundRect">
            <a:avLst>
              <a:gd name="adj" fmla="val 3158"/>
            </a:avLst>
          </a:prstGeom>
          <a:solidFill>
            <a:srgbClr val="FEF2F2"/>
          </a:solidFill>
          <a:ln w="19050">
            <a:solidFill>
              <a:srgbClr val="FECACA"/>
            </a:solidFill>
            <a:prstDash val="solid"/>
          </a:ln>
        </p:spPr>
      </p:sp>
      <p:sp>
        <p:nvSpPr>
          <p:cNvPr id="8" name="Shape 6"/>
          <p:cNvSpPr/>
          <p:nvPr/>
        </p:nvSpPr>
        <p:spPr>
          <a:xfrm>
            <a:off x="1005840" y="1920240"/>
            <a:ext cx="2743200" cy="292608"/>
          </a:xfrm>
          <a:prstGeom prst="roundRect">
            <a:avLst>
              <a:gd name="adj" fmla="val 25000"/>
            </a:avLst>
          </a:prstGeom>
          <a:solidFill>
            <a:srgbClr val="FFFFFF"/>
          </a:solidFill>
          <a:ln w="12700">
            <a:solidFill>
              <a:srgbClr val="FECACA"/>
            </a:solidFill>
            <a:prstDash val="solid"/>
          </a:ln>
        </p:spPr>
      </p:sp>
      <p:sp>
        <p:nvSpPr>
          <p:cNvPr id="9" name="Text 7"/>
          <p:cNvSpPr/>
          <p:nvPr/>
        </p:nvSpPr>
        <p:spPr>
          <a:xfrm>
            <a:off x="1005840" y="1920240"/>
            <a:ext cx="2743200" cy="292608"/>
          </a:xfrm>
          <a:prstGeom prst="rect">
            <a:avLst/>
          </a:prstGeom>
          <a:noFill/>
          <a:ln/>
        </p:spPr>
        <p:txBody>
          <a:bodyPr wrap="square" rtlCol="0" anchor="ctr"/>
          <a:lstStyle/>
          <a:p>
            <a:pPr algn="ctr" indent="0" marL="0">
              <a:buNone/>
            </a:pPr>
            <a:r>
              <a:rPr lang="en-US" sz="1000" b="1" dirty="0">
                <a:solidFill>
                  <a:srgbClr val="DC2626"/>
                </a:solidFill>
                <a:latin typeface="Arial" pitchFamily="34" charset="0"/>
                <a:ea typeface="Arial" pitchFamily="34" charset="-122"/>
                <a:cs typeface="Arial" pitchFamily="34" charset="-120"/>
              </a:rPr>
              <a:t>WHAT HAPPENS RIGHT NOW</a:t>
            </a:r>
            <a:endParaRPr lang="en-US" sz="1000" dirty="0"/>
          </a:p>
        </p:txBody>
      </p:sp>
      <p:sp>
        <p:nvSpPr>
          <p:cNvPr id="10" name="Text 8"/>
          <p:cNvSpPr/>
          <p:nvPr/>
        </p:nvSpPr>
        <p:spPr>
          <a:xfrm>
            <a:off x="1005840" y="2331720"/>
            <a:ext cx="4663440" cy="2743200"/>
          </a:xfrm>
          <a:prstGeom prst="rect">
            <a:avLst/>
          </a:prstGeom>
          <a:noFill/>
          <a:ln/>
        </p:spPr>
        <p:txBody>
          <a:bodyPr wrap="square" rtlCol="0" anchor="ctr"/>
          <a:lstStyle/>
          <a:p>
            <a:pPr indent="0" marL="0">
              <a:lnSpc>
                <a:spcPct val="115000"/>
              </a:lnSpc>
              <a:buNone/>
            </a:pPr>
            <a:r>
              <a:rPr lang="en-US" sz="1200" dirty="0">
                <a:solidFill>
                  <a:srgbClr val="0F172A"/>
                </a:solidFill>
                <a:latin typeface="Arial" pitchFamily="34" charset="0"/>
                <a:ea typeface="Arial" pitchFamily="34" charset="-122"/>
                <a:cs typeface="Arial" pitchFamily="34" charset="-120"/>
              </a:rPr>
              <a:t>The Crowd Rush</a:t>
            </a: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500 hungry students rush to the single counter at the exact same minute.</a:t>
            </a:r>
            <a:endParaRPr lang="en-US" sz="1200" dirty="0"/>
          </a:p>
          <a:p>
            <a:pPr indent="0" marL="0">
              <a:lnSpc>
                <a:spcPct val="115000"/>
              </a:lnSpc>
              <a:buNone/>
            </a:pP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The Lost Lunch</a:t>
            </a: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Waiting in line takes 18 minutes. But the break is only 15 minutes! Over 50% of students either skip food or arrive late to class.</a:t>
            </a:r>
            <a:endParaRPr lang="en-US" sz="1200" dirty="0"/>
          </a:p>
          <a:p>
            <a:pPr indent="0" marL="0">
              <a:lnSpc>
                <a:spcPct val="115000"/>
              </a:lnSpc>
              <a:buNone/>
            </a:pP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The Cook's Nightmare</a:t>
            </a: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The canteen manager has 2 hands and 50 shouting people. Cooked food burns, wrong orders get handed out, and tempers flare.</a:t>
            </a:r>
            <a:endParaRPr lang="en-US" sz="1200" dirty="0"/>
          </a:p>
        </p:txBody>
      </p:sp>
      <p:sp>
        <p:nvSpPr>
          <p:cNvPr id="11" name="Shape 9"/>
          <p:cNvSpPr/>
          <p:nvPr/>
        </p:nvSpPr>
        <p:spPr>
          <a:xfrm>
            <a:off x="6217920" y="1737360"/>
            <a:ext cx="5212080" cy="3474720"/>
          </a:xfrm>
          <a:prstGeom prst="roundRect">
            <a:avLst>
              <a:gd name="adj" fmla="val 3158"/>
            </a:avLst>
          </a:prstGeom>
          <a:solidFill>
            <a:srgbClr val="FFFFFF"/>
          </a:solidFill>
          <a:ln w="19050">
            <a:solidFill>
              <a:srgbClr val="E2E8F0"/>
            </a:solidFill>
            <a:prstDash val="solid"/>
          </a:ln>
        </p:spPr>
      </p:sp>
      <p:sp>
        <p:nvSpPr>
          <p:cNvPr id="12" name="Shape 10"/>
          <p:cNvSpPr/>
          <p:nvPr/>
        </p:nvSpPr>
        <p:spPr>
          <a:xfrm>
            <a:off x="6492240" y="1920240"/>
            <a:ext cx="2377440" cy="292608"/>
          </a:xfrm>
          <a:prstGeom prst="roundRect">
            <a:avLst>
              <a:gd name="adj" fmla="val 25000"/>
            </a:avLst>
          </a:prstGeom>
          <a:solidFill>
            <a:srgbClr val="FFFBEB"/>
          </a:solidFill>
          <a:ln w="12700">
            <a:solidFill>
              <a:srgbClr val="FDE68A"/>
            </a:solidFill>
            <a:prstDash val="solid"/>
          </a:ln>
        </p:spPr>
      </p:sp>
      <p:sp>
        <p:nvSpPr>
          <p:cNvPr id="13" name="Text 11"/>
          <p:cNvSpPr/>
          <p:nvPr/>
        </p:nvSpPr>
        <p:spPr>
          <a:xfrm>
            <a:off x="6492240" y="1920240"/>
            <a:ext cx="2377440" cy="292608"/>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THE REALITY CHECK</a:t>
            </a:r>
            <a:endParaRPr lang="en-US" sz="1000" dirty="0"/>
          </a:p>
        </p:txBody>
      </p:sp>
      <p:sp>
        <p:nvSpPr>
          <p:cNvPr id="14" name="Text 12"/>
          <p:cNvSpPr/>
          <p:nvPr/>
        </p:nvSpPr>
        <p:spPr>
          <a:xfrm>
            <a:off x="6492240" y="2331720"/>
            <a:ext cx="4663440" cy="2743200"/>
          </a:xfrm>
          <a:prstGeom prst="rect">
            <a:avLst/>
          </a:prstGeom>
          <a:noFill/>
          <a:ln/>
        </p:spPr>
        <p:txBody>
          <a:bodyPr wrap="square" rtlCol="0" anchor="ctr"/>
          <a:lstStyle/>
          <a:p>
            <a:pPr indent="0" marL="0">
              <a:lnSpc>
                <a:spcPct val="115000"/>
              </a:lnSpc>
              <a:buNone/>
            </a:pPr>
            <a:r>
              <a:rPr lang="en-US" sz="1200" dirty="0">
                <a:solidFill>
                  <a:srgbClr val="0F172A"/>
                </a:solidFill>
                <a:latin typeface="Arial" pitchFamily="34" charset="0"/>
                <a:ea typeface="Arial" pitchFamily="34" charset="-122"/>
                <a:cs typeface="Arial" pitchFamily="34" charset="-120"/>
              </a:rPr>
              <a:t>For Hungry Students</a:t>
            </a: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Skipped meals lead to afternoon exhaustion. Standing in crowds wastes 100% of their social and relaxation time.</a:t>
            </a:r>
            <a:endParaRPr lang="en-US" sz="1200" dirty="0"/>
          </a:p>
          <a:p>
            <a:pPr indent="0" marL="0">
              <a:lnSpc>
                <a:spcPct val="115000"/>
              </a:lnSpc>
              <a:buNone/>
            </a:pP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For Canteen Owners</a:t>
            </a: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Physical counter congestion caps sales. The canteen loses 40% to 60% of potential daily revenue simply because lines move too slowly.</a:t>
            </a:r>
            <a:endParaRPr lang="en-US" sz="1200" dirty="0"/>
          </a:p>
          <a:p>
            <a:pPr indent="0" marL="0">
              <a:lnSpc>
                <a:spcPct val="115000"/>
              </a:lnSpc>
              <a:buNone/>
            </a:pP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For College Administration</a:t>
            </a: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Corridors get blocked, students enter lectures late, and campus gates experience friction and noise.</a:t>
            </a:r>
            <a:endParaRPr lang="en-US" sz="1200" dirty="0"/>
          </a:p>
        </p:txBody>
      </p:sp>
      <p:sp>
        <p:nvSpPr>
          <p:cNvPr id="15" name="Shape 13"/>
          <p:cNvSpPr/>
          <p:nvPr/>
        </p:nvSpPr>
        <p:spPr>
          <a:xfrm>
            <a:off x="731520" y="5349240"/>
            <a:ext cx="10698480" cy="914400"/>
          </a:xfrm>
          <a:prstGeom prst="roundRect">
            <a:avLst>
              <a:gd name="adj" fmla="val 10000"/>
            </a:avLst>
          </a:prstGeom>
          <a:solidFill>
            <a:srgbClr val="FFFFFF"/>
          </a:solidFill>
          <a:ln w="12700">
            <a:solidFill>
              <a:srgbClr val="E2E8F0"/>
            </a:solidFill>
            <a:prstDash val="solid"/>
          </a:ln>
        </p:spPr>
      </p:sp>
      <p:sp>
        <p:nvSpPr>
          <p:cNvPr id="16" name="Text 14"/>
          <p:cNvSpPr/>
          <p:nvPr/>
        </p:nvSpPr>
        <p:spPr>
          <a:xfrm>
            <a:off x="1005840" y="5440680"/>
            <a:ext cx="10149840" cy="228600"/>
          </a:xfrm>
          <a:prstGeom prst="rect">
            <a:avLst/>
          </a:prstGeom>
          <a:noFill/>
          <a:ln/>
        </p:spPr>
        <p:txBody>
          <a:bodyPr wrap="square" rtlCol="0" anchor="ctr"/>
          <a:lstStyle/>
          <a:p>
            <a:pPr indent="0" marL="0">
              <a:buNone/>
            </a:pPr>
            <a:r>
              <a:rPr lang="en-US" sz="1100" b="1" dirty="0">
                <a:solidFill>
                  <a:srgbClr val="059669"/>
                </a:solidFill>
                <a:latin typeface="Arial" pitchFamily="34" charset="0"/>
                <a:ea typeface="Arial" pitchFamily="34" charset="-122"/>
                <a:cs typeface="Arial" pitchFamily="34" charset="-120"/>
              </a:rPr>
              <a:t>THE 5-SECOND ANALOGY:</a:t>
            </a:r>
            <a:endParaRPr lang="en-US" sz="1100" dirty="0"/>
          </a:p>
        </p:txBody>
      </p:sp>
      <p:sp>
        <p:nvSpPr>
          <p:cNvPr id="17" name="Text 15"/>
          <p:cNvSpPr/>
          <p:nvPr/>
        </p:nvSpPr>
        <p:spPr>
          <a:xfrm>
            <a:off x="1005840" y="5715000"/>
            <a:ext cx="10149840" cy="41148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"Think of a school bell ringing. If 500 kids all try to squeeze through one narrow door at the same second, everyone gets stuck. That is exactly what happens at campus canteens today."</a:t>
            </a:r>
            <a:endParaRPr lang="en-US" sz="1300" dirty="0"/>
          </a:p>
        </p:txBody>
      </p:sp>
      <p:sp>
        <p:nvSpPr>
          <p:cNvPr id="18" name="Text 16"/>
          <p:cNvSpPr/>
          <p:nvPr/>
        </p:nvSpPr>
        <p:spPr>
          <a:xfrm>
            <a:off x="731520" y="6446520"/>
            <a:ext cx="5486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FoodLine Campus • Master Pitch Deck 2026</a:t>
            </a:r>
            <a:endParaRPr lang="en-US" sz="900" dirty="0"/>
          </a:p>
        </p:txBody>
      </p:sp>
      <p:sp>
        <p:nvSpPr>
          <p:cNvPr id="19" name="Text 17"/>
          <p:cNvSpPr/>
          <p:nvPr/>
        </p:nvSpPr>
        <p:spPr>
          <a:xfrm>
            <a:off x="9144000" y="64465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926080" cy="292608"/>
          </a:xfrm>
          <a:prstGeom prst="roundRect">
            <a:avLst>
              <a:gd name="adj" fmla="val 25000"/>
            </a:avLst>
          </a:prstGeom>
          <a:solidFill>
            <a:srgbClr val="ECFDF5"/>
          </a:solidFill>
          <a:ln w="12700">
            <a:solidFill>
              <a:srgbClr val="A7F3D0"/>
            </a:solidFill>
            <a:prstDash val="solid"/>
          </a:ln>
        </p:spPr>
      </p:sp>
      <p:sp>
        <p:nvSpPr>
          <p:cNvPr id="3" name="Text 1"/>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CAMPUS-SPECIFIC DYNAMICS</a:t>
            </a:r>
            <a:endParaRPr lang="en-US" sz="1000" dirty="0"/>
          </a:p>
        </p:txBody>
      </p:sp>
      <p:sp>
        <p:nvSpPr>
          <p:cNvPr id="4" name="Text 2"/>
          <p:cNvSpPr/>
          <p:nvPr/>
        </p:nvSpPr>
        <p:spPr>
          <a:xfrm>
            <a:off x="9144000" y="411480"/>
            <a:ext cx="2286000" cy="292608"/>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FOODLINE CAMPUS</a:t>
            </a:r>
            <a:endParaRPr lang="en-US" sz="1000" dirty="0"/>
          </a:p>
        </p:txBody>
      </p:sp>
      <p:sp>
        <p:nvSpPr>
          <p:cNvPr id="5" name="Text 3"/>
          <p:cNvSpPr/>
          <p:nvPr/>
        </p:nvSpPr>
        <p:spPr>
          <a:xfrm>
            <a:off x="731520" y="777240"/>
            <a:ext cx="10698480" cy="50292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Why Commercial Delivery Apps Fail on Campus</a:t>
            </a:r>
            <a:endParaRPr lang="en-US" sz="2400" dirty="0"/>
          </a:p>
        </p:txBody>
      </p:sp>
      <p:sp>
        <p:nvSpPr>
          <p:cNvPr id="6" name="Text 4"/>
          <p:cNvSpPr/>
          <p:nvPr/>
        </p:nvSpPr>
        <p:spPr>
          <a:xfrm>
            <a:off x="731520" y="1280160"/>
            <a:ext cx="10698480" cy="347472"/>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"Ordering a ₹20 Vada Pav with a ₹40 delivery fee makes zero economic sense."</a:t>
            </a:r>
            <a:endParaRPr lang="en-US" sz="1300" dirty="0"/>
          </a:p>
        </p:txBody>
      </p:sp>
      <p:sp>
        <p:nvSpPr>
          <p:cNvPr id="7" name="Shape 5"/>
          <p:cNvSpPr/>
          <p:nvPr/>
        </p:nvSpPr>
        <p:spPr>
          <a:xfrm>
            <a:off x="731520" y="1737360"/>
            <a:ext cx="3383280" cy="3474720"/>
          </a:xfrm>
          <a:prstGeom prst="roundRect">
            <a:avLst>
              <a:gd name="adj" fmla="val 3243"/>
            </a:avLst>
          </a:prstGeom>
          <a:solidFill>
            <a:srgbClr val="FFFFFF"/>
          </a:solidFill>
          <a:ln w="19050">
            <a:solidFill>
              <a:srgbClr val="FECACA"/>
            </a:solidFill>
            <a:prstDash val="solid"/>
          </a:ln>
        </p:spPr>
      </p:sp>
      <p:sp>
        <p:nvSpPr>
          <p:cNvPr id="8" name="Shape 6"/>
          <p:cNvSpPr/>
          <p:nvPr/>
        </p:nvSpPr>
        <p:spPr>
          <a:xfrm>
            <a:off x="1005840" y="1920240"/>
            <a:ext cx="2834640" cy="274320"/>
          </a:xfrm>
          <a:prstGeom prst="roundRect">
            <a:avLst>
              <a:gd name="adj" fmla="val 26667"/>
            </a:avLst>
          </a:prstGeom>
          <a:solidFill>
            <a:srgbClr val="FEF2F2"/>
          </a:solidFill>
          <a:ln w="12700">
            <a:solidFill>
              <a:srgbClr val="FECACA"/>
            </a:solidFill>
            <a:prstDash val="solid"/>
          </a:ln>
        </p:spPr>
      </p:sp>
      <p:sp>
        <p:nvSpPr>
          <p:cNvPr id="9" name="Text 7"/>
          <p:cNvSpPr/>
          <p:nvPr/>
        </p:nvSpPr>
        <p:spPr>
          <a:xfrm>
            <a:off x="1005840" y="1920240"/>
            <a:ext cx="2834640" cy="274320"/>
          </a:xfrm>
          <a:prstGeom prst="rect">
            <a:avLst/>
          </a:prstGeom>
          <a:noFill/>
          <a:ln/>
        </p:spPr>
        <p:txBody>
          <a:bodyPr wrap="square" rtlCol="0" anchor="ctr"/>
          <a:lstStyle/>
          <a:p>
            <a:pPr algn="ctr" indent="0" marL="0">
              <a:buNone/>
            </a:pPr>
            <a:r>
              <a:rPr lang="en-US" sz="900" b="1" dirty="0">
                <a:solidFill>
                  <a:srgbClr val="DC2626"/>
                </a:solidFill>
                <a:latin typeface="Arial" pitchFamily="34" charset="0"/>
                <a:ea typeface="Arial" pitchFamily="34" charset="-122"/>
                <a:cs typeface="Arial" pitchFamily="34" charset="-120"/>
              </a:rPr>
              <a:t>SECURITY RESTRICTIONS</a:t>
            </a:r>
            <a:endParaRPr lang="en-US" sz="900" dirty="0"/>
          </a:p>
        </p:txBody>
      </p:sp>
      <p:sp>
        <p:nvSpPr>
          <p:cNvPr id="10" name="Text 8"/>
          <p:cNvSpPr/>
          <p:nvPr/>
        </p:nvSpPr>
        <p:spPr>
          <a:xfrm>
            <a:off x="1005840" y="2331720"/>
            <a:ext cx="2834640" cy="45720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Outside Bikes Are Blocked</a:t>
            </a:r>
            <a:endParaRPr lang="en-US" sz="1600" dirty="0"/>
          </a:p>
        </p:txBody>
      </p:sp>
      <p:sp>
        <p:nvSpPr>
          <p:cNvPr id="11" name="Text 9"/>
          <p:cNvSpPr/>
          <p:nvPr/>
        </p:nvSpPr>
        <p:spPr>
          <a:xfrm>
            <a:off x="1005840" y="2880360"/>
            <a:ext cx="2834640" cy="2103120"/>
          </a:xfrm>
          <a:prstGeom prst="rect">
            <a:avLst/>
          </a:prstGeom>
          <a:noFill/>
          <a:ln/>
        </p:spPr>
        <p:txBody>
          <a:bodyPr wrap="square" rtlCol="0" anchor="ctr"/>
          <a:lstStyle/>
          <a:p>
            <a:pPr indent="0" marL="0">
              <a:lnSpc>
                <a:spcPct val="115000"/>
              </a:lnSpc>
              <a:buNone/>
            </a:pPr>
            <a:r>
              <a:rPr lang="en-US" sz="1200" dirty="0">
                <a:solidFill>
                  <a:srgbClr val="334155"/>
                </a:solidFill>
                <a:latin typeface="Arial" pitchFamily="34" charset="0"/>
                <a:ea typeface="Arial" pitchFamily="34" charset="-122"/>
                <a:cs typeface="Arial" pitchFamily="34" charset="-120"/>
              </a:rPr>
              <a:t>University security strictly prohibits outside delivery riders from entering campus gates or classroom corridors for student safety.</a:t>
            </a:r>
            <a:endParaRPr lang="en-US" sz="1200" dirty="0"/>
          </a:p>
          <a:p>
            <a:pPr indent="0" marL="0">
              <a:lnSpc>
                <a:spcPct val="115000"/>
              </a:lnSpc>
              <a:buNone/>
            </a:pPr>
            <a:endParaRPr lang="en-US" sz="1200" dirty="0"/>
          </a:p>
          <a:p>
            <a:pPr indent="0" marL="0">
              <a:lnSpc>
                <a:spcPct val="115000"/>
              </a:lnSpc>
              <a:buNone/>
            </a:pPr>
            <a:r>
              <a:rPr lang="en-US" sz="1200" dirty="0">
                <a:solidFill>
                  <a:srgbClr val="334155"/>
                </a:solidFill>
                <a:latin typeface="Arial" pitchFamily="34" charset="0"/>
                <a:ea typeface="Arial" pitchFamily="34" charset="-122"/>
                <a:cs typeface="Arial" pitchFamily="34" charset="-120"/>
              </a:rPr>
              <a:t>Riders wait at distant main gates — 10 to 15 minutes walk away. Walking to the gate defeats the entire purpose of a quick break snack.</a:t>
            </a:r>
            <a:endParaRPr lang="en-US" sz="1200" dirty="0"/>
          </a:p>
        </p:txBody>
      </p:sp>
      <p:sp>
        <p:nvSpPr>
          <p:cNvPr id="12" name="Shape 10"/>
          <p:cNvSpPr/>
          <p:nvPr/>
        </p:nvSpPr>
        <p:spPr>
          <a:xfrm>
            <a:off x="4389120" y="1737360"/>
            <a:ext cx="3383280" cy="3474720"/>
          </a:xfrm>
          <a:prstGeom prst="roundRect">
            <a:avLst>
              <a:gd name="adj" fmla="val 3243"/>
            </a:avLst>
          </a:prstGeom>
          <a:solidFill>
            <a:srgbClr val="FFFFFF"/>
          </a:solidFill>
          <a:ln w="19050">
            <a:solidFill>
              <a:srgbClr val="FDE68A"/>
            </a:solidFill>
            <a:prstDash val="solid"/>
          </a:ln>
        </p:spPr>
      </p:sp>
      <p:sp>
        <p:nvSpPr>
          <p:cNvPr id="13" name="Shape 11"/>
          <p:cNvSpPr/>
          <p:nvPr/>
        </p:nvSpPr>
        <p:spPr>
          <a:xfrm>
            <a:off x="4663440" y="1920240"/>
            <a:ext cx="2834640" cy="274320"/>
          </a:xfrm>
          <a:prstGeom prst="roundRect">
            <a:avLst>
              <a:gd name="adj" fmla="val 26667"/>
            </a:avLst>
          </a:prstGeom>
          <a:solidFill>
            <a:srgbClr val="FFFBEB"/>
          </a:solidFill>
          <a:ln w="12700">
            <a:solidFill>
              <a:srgbClr val="FDE68A"/>
            </a:solidFill>
            <a:prstDash val="solid"/>
          </a:ln>
        </p:spPr>
      </p:sp>
      <p:sp>
        <p:nvSpPr>
          <p:cNvPr id="14" name="Text 12"/>
          <p:cNvSpPr/>
          <p:nvPr/>
        </p:nvSpPr>
        <p:spPr>
          <a:xfrm>
            <a:off x="4663440" y="1920240"/>
            <a:ext cx="2834640" cy="274320"/>
          </a:xfrm>
          <a:prstGeom prst="rect">
            <a:avLst/>
          </a:prstGeom>
          <a:noFill/>
          <a:ln/>
        </p:spPr>
        <p:txBody>
          <a:bodyPr wrap="square" rtlCol="0" anchor="ctr"/>
          <a:lstStyle/>
          <a:p>
            <a:pPr algn="ctr" indent="0" marL="0">
              <a:buNone/>
            </a:pPr>
            <a:r>
              <a:rPr lang="en-US" sz="900" b="1" dirty="0">
                <a:solidFill>
                  <a:srgbClr val="D97706"/>
                </a:solidFill>
                <a:latin typeface="Arial" pitchFamily="34" charset="0"/>
                <a:ea typeface="Arial" pitchFamily="34" charset="-122"/>
                <a:cs typeface="Arial" pitchFamily="34" charset="-120"/>
              </a:rPr>
              <a:t>UNVIABLE UNIT ECONOMICS</a:t>
            </a:r>
            <a:endParaRPr lang="en-US" sz="900" dirty="0"/>
          </a:p>
        </p:txBody>
      </p:sp>
      <p:sp>
        <p:nvSpPr>
          <p:cNvPr id="15" name="Text 13"/>
          <p:cNvSpPr/>
          <p:nvPr/>
        </p:nvSpPr>
        <p:spPr>
          <a:xfrm>
            <a:off x="4663440" y="2331720"/>
            <a:ext cx="2834640" cy="45720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Delivery Costs More Than Food</a:t>
            </a:r>
            <a:endParaRPr lang="en-US" sz="1600" dirty="0"/>
          </a:p>
        </p:txBody>
      </p:sp>
      <p:sp>
        <p:nvSpPr>
          <p:cNvPr id="16" name="Text 14"/>
          <p:cNvSpPr/>
          <p:nvPr/>
        </p:nvSpPr>
        <p:spPr>
          <a:xfrm>
            <a:off x="4663440" y="2880360"/>
            <a:ext cx="2834640" cy="2103120"/>
          </a:xfrm>
          <a:prstGeom prst="rect">
            <a:avLst/>
          </a:prstGeom>
          <a:noFill/>
          <a:ln/>
        </p:spPr>
        <p:txBody>
          <a:bodyPr wrap="square" rtlCol="0" anchor="ctr"/>
          <a:lstStyle/>
          <a:p>
            <a:pPr indent="0" marL="0">
              <a:lnSpc>
                <a:spcPct val="115000"/>
              </a:lnSpc>
              <a:buNone/>
            </a:pPr>
            <a:r>
              <a:rPr lang="en-US" sz="1200" dirty="0">
                <a:solidFill>
                  <a:srgbClr val="334155"/>
                </a:solidFill>
                <a:latin typeface="Arial" pitchFamily="34" charset="0"/>
                <a:ea typeface="Arial" pitchFamily="34" charset="-122"/>
                <a:cs typeface="Arial" pitchFamily="34" charset="-120"/>
              </a:rPr>
              <a:t>A college student spending ₹20 on a Vada Pav or ₹30 on a Samosa cannot pay ₹40 to ₹60 extra in delivery charges, packaging surcharges, and tips.</a:t>
            </a:r>
            <a:endParaRPr lang="en-US" sz="1200" dirty="0"/>
          </a:p>
          <a:p>
            <a:pPr indent="0" marL="0">
              <a:lnSpc>
                <a:spcPct val="115000"/>
              </a:lnSpc>
              <a:buNone/>
            </a:pPr>
            <a:endParaRPr lang="en-US" sz="1200" dirty="0"/>
          </a:p>
          <a:p>
            <a:pPr indent="0" marL="0">
              <a:lnSpc>
                <a:spcPct val="115000"/>
              </a:lnSpc>
              <a:buNone/>
            </a:pPr>
            <a:r>
              <a:rPr lang="en-US" sz="1200" dirty="0">
                <a:solidFill>
                  <a:srgbClr val="334155"/>
                </a:solidFill>
                <a:latin typeface="Arial" pitchFamily="34" charset="0"/>
                <a:ea typeface="Arial" pitchFamily="34" charset="-122"/>
                <a:cs typeface="Arial" pitchFamily="34" charset="-120"/>
              </a:rPr>
              <a:t>Students live on tight pocket budgets. Commercial food delivery apps are built for luxury adult salaries, not campus pockets.</a:t>
            </a:r>
            <a:endParaRPr lang="en-US" sz="1200" dirty="0"/>
          </a:p>
        </p:txBody>
      </p:sp>
      <p:sp>
        <p:nvSpPr>
          <p:cNvPr id="17" name="Shape 15"/>
          <p:cNvSpPr/>
          <p:nvPr/>
        </p:nvSpPr>
        <p:spPr>
          <a:xfrm>
            <a:off x="8046720" y="1737360"/>
            <a:ext cx="3383280" cy="3474720"/>
          </a:xfrm>
          <a:prstGeom prst="roundRect">
            <a:avLst>
              <a:gd name="adj" fmla="val 3243"/>
            </a:avLst>
          </a:prstGeom>
          <a:solidFill>
            <a:srgbClr val="FFFFFF"/>
          </a:solidFill>
          <a:ln w="19050">
            <a:solidFill>
              <a:srgbClr val="FECACA"/>
            </a:solidFill>
            <a:prstDash val="solid"/>
          </a:ln>
        </p:spPr>
      </p:sp>
      <p:sp>
        <p:nvSpPr>
          <p:cNvPr id="18" name="Shape 16"/>
          <p:cNvSpPr/>
          <p:nvPr/>
        </p:nvSpPr>
        <p:spPr>
          <a:xfrm>
            <a:off x="8321040" y="1920240"/>
            <a:ext cx="2834640" cy="274320"/>
          </a:xfrm>
          <a:prstGeom prst="roundRect">
            <a:avLst>
              <a:gd name="adj" fmla="val 26667"/>
            </a:avLst>
          </a:prstGeom>
          <a:solidFill>
            <a:srgbClr val="FEF2F2"/>
          </a:solidFill>
          <a:ln w="12700">
            <a:solidFill>
              <a:srgbClr val="FECACA"/>
            </a:solidFill>
            <a:prstDash val="solid"/>
          </a:ln>
        </p:spPr>
      </p:sp>
      <p:sp>
        <p:nvSpPr>
          <p:cNvPr id="19" name="Text 17"/>
          <p:cNvSpPr/>
          <p:nvPr/>
        </p:nvSpPr>
        <p:spPr>
          <a:xfrm>
            <a:off x="8321040" y="1920240"/>
            <a:ext cx="2834640" cy="274320"/>
          </a:xfrm>
          <a:prstGeom prst="rect">
            <a:avLst/>
          </a:prstGeom>
          <a:noFill/>
          <a:ln/>
        </p:spPr>
        <p:txBody>
          <a:bodyPr wrap="square" rtlCol="0" anchor="ctr"/>
          <a:lstStyle/>
          <a:p>
            <a:pPr algn="ctr" indent="0" marL="0">
              <a:buNone/>
            </a:pPr>
            <a:r>
              <a:rPr lang="en-US" sz="900" b="1" dirty="0">
                <a:solidFill>
                  <a:srgbClr val="DC2626"/>
                </a:solidFill>
                <a:latin typeface="Arial" pitchFamily="34" charset="0"/>
                <a:ea typeface="Arial" pitchFamily="34" charset="-122"/>
                <a:cs typeface="Arial" pitchFamily="34" charset="-120"/>
              </a:rPr>
              <a:t>MISSED RECESS WINDOW</a:t>
            </a:r>
            <a:endParaRPr lang="en-US" sz="900" dirty="0"/>
          </a:p>
        </p:txBody>
      </p:sp>
      <p:sp>
        <p:nvSpPr>
          <p:cNvPr id="20" name="Text 18"/>
          <p:cNvSpPr/>
          <p:nvPr/>
        </p:nvSpPr>
        <p:spPr>
          <a:xfrm>
            <a:off x="8321040" y="2331720"/>
            <a:ext cx="2834640" cy="45720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Delivery Takes 40+ Minutes</a:t>
            </a:r>
            <a:endParaRPr lang="en-US" sz="1600" dirty="0"/>
          </a:p>
        </p:txBody>
      </p:sp>
      <p:sp>
        <p:nvSpPr>
          <p:cNvPr id="21" name="Text 19"/>
          <p:cNvSpPr/>
          <p:nvPr/>
        </p:nvSpPr>
        <p:spPr>
          <a:xfrm>
            <a:off x="8321040" y="2880360"/>
            <a:ext cx="2834640" cy="2103120"/>
          </a:xfrm>
          <a:prstGeom prst="rect">
            <a:avLst/>
          </a:prstGeom>
          <a:noFill/>
          <a:ln/>
        </p:spPr>
        <p:txBody>
          <a:bodyPr wrap="square" rtlCol="0" anchor="ctr"/>
          <a:lstStyle/>
          <a:p>
            <a:pPr indent="0" marL="0">
              <a:lnSpc>
                <a:spcPct val="115000"/>
              </a:lnSpc>
              <a:buNone/>
            </a:pPr>
            <a:r>
              <a:rPr lang="en-US" sz="1200" dirty="0">
                <a:solidFill>
                  <a:srgbClr val="334155"/>
                </a:solidFill>
                <a:latin typeface="Arial" pitchFamily="34" charset="0"/>
                <a:ea typeface="Arial" pitchFamily="34" charset="-122"/>
                <a:cs typeface="Arial" pitchFamily="34" charset="-120"/>
              </a:rPr>
              <a:t>Off-campus restaurant preparation, rider dispatch, and traffic takes 35 to 45 minutes.</a:t>
            </a:r>
            <a:endParaRPr lang="en-US" sz="1200" dirty="0"/>
          </a:p>
          <a:p>
            <a:pPr indent="0" marL="0">
              <a:lnSpc>
                <a:spcPct val="115000"/>
              </a:lnSpc>
              <a:buNone/>
            </a:pPr>
            <a:endParaRPr lang="en-US" sz="1200" dirty="0"/>
          </a:p>
          <a:p>
            <a:pPr indent="0" marL="0">
              <a:lnSpc>
                <a:spcPct val="115000"/>
              </a:lnSpc>
              <a:buNone/>
            </a:pPr>
            <a:r>
              <a:rPr lang="en-US" sz="1200" dirty="0">
                <a:solidFill>
                  <a:srgbClr val="334155"/>
                </a:solidFill>
                <a:latin typeface="Arial" pitchFamily="34" charset="0"/>
                <a:ea typeface="Arial" pitchFamily="34" charset="-122"/>
                <a:cs typeface="Arial" pitchFamily="34" charset="-120"/>
              </a:rPr>
              <a:t>Campus recess is only 15 to 20 minutes! The food arrives long after the student has already returned to the lecture hall, leaving the delivery abandoned.</a:t>
            </a:r>
            <a:endParaRPr lang="en-US" sz="1200" dirty="0"/>
          </a:p>
        </p:txBody>
      </p:sp>
      <p:sp>
        <p:nvSpPr>
          <p:cNvPr id="22" name="Shape 20"/>
          <p:cNvSpPr/>
          <p:nvPr/>
        </p:nvSpPr>
        <p:spPr>
          <a:xfrm>
            <a:off x="731520" y="5349240"/>
            <a:ext cx="10698480" cy="914400"/>
          </a:xfrm>
          <a:prstGeom prst="roundRect">
            <a:avLst>
              <a:gd name="adj" fmla="val 10000"/>
            </a:avLst>
          </a:prstGeom>
          <a:solidFill>
            <a:srgbClr val="ECFDF5"/>
          </a:solidFill>
          <a:ln w="19050">
            <a:solidFill>
              <a:srgbClr val="A7F3D0"/>
            </a:solidFill>
            <a:prstDash val="solid"/>
          </a:ln>
        </p:spPr>
      </p:sp>
      <p:sp>
        <p:nvSpPr>
          <p:cNvPr id="23" name="Text 21"/>
          <p:cNvSpPr/>
          <p:nvPr/>
        </p:nvSpPr>
        <p:spPr>
          <a:xfrm>
            <a:off x="1005840" y="5440680"/>
            <a:ext cx="10149840" cy="228600"/>
          </a:xfrm>
          <a:prstGeom prst="rect">
            <a:avLst/>
          </a:prstGeom>
          <a:noFill/>
          <a:ln/>
        </p:spPr>
        <p:txBody>
          <a:bodyPr wrap="square" rtlCol="0" anchor="ctr"/>
          <a:lstStyle/>
          <a:p>
            <a:pPr indent="0" marL="0">
              <a:buNone/>
            </a:pPr>
            <a:r>
              <a:rPr lang="en-US" sz="1100" b="1" dirty="0">
                <a:solidFill>
                  <a:srgbClr val="059669"/>
                </a:solidFill>
                <a:latin typeface="Arial" pitchFamily="34" charset="0"/>
                <a:ea typeface="Arial" pitchFamily="34" charset="-122"/>
                <a:cs typeface="Arial" pitchFamily="34" charset="-120"/>
              </a:rPr>
              <a:t>THE CORE REALIZATION:</a:t>
            </a:r>
            <a:endParaRPr lang="en-US" sz="1100" dirty="0"/>
          </a:p>
        </p:txBody>
      </p:sp>
      <p:sp>
        <p:nvSpPr>
          <p:cNvPr id="24" name="Text 22"/>
          <p:cNvSpPr/>
          <p:nvPr/>
        </p:nvSpPr>
        <p:spPr>
          <a:xfrm>
            <a:off x="1005840" y="5715000"/>
            <a:ext cx="10149840" cy="41148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"The food is already cooked 200 meters away inside their campus canteen. Students don't need a motorbike rider. They just need an express digital pickup lane."</a:t>
            </a:r>
            <a:endParaRPr lang="en-US" sz="1300" dirty="0"/>
          </a:p>
        </p:txBody>
      </p:sp>
      <p:sp>
        <p:nvSpPr>
          <p:cNvPr id="25" name="Text 23"/>
          <p:cNvSpPr/>
          <p:nvPr/>
        </p:nvSpPr>
        <p:spPr>
          <a:xfrm>
            <a:off x="731520" y="6446520"/>
            <a:ext cx="5486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FoodLine Campus • Master Pitch Deck 2026</a:t>
            </a:r>
            <a:endParaRPr lang="en-US" sz="900" dirty="0"/>
          </a:p>
        </p:txBody>
      </p:sp>
      <p:sp>
        <p:nvSpPr>
          <p:cNvPr id="26" name="Text 24"/>
          <p:cNvSpPr/>
          <p:nvPr/>
        </p:nvSpPr>
        <p:spPr>
          <a:xfrm>
            <a:off x="9144000" y="64465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926080" cy="292608"/>
          </a:xfrm>
          <a:prstGeom prst="roundRect">
            <a:avLst>
              <a:gd name="adj" fmla="val 25000"/>
            </a:avLst>
          </a:prstGeom>
          <a:solidFill>
            <a:srgbClr val="ECFDF5"/>
          </a:solidFill>
          <a:ln w="12700">
            <a:solidFill>
              <a:srgbClr val="A7F3D0"/>
            </a:solidFill>
            <a:prstDash val="solid"/>
          </a:ln>
        </p:spPr>
      </p:sp>
      <p:sp>
        <p:nvSpPr>
          <p:cNvPr id="3" name="Text 1"/>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THE BREAKTHROUGH RAIL</a:t>
            </a:r>
            <a:endParaRPr lang="en-US" sz="1000" dirty="0"/>
          </a:p>
        </p:txBody>
      </p:sp>
      <p:sp>
        <p:nvSpPr>
          <p:cNvPr id="4" name="Text 2"/>
          <p:cNvSpPr/>
          <p:nvPr/>
        </p:nvSpPr>
        <p:spPr>
          <a:xfrm>
            <a:off x="9144000" y="411480"/>
            <a:ext cx="2286000" cy="292608"/>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FOODLINE CAMPUS</a:t>
            </a:r>
            <a:endParaRPr lang="en-US" sz="1000" dirty="0"/>
          </a:p>
        </p:txBody>
      </p:sp>
      <p:sp>
        <p:nvSpPr>
          <p:cNvPr id="5" name="Text 3"/>
          <p:cNvSpPr/>
          <p:nvPr/>
        </p:nvSpPr>
        <p:spPr>
          <a:xfrm>
            <a:off x="731520" y="777240"/>
            <a:ext cx="10698480" cy="50292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The FoodLine Solution</a:t>
            </a:r>
            <a:endParaRPr lang="en-US" sz="2400" dirty="0"/>
          </a:p>
        </p:txBody>
      </p:sp>
      <p:sp>
        <p:nvSpPr>
          <p:cNvPr id="6" name="Text 4"/>
          <p:cNvSpPr/>
          <p:nvPr/>
        </p:nvSpPr>
        <p:spPr>
          <a:xfrm>
            <a:off x="731520" y="1280160"/>
            <a:ext cx="10698480" cy="347472"/>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"Turn campus canteens into a 30-second express digital pickup rail."</a:t>
            </a:r>
            <a:endParaRPr lang="en-US" sz="1300" dirty="0"/>
          </a:p>
        </p:txBody>
      </p:sp>
      <p:sp>
        <p:nvSpPr>
          <p:cNvPr id="7" name="Shape 5"/>
          <p:cNvSpPr/>
          <p:nvPr/>
        </p:nvSpPr>
        <p:spPr>
          <a:xfrm>
            <a:off x="731520" y="1737360"/>
            <a:ext cx="6035040" cy="1051560"/>
          </a:xfrm>
          <a:prstGeom prst="roundRect">
            <a:avLst>
              <a:gd name="adj" fmla="val 8696"/>
            </a:avLst>
          </a:prstGeom>
          <a:solidFill>
            <a:srgbClr val="FFFFFF"/>
          </a:solidFill>
          <a:ln w="12700">
            <a:solidFill>
              <a:srgbClr val="E2E8F0"/>
            </a:solidFill>
            <a:prstDash val="solid"/>
          </a:ln>
        </p:spPr>
      </p:sp>
      <p:sp>
        <p:nvSpPr>
          <p:cNvPr id="8" name="Text 6"/>
          <p:cNvSpPr/>
          <p:nvPr/>
        </p:nvSpPr>
        <p:spPr>
          <a:xfrm>
            <a:off x="1005840" y="1874520"/>
            <a:ext cx="5486400" cy="320040"/>
          </a:xfrm>
          <a:prstGeom prst="rect">
            <a:avLst/>
          </a:prstGeom>
          <a:noFill/>
          <a:ln/>
        </p:spPr>
        <p:txBody>
          <a:bodyPr wrap="square" rtlCol="0" anchor="ctr"/>
          <a:lstStyle/>
          <a:p>
            <a:pPr indent="0" marL="0">
              <a:buNone/>
            </a:pPr>
            <a:r>
              <a:rPr lang="en-US" sz="1400" b="1" dirty="0">
                <a:solidFill>
                  <a:srgbClr val="059669"/>
                </a:solidFill>
                <a:latin typeface="Arial" pitchFamily="34" charset="0"/>
                <a:ea typeface="Arial" pitchFamily="34" charset="-122"/>
                <a:cs typeface="Arial" pitchFamily="34" charset="-120"/>
              </a:rPr>
              <a:t>Order From the Desk (Classroom Pre-Ordering)</a:t>
            </a:r>
            <a:endParaRPr lang="en-US" sz="1400" dirty="0"/>
          </a:p>
        </p:txBody>
      </p:sp>
      <p:sp>
        <p:nvSpPr>
          <p:cNvPr id="9" name="Text 7"/>
          <p:cNvSpPr/>
          <p:nvPr/>
        </p:nvSpPr>
        <p:spPr>
          <a:xfrm>
            <a:off x="1005840" y="2212848"/>
            <a:ext cx="5486400" cy="50292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Students browse live canteen menu and pre-order during the final 5 minutes of class. No rushing out the lecture door to beat the queue.</a:t>
            </a:r>
            <a:endParaRPr lang="en-US" sz="1100" dirty="0"/>
          </a:p>
        </p:txBody>
      </p:sp>
      <p:sp>
        <p:nvSpPr>
          <p:cNvPr id="10" name="Shape 8"/>
          <p:cNvSpPr/>
          <p:nvPr/>
        </p:nvSpPr>
        <p:spPr>
          <a:xfrm>
            <a:off x="731520" y="2926080"/>
            <a:ext cx="6035040" cy="1051560"/>
          </a:xfrm>
          <a:prstGeom prst="roundRect">
            <a:avLst>
              <a:gd name="adj" fmla="val 8696"/>
            </a:avLst>
          </a:prstGeom>
          <a:solidFill>
            <a:srgbClr val="FFFFFF"/>
          </a:solidFill>
          <a:ln w="12700">
            <a:solidFill>
              <a:srgbClr val="E2E8F0"/>
            </a:solidFill>
            <a:prstDash val="solid"/>
          </a:ln>
        </p:spPr>
      </p:sp>
      <p:sp>
        <p:nvSpPr>
          <p:cNvPr id="11" name="Text 9"/>
          <p:cNvSpPr/>
          <p:nvPr/>
        </p:nvSpPr>
        <p:spPr>
          <a:xfrm>
            <a:off x="1005840" y="3063240"/>
            <a:ext cx="5486400" cy="320040"/>
          </a:xfrm>
          <a:prstGeom prst="rect">
            <a:avLst/>
          </a:prstGeom>
          <a:noFill/>
          <a:ln/>
        </p:spPr>
        <p:txBody>
          <a:bodyPr wrap="square" rtlCol="0" anchor="ctr"/>
          <a:lstStyle/>
          <a:p>
            <a:pPr indent="0" marL="0">
              <a:buNone/>
            </a:pPr>
            <a:r>
              <a:rPr lang="en-US" sz="1400" b="1" dirty="0">
                <a:solidFill>
                  <a:srgbClr val="059669"/>
                </a:solidFill>
                <a:latin typeface="Arial" pitchFamily="34" charset="0"/>
                <a:ea typeface="Arial" pitchFamily="34" charset="-122"/>
                <a:cs typeface="Arial" pitchFamily="34" charset="-120"/>
              </a:rPr>
              <a:t>100% Pre-Paid Instant UPI (Zero Counter Cashiering)</a:t>
            </a:r>
            <a:endParaRPr lang="en-US" sz="1400" dirty="0"/>
          </a:p>
        </p:txBody>
      </p:sp>
      <p:sp>
        <p:nvSpPr>
          <p:cNvPr id="12" name="Text 10"/>
          <p:cNvSpPr/>
          <p:nvPr/>
        </p:nvSpPr>
        <p:spPr>
          <a:xfrm>
            <a:off x="1005840" y="3401568"/>
            <a:ext cx="5486400" cy="50292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Every rupee is paid upfront with verified 12-digit bank reference (UTR). Zero cash exchanges, zero loose change delays, zero counter confusion.</a:t>
            </a:r>
            <a:endParaRPr lang="en-US" sz="1100" dirty="0"/>
          </a:p>
        </p:txBody>
      </p:sp>
      <p:sp>
        <p:nvSpPr>
          <p:cNvPr id="13" name="Shape 11"/>
          <p:cNvSpPr/>
          <p:nvPr/>
        </p:nvSpPr>
        <p:spPr>
          <a:xfrm>
            <a:off x="731520" y="4114800"/>
            <a:ext cx="6035040" cy="1051560"/>
          </a:xfrm>
          <a:prstGeom prst="roundRect">
            <a:avLst>
              <a:gd name="adj" fmla="val 8696"/>
            </a:avLst>
          </a:prstGeom>
          <a:solidFill>
            <a:srgbClr val="FFFFFF"/>
          </a:solidFill>
          <a:ln w="12700">
            <a:solidFill>
              <a:srgbClr val="E2E8F0"/>
            </a:solidFill>
            <a:prstDash val="solid"/>
          </a:ln>
        </p:spPr>
      </p:sp>
      <p:sp>
        <p:nvSpPr>
          <p:cNvPr id="14" name="Text 12"/>
          <p:cNvSpPr/>
          <p:nvPr/>
        </p:nvSpPr>
        <p:spPr>
          <a:xfrm>
            <a:off x="1005840" y="4251960"/>
            <a:ext cx="5486400" cy="320040"/>
          </a:xfrm>
          <a:prstGeom prst="rect">
            <a:avLst/>
          </a:prstGeom>
          <a:noFill/>
          <a:ln/>
        </p:spPr>
        <p:txBody>
          <a:bodyPr wrap="square" rtlCol="0" anchor="ctr"/>
          <a:lstStyle/>
          <a:p>
            <a:pPr indent="0" marL="0">
              <a:buNone/>
            </a:pPr>
            <a:r>
              <a:rPr lang="en-US" sz="1400" b="1" dirty="0">
                <a:solidFill>
                  <a:srgbClr val="059669"/>
                </a:solidFill>
                <a:latin typeface="Arial" pitchFamily="34" charset="0"/>
                <a:ea typeface="Arial" pitchFamily="34" charset="-122"/>
                <a:cs typeface="Arial" pitchFamily="34" charset="-120"/>
              </a:rPr>
              <a:t>30-Second Express Pickup (Boarding Pass Model)</a:t>
            </a:r>
            <a:endParaRPr lang="en-US" sz="1400" dirty="0"/>
          </a:p>
        </p:txBody>
      </p:sp>
      <p:sp>
        <p:nvSpPr>
          <p:cNvPr id="15" name="Text 13"/>
          <p:cNvSpPr/>
          <p:nvPr/>
        </p:nvSpPr>
        <p:spPr>
          <a:xfrm>
            <a:off x="1005840" y="4590288"/>
            <a:ext cx="5486400" cy="50292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Walk straight to the FoodLine express pickup counter, flash the 4-digit code on phone screen, grab packed meal, and enjoy the break.</a:t>
            </a:r>
            <a:endParaRPr lang="en-US" sz="1100" dirty="0"/>
          </a:p>
        </p:txBody>
      </p:sp>
      <p:sp>
        <p:nvSpPr>
          <p:cNvPr id="16" name="Shape 14"/>
          <p:cNvSpPr/>
          <p:nvPr/>
        </p:nvSpPr>
        <p:spPr>
          <a:xfrm>
            <a:off x="7040880" y="1737360"/>
            <a:ext cx="4389120" cy="4434840"/>
          </a:xfrm>
          <a:prstGeom prst="roundRect">
            <a:avLst>
              <a:gd name="adj" fmla="val 3125"/>
            </a:avLst>
          </a:prstGeom>
          <a:solidFill>
            <a:srgbClr val="FFFFFF"/>
          </a:solidFill>
          <a:ln w="25400">
            <a:solidFill>
              <a:srgbClr val="A7F3D0"/>
            </a:solidFill>
            <a:prstDash val="solid"/>
          </a:ln>
        </p:spPr>
      </p:sp>
      <p:sp>
        <p:nvSpPr>
          <p:cNvPr id="17" name="Shape 15"/>
          <p:cNvSpPr/>
          <p:nvPr/>
        </p:nvSpPr>
        <p:spPr>
          <a:xfrm>
            <a:off x="7315200" y="1965960"/>
            <a:ext cx="3840480" cy="365760"/>
          </a:xfrm>
          <a:prstGeom prst="roundRect">
            <a:avLst>
              <a:gd name="adj" fmla="val 20000"/>
            </a:avLst>
          </a:prstGeom>
          <a:solidFill>
            <a:srgbClr val="ECFDF5"/>
          </a:solidFill>
          <a:ln w="12700">
            <a:solidFill>
              <a:srgbClr val="A7F3D0"/>
            </a:solidFill>
            <a:prstDash val="solid"/>
          </a:ln>
        </p:spPr>
      </p:sp>
      <p:sp>
        <p:nvSpPr>
          <p:cNvPr id="18" name="Text 16"/>
          <p:cNvSpPr/>
          <p:nvPr/>
        </p:nvSpPr>
        <p:spPr>
          <a:xfrm>
            <a:off x="7315200" y="1965960"/>
            <a:ext cx="3840480" cy="365760"/>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DIGITAL PICKUP PASS • READY FOR COLLECTION</a:t>
            </a:r>
            <a:endParaRPr lang="en-US" sz="1000" dirty="0"/>
          </a:p>
        </p:txBody>
      </p:sp>
      <p:sp>
        <p:nvSpPr>
          <p:cNvPr id="19" name="Shape 17"/>
          <p:cNvSpPr/>
          <p:nvPr/>
        </p:nvSpPr>
        <p:spPr>
          <a:xfrm>
            <a:off x="7772400" y="2514600"/>
            <a:ext cx="2926080" cy="1005840"/>
          </a:xfrm>
          <a:prstGeom prst="roundRect">
            <a:avLst>
              <a:gd name="adj" fmla="val 10909"/>
            </a:avLst>
          </a:prstGeom>
          <a:solidFill>
            <a:srgbClr val="ECFDF5"/>
          </a:solidFill>
          <a:ln w="25400">
            <a:solidFill>
              <a:srgbClr val="059669"/>
            </a:solidFill>
            <a:prstDash val="solid"/>
          </a:ln>
        </p:spPr>
      </p:sp>
      <p:sp>
        <p:nvSpPr>
          <p:cNvPr id="20" name="Text 18"/>
          <p:cNvSpPr/>
          <p:nvPr/>
        </p:nvSpPr>
        <p:spPr>
          <a:xfrm>
            <a:off x="7772400" y="2606040"/>
            <a:ext cx="2926080" cy="228600"/>
          </a:xfrm>
          <a:prstGeom prst="rect">
            <a:avLst/>
          </a:prstGeom>
          <a:noFill/>
          <a:ln/>
        </p:spPr>
        <p:txBody>
          <a:bodyPr wrap="square" rtlCol="0" anchor="ctr"/>
          <a:lstStyle/>
          <a:p>
            <a:pPr algn="ctr" indent="0" marL="0">
              <a:buNone/>
            </a:pPr>
            <a:r>
              <a:rPr lang="en-US" sz="1000" b="1" dirty="0">
                <a:solidFill>
                  <a:srgbClr val="64748B"/>
                </a:solidFill>
                <a:latin typeface="Arial" pitchFamily="34" charset="0"/>
                <a:ea typeface="Arial" pitchFamily="34" charset="-122"/>
                <a:cs typeface="Arial" pitchFamily="34" charset="-120"/>
              </a:rPr>
              <a:t>PICKUP CODE</a:t>
            </a:r>
            <a:endParaRPr lang="en-US" sz="1000" dirty="0"/>
          </a:p>
        </p:txBody>
      </p:sp>
      <p:sp>
        <p:nvSpPr>
          <p:cNvPr id="21" name="Text 19"/>
          <p:cNvSpPr/>
          <p:nvPr/>
        </p:nvSpPr>
        <p:spPr>
          <a:xfrm>
            <a:off x="7772400" y="2852928"/>
            <a:ext cx="2926080" cy="548640"/>
          </a:xfrm>
          <a:prstGeom prst="rect">
            <a:avLst/>
          </a:prstGeom>
          <a:noFill/>
          <a:ln/>
        </p:spPr>
        <p:txBody>
          <a:bodyPr wrap="square" rtlCol="0" anchor="ctr"/>
          <a:lstStyle/>
          <a:p>
            <a:pPr algn="ctr" indent="0" marL="0">
              <a:buNone/>
            </a:pPr>
            <a:r>
              <a:rPr lang="en-US" sz="2800" b="1" dirty="0">
                <a:solidFill>
                  <a:srgbClr val="059669"/>
                </a:solidFill>
                <a:latin typeface="Arial" pitchFamily="34" charset="0"/>
                <a:ea typeface="Arial" pitchFamily="34" charset="-122"/>
                <a:cs typeface="Arial" pitchFamily="34" charset="-120"/>
              </a:rPr>
              <a:t>OTP: 4819</a:t>
            </a:r>
            <a:endParaRPr lang="en-US" sz="2800" dirty="0"/>
          </a:p>
        </p:txBody>
      </p:sp>
      <p:sp>
        <p:nvSpPr>
          <p:cNvPr id="22" name="Text 20"/>
          <p:cNvSpPr/>
          <p:nvPr/>
        </p:nvSpPr>
        <p:spPr>
          <a:xfrm>
            <a:off x="7315200" y="3703320"/>
            <a:ext cx="3840480" cy="274320"/>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Order #FL-1042 • Paid via UPI (UTR Confirmed)</a:t>
            </a:r>
            <a:endParaRPr lang="en-US" sz="1100" dirty="0"/>
          </a:p>
        </p:txBody>
      </p:sp>
      <p:sp>
        <p:nvSpPr>
          <p:cNvPr id="23" name="Text 21"/>
          <p:cNvSpPr/>
          <p:nvPr/>
        </p:nvSpPr>
        <p:spPr>
          <a:xfrm>
            <a:off x="7498080" y="4069080"/>
            <a:ext cx="3474720" cy="1097280"/>
          </a:xfrm>
          <a:prstGeom prst="rect">
            <a:avLst/>
          </a:prstGeom>
          <a:noFill/>
          <a:ln/>
        </p:spPr>
        <p:txBody>
          <a:bodyPr wrap="square" rtlCol="0" anchor="ctr"/>
          <a:lstStyle/>
          <a:p>
            <a:pPr indent="0" marL="0">
              <a:lnSpc>
                <a:spcPct val="120000"/>
              </a:lnSpc>
              <a:buNone/>
            </a:pPr>
            <a:r>
              <a:rPr lang="en-US" sz="1100" dirty="0">
                <a:solidFill>
                  <a:srgbClr val="334155"/>
                </a:solidFill>
                <a:latin typeface="Arial" pitchFamily="34" charset="0"/>
                <a:ea typeface="Arial" pitchFamily="34" charset="-122"/>
                <a:cs typeface="Arial" pitchFamily="34" charset="-120"/>
              </a:rPr>
              <a:t>Meal: 2x Bun Maska + 1x Masala Chai</a:t>
            </a:r>
            <a:endParaRPr lang="en-US" sz="1100" dirty="0"/>
          </a:p>
          <a:p>
            <a:pPr indent="0" marL="0">
              <a:lnSpc>
                <a:spcPct val="120000"/>
              </a:lnSpc>
              <a:buNone/>
            </a:pPr>
            <a:r>
              <a:rPr lang="en-US" sz="1100" dirty="0">
                <a:solidFill>
                  <a:srgbClr val="334155"/>
                </a:solidFill>
                <a:latin typeface="Arial" pitchFamily="34" charset="0"/>
                <a:ea typeface="Arial" pitchFamily="34" charset="-122"/>
                <a:cs typeface="Arial" pitchFamily="34" charset="-120"/>
              </a:rPr>
              <a:t>Pickup Slot: 1:15 PM Recess Window</a:t>
            </a:r>
            <a:endParaRPr lang="en-US" sz="1100" dirty="0"/>
          </a:p>
          <a:p>
            <a:pPr indent="0" marL="0">
              <a:lnSpc>
                <a:spcPct val="120000"/>
              </a:lnSpc>
              <a:buNone/>
            </a:pPr>
            <a:r>
              <a:rPr lang="en-US" sz="1100" dirty="0">
                <a:solidFill>
                  <a:srgbClr val="334155"/>
                </a:solidFill>
                <a:latin typeface="Arial" pitchFamily="34" charset="0"/>
                <a:ea typeface="Arial" pitchFamily="34" charset="-122"/>
                <a:cs typeface="Arial" pitchFamily="34" charset="-120"/>
              </a:rPr>
              <a:t>Designated Counter: Express Lane 2</a:t>
            </a:r>
            <a:endParaRPr lang="en-US" sz="1100" dirty="0"/>
          </a:p>
          <a:p>
            <a:pPr indent="0" marL="0">
              <a:lnSpc>
                <a:spcPct val="120000"/>
              </a:lnSpc>
              <a:buNone/>
            </a:pPr>
            <a:r>
              <a:rPr lang="en-US" sz="1100" dirty="0">
                <a:solidFill>
                  <a:srgbClr val="334155"/>
                </a:solidFill>
                <a:latin typeface="Arial" pitchFamily="34" charset="0"/>
                <a:ea typeface="Arial" pitchFamily="34" charset="-122"/>
                <a:cs typeface="Arial" pitchFamily="34" charset="-120"/>
              </a:rPr>
              <a:t>Status: Packed &amp; Steaming Hot in Kitchen</a:t>
            </a:r>
            <a:endParaRPr lang="en-US" sz="1100" dirty="0"/>
          </a:p>
        </p:txBody>
      </p:sp>
      <p:sp>
        <p:nvSpPr>
          <p:cNvPr id="24" name="Shape 22"/>
          <p:cNvSpPr/>
          <p:nvPr/>
        </p:nvSpPr>
        <p:spPr>
          <a:xfrm>
            <a:off x="7498080" y="5394960"/>
            <a:ext cx="3474720" cy="548640"/>
          </a:xfrm>
          <a:prstGeom prst="roundRect">
            <a:avLst>
              <a:gd name="adj" fmla="val 13333"/>
            </a:avLst>
          </a:prstGeom>
          <a:solidFill>
            <a:srgbClr val="059669"/>
          </a:solidFill>
          <a:ln w="12700">
            <a:solidFill>
              <a:srgbClr val="059669"/>
            </a:solidFill>
            <a:prstDash val="solid"/>
          </a:ln>
        </p:spPr>
      </p:sp>
      <p:sp>
        <p:nvSpPr>
          <p:cNvPr id="25" name="Text 23"/>
          <p:cNvSpPr/>
          <p:nvPr/>
        </p:nvSpPr>
        <p:spPr>
          <a:xfrm>
            <a:off x="7498080" y="5394960"/>
            <a:ext cx="34747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Flash Code at Counter 2 (30-Sec Pickup)</a:t>
            </a:r>
            <a:endParaRPr lang="en-US" sz="1200" dirty="0"/>
          </a:p>
        </p:txBody>
      </p:sp>
      <p:sp>
        <p:nvSpPr>
          <p:cNvPr id="26" name="Shape 24"/>
          <p:cNvSpPr/>
          <p:nvPr/>
        </p:nvSpPr>
        <p:spPr>
          <a:xfrm>
            <a:off x="731520" y="5394960"/>
            <a:ext cx="6035040" cy="777240"/>
          </a:xfrm>
          <a:prstGeom prst="roundRect">
            <a:avLst>
              <a:gd name="adj" fmla="val 11765"/>
            </a:avLst>
          </a:prstGeom>
          <a:solidFill>
            <a:srgbClr val="EFF6FF"/>
          </a:solidFill>
          <a:ln w="12700">
            <a:solidFill>
              <a:srgbClr val="BFDBFE"/>
            </a:solidFill>
            <a:prstDash val="solid"/>
          </a:ln>
        </p:spPr>
      </p:sp>
      <p:sp>
        <p:nvSpPr>
          <p:cNvPr id="27" name="Text 25"/>
          <p:cNvSpPr/>
          <p:nvPr/>
        </p:nvSpPr>
        <p:spPr>
          <a:xfrm>
            <a:off x="914400" y="5486400"/>
            <a:ext cx="5669280" cy="59436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THE AIRPORT ANALOGY: "FoodLine is like a digital boarding pass for your lunch. You pre-book, arrive at the gate, show your pass, and board without waiting in line."</a:t>
            </a:r>
            <a:endParaRPr lang="en-US" sz="1100" dirty="0"/>
          </a:p>
        </p:txBody>
      </p:sp>
      <p:sp>
        <p:nvSpPr>
          <p:cNvPr id="28" name="Text 26"/>
          <p:cNvSpPr/>
          <p:nvPr/>
        </p:nvSpPr>
        <p:spPr>
          <a:xfrm>
            <a:off x="731520" y="6446520"/>
            <a:ext cx="5486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FoodLine Campus • Master Pitch Deck 2026</a:t>
            </a:r>
            <a:endParaRPr lang="en-US" sz="900" dirty="0"/>
          </a:p>
        </p:txBody>
      </p:sp>
      <p:sp>
        <p:nvSpPr>
          <p:cNvPr id="29" name="Text 27"/>
          <p:cNvSpPr/>
          <p:nvPr/>
        </p:nvSpPr>
        <p:spPr>
          <a:xfrm>
            <a:off x="9144000" y="64465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926080" cy="292608"/>
          </a:xfrm>
          <a:prstGeom prst="roundRect">
            <a:avLst>
              <a:gd name="adj" fmla="val 25000"/>
            </a:avLst>
          </a:prstGeom>
          <a:solidFill>
            <a:srgbClr val="ECFDF5"/>
          </a:solidFill>
          <a:ln w="12700">
            <a:solidFill>
              <a:srgbClr val="A7F3D0"/>
            </a:solidFill>
            <a:prstDash val="solid"/>
          </a:ln>
        </p:spPr>
      </p:sp>
      <p:sp>
        <p:nvSpPr>
          <p:cNvPr id="3" name="Text 1"/>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FRICTIONLESS FLOW</a:t>
            </a:r>
            <a:endParaRPr lang="en-US" sz="1000" dirty="0"/>
          </a:p>
        </p:txBody>
      </p:sp>
      <p:sp>
        <p:nvSpPr>
          <p:cNvPr id="4" name="Text 2"/>
          <p:cNvSpPr/>
          <p:nvPr/>
        </p:nvSpPr>
        <p:spPr>
          <a:xfrm>
            <a:off x="9144000" y="411480"/>
            <a:ext cx="2286000" cy="292608"/>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FOODLINE CAMPUS</a:t>
            </a:r>
            <a:endParaRPr lang="en-US" sz="1000" dirty="0"/>
          </a:p>
        </p:txBody>
      </p:sp>
      <p:sp>
        <p:nvSpPr>
          <p:cNvPr id="5" name="Text 3"/>
          <p:cNvSpPr/>
          <p:nvPr/>
        </p:nvSpPr>
        <p:spPr>
          <a:xfrm>
            <a:off x="731520" y="777240"/>
            <a:ext cx="10698480" cy="50292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3 Simple Steps: From Pocket to Plate</a:t>
            </a:r>
            <a:endParaRPr lang="en-US" sz="2400" dirty="0"/>
          </a:p>
        </p:txBody>
      </p:sp>
      <p:sp>
        <p:nvSpPr>
          <p:cNvPr id="6" name="Text 4"/>
          <p:cNvSpPr/>
          <p:nvPr/>
        </p:nvSpPr>
        <p:spPr>
          <a:xfrm>
            <a:off x="731520" y="1280160"/>
            <a:ext cx="10698480" cy="347472"/>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"As easy and natural as sending a WhatsApp message."</a:t>
            </a:r>
            <a:endParaRPr lang="en-US" sz="1300" dirty="0"/>
          </a:p>
        </p:txBody>
      </p:sp>
      <p:sp>
        <p:nvSpPr>
          <p:cNvPr id="7" name="Shape 5"/>
          <p:cNvSpPr/>
          <p:nvPr/>
        </p:nvSpPr>
        <p:spPr>
          <a:xfrm>
            <a:off x="731520" y="1737360"/>
            <a:ext cx="3383280" cy="3657600"/>
          </a:xfrm>
          <a:prstGeom prst="roundRect">
            <a:avLst>
              <a:gd name="adj" fmla="val 3243"/>
            </a:avLst>
          </a:prstGeom>
          <a:solidFill>
            <a:srgbClr val="FFFFFF"/>
          </a:solidFill>
          <a:ln w="19050">
            <a:solidFill>
              <a:srgbClr val="A7F3D0"/>
            </a:solidFill>
            <a:prstDash val="solid"/>
          </a:ln>
        </p:spPr>
      </p:sp>
      <p:sp>
        <p:nvSpPr>
          <p:cNvPr id="8" name="Shape 6"/>
          <p:cNvSpPr/>
          <p:nvPr/>
        </p:nvSpPr>
        <p:spPr>
          <a:xfrm>
            <a:off x="1005840" y="1920240"/>
            <a:ext cx="1280160" cy="292608"/>
          </a:xfrm>
          <a:prstGeom prst="roundRect">
            <a:avLst>
              <a:gd name="adj" fmla="val 25000"/>
            </a:avLst>
          </a:prstGeom>
          <a:solidFill>
            <a:srgbClr val="ECFDF5"/>
          </a:solidFill>
          <a:ln w="12700">
            <a:solidFill>
              <a:srgbClr val="A7F3D0"/>
            </a:solidFill>
            <a:prstDash val="solid"/>
          </a:ln>
        </p:spPr>
      </p:sp>
      <p:sp>
        <p:nvSpPr>
          <p:cNvPr id="9" name="Text 7"/>
          <p:cNvSpPr/>
          <p:nvPr/>
        </p:nvSpPr>
        <p:spPr>
          <a:xfrm>
            <a:off x="1005840" y="1920240"/>
            <a:ext cx="128016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STEP 01</a:t>
            </a:r>
            <a:endParaRPr lang="en-US" sz="1000" dirty="0"/>
          </a:p>
        </p:txBody>
      </p:sp>
      <p:sp>
        <p:nvSpPr>
          <p:cNvPr id="10" name="Text 8"/>
          <p:cNvSpPr/>
          <p:nvPr/>
        </p:nvSpPr>
        <p:spPr>
          <a:xfrm>
            <a:off x="2377440" y="1920240"/>
            <a:ext cx="1463040" cy="292608"/>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In Classroom / Hostel</a:t>
            </a:r>
            <a:endParaRPr lang="en-US" sz="900" dirty="0"/>
          </a:p>
        </p:txBody>
      </p:sp>
      <p:sp>
        <p:nvSpPr>
          <p:cNvPr id="11" name="Text 9"/>
          <p:cNvSpPr/>
          <p:nvPr/>
        </p:nvSpPr>
        <p:spPr>
          <a:xfrm>
            <a:off x="1005840" y="2331720"/>
            <a:ext cx="2834640"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TAP &amp; ORDER</a:t>
            </a:r>
            <a:endParaRPr lang="en-US" sz="1800" dirty="0"/>
          </a:p>
        </p:txBody>
      </p:sp>
      <p:sp>
        <p:nvSpPr>
          <p:cNvPr id="12" name="Text 10"/>
          <p:cNvSpPr/>
          <p:nvPr/>
        </p:nvSpPr>
        <p:spPr>
          <a:xfrm>
            <a:off x="1005840" y="2834640"/>
            <a:ext cx="2834640" cy="2377440"/>
          </a:xfrm>
          <a:prstGeom prst="rect">
            <a:avLst/>
          </a:prstGeom>
          <a:noFill/>
          <a:ln/>
        </p:spPr>
        <p:txBody>
          <a:bodyPr wrap="square" rtlCol="0" anchor="ctr"/>
          <a:lstStyle/>
          <a:p>
            <a:pPr indent="0" marL="0">
              <a:lnSpc>
                <a:spcPct val="115000"/>
              </a:lnSpc>
              <a:buNone/>
            </a:pPr>
            <a:r>
              <a:rPr lang="en-US" sz="1100" dirty="0">
                <a:solidFill>
                  <a:srgbClr val="334155"/>
                </a:solidFill>
                <a:latin typeface="Arial" pitchFamily="34" charset="0"/>
                <a:ea typeface="Arial" pitchFamily="34" charset="-122"/>
                <a:cs typeface="Arial" pitchFamily="34" charset="-120"/>
              </a:rPr>
              <a:t>• Student opens FoodLine on phone browser or Android app.</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Browses live canteen menu (Sandwiches, Dabeli, Misal, Chai).</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Selects their specific break time slot (e.g., 1:15 PM).</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Pre-pays with one tap via UPI (GPay, PhonePe, Paytm).</a:t>
            </a:r>
            <a:endParaRPr lang="en-US" sz="1100" dirty="0"/>
          </a:p>
        </p:txBody>
      </p:sp>
      <p:sp>
        <p:nvSpPr>
          <p:cNvPr id="13" name="Shape 11"/>
          <p:cNvSpPr/>
          <p:nvPr/>
        </p:nvSpPr>
        <p:spPr>
          <a:xfrm>
            <a:off x="4389120" y="1737360"/>
            <a:ext cx="3383280" cy="3657600"/>
          </a:xfrm>
          <a:prstGeom prst="roundRect">
            <a:avLst>
              <a:gd name="adj" fmla="val 3243"/>
            </a:avLst>
          </a:prstGeom>
          <a:solidFill>
            <a:srgbClr val="FFFFFF"/>
          </a:solidFill>
          <a:ln w="19050">
            <a:solidFill>
              <a:srgbClr val="BFDBFE"/>
            </a:solidFill>
            <a:prstDash val="solid"/>
          </a:ln>
        </p:spPr>
      </p:sp>
      <p:sp>
        <p:nvSpPr>
          <p:cNvPr id="14" name="Shape 12"/>
          <p:cNvSpPr/>
          <p:nvPr/>
        </p:nvSpPr>
        <p:spPr>
          <a:xfrm>
            <a:off x="4663440" y="1920240"/>
            <a:ext cx="1280160" cy="292608"/>
          </a:xfrm>
          <a:prstGeom prst="roundRect">
            <a:avLst>
              <a:gd name="adj" fmla="val 25000"/>
            </a:avLst>
          </a:prstGeom>
          <a:solidFill>
            <a:srgbClr val="EFF6FF"/>
          </a:solidFill>
          <a:ln w="12700">
            <a:solidFill>
              <a:srgbClr val="BFDBFE"/>
            </a:solidFill>
            <a:prstDash val="solid"/>
          </a:ln>
        </p:spPr>
      </p:sp>
      <p:sp>
        <p:nvSpPr>
          <p:cNvPr id="15" name="Text 13"/>
          <p:cNvSpPr/>
          <p:nvPr/>
        </p:nvSpPr>
        <p:spPr>
          <a:xfrm>
            <a:off x="4663440" y="1920240"/>
            <a:ext cx="1280160" cy="292608"/>
          </a:xfrm>
          <a:prstGeom prst="rect">
            <a:avLst/>
          </a:prstGeom>
          <a:noFill/>
          <a:ln/>
        </p:spPr>
        <p:txBody>
          <a:bodyPr wrap="square" rtlCol="0" anchor="ctr"/>
          <a:lstStyle/>
          <a:p>
            <a:pPr algn="ctr" indent="0" marL="0">
              <a:buNone/>
            </a:pPr>
            <a:r>
              <a:rPr lang="en-US" sz="1000" b="1" dirty="0">
                <a:solidFill>
                  <a:srgbClr val="2563EB"/>
                </a:solidFill>
                <a:latin typeface="Arial" pitchFamily="34" charset="0"/>
                <a:ea typeface="Arial" pitchFamily="34" charset="-122"/>
                <a:cs typeface="Arial" pitchFamily="34" charset="-120"/>
              </a:rPr>
              <a:t>STEP 02</a:t>
            </a:r>
            <a:endParaRPr lang="en-US" sz="1000" dirty="0"/>
          </a:p>
        </p:txBody>
      </p:sp>
      <p:sp>
        <p:nvSpPr>
          <p:cNvPr id="16" name="Text 14"/>
          <p:cNvSpPr/>
          <p:nvPr/>
        </p:nvSpPr>
        <p:spPr>
          <a:xfrm>
            <a:off x="6035040" y="1920240"/>
            <a:ext cx="1463040" cy="292608"/>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Inside Canteen Kitchen</a:t>
            </a:r>
            <a:endParaRPr lang="en-US" sz="900" dirty="0"/>
          </a:p>
        </p:txBody>
      </p:sp>
      <p:sp>
        <p:nvSpPr>
          <p:cNvPr id="17" name="Text 15"/>
          <p:cNvSpPr/>
          <p:nvPr/>
        </p:nvSpPr>
        <p:spPr>
          <a:xfrm>
            <a:off x="4663440" y="2331720"/>
            <a:ext cx="2834640"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COOK &amp; PACK</a:t>
            </a:r>
            <a:endParaRPr lang="en-US" sz="1800" dirty="0"/>
          </a:p>
        </p:txBody>
      </p:sp>
      <p:sp>
        <p:nvSpPr>
          <p:cNvPr id="18" name="Text 16"/>
          <p:cNvSpPr/>
          <p:nvPr/>
        </p:nvSpPr>
        <p:spPr>
          <a:xfrm>
            <a:off x="4663440" y="2834640"/>
            <a:ext cx="2834640" cy="2377440"/>
          </a:xfrm>
          <a:prstGeom prst="rect">
            <a:avLst/>
          </a:prstGeom>
          <a:noFill/>
          <a:ln/>
        </p:spPr>
        <p:txBody>
          <a:bodyPr wrap="square" rtlCol="0" anchor="ctr"/>
          <a:lstStyle/>
          <a:p>
            <a:pPr indent="0" marL="0">
              <a:lnSpc>
                <a:spcPct val="115000"/>
              </a:lnSpc>
              <a:buNone/>
            </a:pPr>
            <a:r>
              <a:rPr lang="en-US" sz="1100" dirty="0">
                <a:solidFill>
                  <a:srgbClr val="334155"/>
                </a:solidFill>
                <a:latin typeface="Arial" pitchFamily="34" charset="0"/>
                <a:ea typeface="Arial" pitchFamily="34" charset="-122"/>
                <a:cs typeface="Arial" pitchFamily="34" charset="-120"/>
              </a:rPr>
              <a:t>• Kitchen tablet screen receives clear, color-coded ticket.</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Cook prepares and packs food 5-10 minutes ahead of rush.</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Cook taps "READY" button on the kitchen display tablet.</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Student gets automated instant alert: "Meal ready at Counter 2!"</a:t>
            </a:r>
            <a:endParaRPr lang="en-US" sz="1100" dirty="0"/>
          </a:p>
        </p:txBody>
      </p:sp>
      <p:sp>
        <p:nvSpPr>
          <p:cNvPr id="19" name="Shape 17"/>
          <p:cNvSpPr/>
          <p:nvPr/>
        </p:nvSpPr>
        <p:spPr>
          <a:xfrm>
            <a:off x="8046720" y="1737360"/>
            <a:ext cx="3383280" cy="3657600"/>
          </a:xfrm>
          <a:prstGeom prst="roundRect">
            <a:avLst>
              <a:gd name="adj" fmla="val 3243"/>
            </a:avLst>
          </a:prstGeom>
          <a:solidFill>
            <a:srgbClr val="FFFFFF"/>
          </a:solidFill>
          <a:ln w="19050">
            <a:solidFill>
              <a:srgbClr val="FDE68A"/>
            </a:solidFill>
            <a:prstDash val="solid"/>
          </a:ln>
        </p:spPr>
      </p:sp>
      <p:sp>
        <p:nvSpPr>
          <p:cNvPr id="20" name="Shape 18"/>
          <p:cNvSpPr/>
          <p:nvPr/>
        </p:nvSpPr>
        <p:spPr>
          <a:xfrm>
            <a:off x="8321040" y="1920240"/>
            <a:ext cx="1280160" cy="292608"/>
          </a:xfrm>
          <a:prstGeom prst="roundRect">
            <a:avLst>
              <a:gd name="adj" fmla="val 25000"/>
            </a:avLst>
          </a:prstGeom>
          <a:solidFill>
            <a:srgbClr val="FFFBEB"/>
          </a:solidFill>
          <a:ln w="12700">
            <a:solidFill>
              <a:srgbClr val="FDE68A"/>
            </a:solidFill>
            <a:prstDash val="solid"/>
          </a:ln>
        </p:spPr>
      </p:sp>
      <p:sp>
        <p:nvSpPr>
          <p:cNvPr id="21" name="Text 19"/>
          <p:cNvSpPr/>
          <p:nvPr/>
        </p:nvSpPr>
        <p:spPr>
          <a:xfrm>
            <a:off x="8321040" y="1920240"/>
            <a:ext cx="1280160" cy="292608"/>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STEP 03</a:t>
            </a:r>
            <a:endParaRPr lang="en-US" sz="1000" dirty="0"/>
          </a:p>
        </p:txBody>
      </p:sp>
      <p:sp>
        <p:nvSpPr>
          <p:cNvPr id="22" name="Text 20"/>
          <p:cNvSpPr/>
          <p:nvPr/>
        </p:nvSpPr>
        <p:spPr>
          <a:xfrm>
            <a:off x="9692640" y="1920240"/>
            <a:ext cx="1463040" cy="292608"/>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At Express Pickup Counter</a:t>
            </a:r>
            <a:endParaRPr lang="en-US" sz="900" dirty="0"/>
          </a:p>
        </p:txBody>
      </p:sp>
      <p:sp>
        <p:nvSpPr>
          <p:cNvPr id="23" name="Text 21"/>
          <p:cNvSpPr/>
          <p:nvPr/>
        </p:nvSpPr>
        <p:spPr>
          <a:xfrm>
            <a:off x="8321040" y="2331720"/>
            <a:ext cx="2834640"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FLASH &amp; GRAB</a:t>
            </a:r>
            <a:endParaRPr lang="en-US" sz="1800" dirty="0"/>
          </a:p>
        </p:txBody>
      </p:sp>
      <p:sp>
        <p:nvSpPr>
          <p:cNvPr id="24" name="Text 22"/>
          <p:cNvSpPr/>
          <p:nvPr/>
        </p:nvSpPr>
        <p:spPr>
          <a:xfrm>
            <a:off x="8321040" y="2834640"/>
            <a:ext cx="2834640" cy="2377440"/>
          </a:xfrm>
          <a:prstGeom prst="rect">
            <a:avLst/>
          </a:prstGeom>
          <a:noFill/>
          <a:ln/>
        </p:spPr>
        <p:txBody>
          <a:bodyPr wrap="square" rtlCol="0" anchor="ctr"/>
          <a:lstStyle/>
          <a:p>
            <a:pPr indent="0" marL="0">
              <a:lnSpc>
                <a:spcPct val="115000"/>
              </a:lnSpc>
              <a:buNone/>
            </a:pPr>
            <a:r>
              <a:rPr lang="en-US" sz="1100" dirty="0">
                <a:solidFill>
                  <a:srgbClr val="334155"/>
                </a:solidFill>
                <a:latin typeface="Arial" pitchFamily="34" charset="0"/>
                <a:ea typeface="Arial" pitchFamily="34" charset="-122"/>
                <a:cs typeface="Arial" pitchFamily="34" charset="-120"/>
              </a:rPr>
              <a:t>• Student walks straight to dedicated FoodLine express counter.</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Shows 4-digit OTP or digital QR code on phone.</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Staff hands over hot, packed meal in under 30 seconds.</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Zero lines, zero waiting, zero friction. Food enjoyed on time!</a:t>
            </a:r>
            <a:endParaRPr lang="en-US" sz="1100" dirty="0"/>
          </a:p>
        </p:txBody>
      </p:sp>
      <p:sp>
        <p:nvSpPr>
          <p:cNvPr id="25" name="Shape 23"/>
          <p:cNvSpPr/>
          <p:nvPr/>
        </p:nvSpPr>
        <p:spPr>
          <a:xfrm>
            <a:off x="731520" y="5532120"/>
            <a:ext cx="10698480" cy="731520"/>
          </a:xfrm>
          <a:prstGeom prst="roundRect">
            <a:avLst>
              <a:gd name="adj" fmla="val 12500"/>
            </a:avLst>
          </a:prstGeom>
          <a:solidFill>
            <a:srgbClr val="FFFFFF"/>
          </a:solidFill>
          <a:ln w="12700">
            <a:solidFill>
              <a:srgbClr val="E2E8F0"/>
            </a:solidFill>
            <a:prstDash val="solid"/>
          </a:ln>
        </p:spPr>
      </p:sp>
      <p:sp>
        <p:nvSpPr>
          <p:cNvPr id="26" name="Text 24"/>
          <p:cNvSpPr/>
          <p:nvPr/>
        </p:nvSpPr>
        <p:spPr>
          <a:xfrm>
            <a:off x="1005840" y="5623560"/>
            <a:ext cx="3200400" cy="228600"/>
          </a:xfrm>
          <a:prstGeom prst="rect">
            <a:avLst/>
          </a:prstGeom>
          <a:noFill/>
          <a:ln/>
        </p:spPr>
        <p:txBody>
          <a:bodyPr wrap="square" rtlCol="0" anchor="ctr"/>
          <a:lstStyle/>
          <a:p>
            <a:pPr indent="0" marL="0">
              <a:buNone/>
            </a:pPr>
            <a:r>
              <a:rPr lang="en-US" sz="1000" b="1" dirty="0">
                <a:solidFill>
                  <a:srgbClr val="059669"/>
                </a:solidFill>
                <a:latin typeface="Arial" pitchFamily="34" charset="0"/>
                <a:ea typeface="Arial" pitchFamily="34" charset="-122"/>
                <a:cs typeface="Arial" pitchFamily="34" charset="-120"/>
              </a:rPr>
              <a:t>TOTAL TURNAROUND COMPARISON:</a:t>
            </a:r>
            <a:endParaRPr lang="en-US" sz="1000" dirty="0"/>
          </a:p>
        </p:txBody>
      </p:sp>
      <p:sp>
        <p:nvSpPr>
          <p:cNvPr id="27" name="Text 25"/>
          <p:cNvSpPr/>
          <p:nvPr/>
        </p:nvSpPr>
        <p:spPr>
          <a:xfrm>
            <a:off x="1005840" y="5852160"/>
            <a:ext cx="1014984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Traditional Manual Counter: 18+ Minutes in Chaos  ➔  FoodLine Campus Rail: 30 Seconds Express Pickup</a:t>
            </a:r>
            <a:endParaRPr lang="en-US" sz="1300" dirty="0"/>
          </a:p>
        </p:txBody>
      </p:sp>
      <p:sp>
        <p:nvSpPr>
          <p:cNvPr id="28" name="Text 26"/>
          <p:cNvSpPr/>
          <p:nvPr/>
        </p:nvSpPr>
        <p:spPr>
          <a:xfrm>
            <a:off x="731520" y="6446520"/>
            <a:ext cx="5486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FoodLine Campus • Master Pitch Deck 2026</a:t>
            </a:r>
            <a:endParaRPr lang="en-US" sz="900" dirty="0"/>
          </a:p>
        </p:txBody>
      </p:sp>
      <p:sp>
        <p:nvSpPr>
          <p:cNvPr id="29" name="Text 27"/>
          <p:cNvSpPr/>
          <p:nvPr/>
        </p:nvSpPr>
        <p:spPr>
          <a:xfrm>
            <a:off x="9144000" y="64465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926080" cy="292608"/>
          </a:xfrm>
          <a:prstGeom prst="roundRect">
            <a:avLst>
              <a:gd name="adj" fmla="val 25000"/>
            </a:avLst>
          </a:prstGeom>
          <a:solidFill>
            <a:srgbClr val="ECFDF5"/>
          </a:solidFill>
          <a:ln w="12700">
            <a:solidFill>
              <a:srgbClr val="A7F3D0"/>
            </a:solidFill>
            <a:prstDash val="solid"/>
          </a:ln>
        </p:spPr>
      </p:sp>
      <p:sp>
        <p:nvSpPr>
          <p:cNvPr id="3" name="Text 1"/>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KITCHEN CAPACITY MANAGEMENT</a:t>
            </a:r>
            <a:endParaRPr lang="en-US" sz="1000" dirty="0"/>
          </a:p>
        </p:txBody>
      </p:sp>
      <p:sp>
        <p:nvSpPr>
          <p:cNvPr id="4" name="Text 2"/>
          <p:cNvSpPr/>
          <p:nvPr/>
        </p:nvSpPr>
        <p:spPr>
          <a:xfrm>
            <a:off x="9144000" y="411480"/>
            <a:ext cx="2286000" cy="292608"/>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FOODLINE CAMPUS</a:t>
            </a:r>
            <a:endParaRPr lang="en-US" sz="1000" dirty="0"/>
          </a:p>
        </p:txBody>
      </p:sp>
      <p:sp>
        <p:nvSpPr>
          <p:cNvPr id="5" name="Text 3"/>
          <p:cNvSpPr/>
          <p:nvPr/>
        </p:nvSpPr>
        <p:spPr>
          <a:xfrm>
            <a:off x="731520" y="777240"/>
            <a:ext cx="10698480" cy="50292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Peace in the Kitchen: Smart Slot Throttling</a:t>
            </a:r>
            <a:endParaRPr lang="en-US" sz="2400" dirty="0"/>
          </a:p>
        </p:txBody>
      </p:sp>
      <p:sp>
        <p:nvSpPr>
          <p:cNvPr id="6" name="Text 4"/>
          <p:cNvSpPr/>
          <p:nvPr/>
        </p:nvSpPr>
        <p:spPr>
          <a:xfrm>
            <a:off x="731520" y="1280160"/>
            <a:ext cx="10698480" cy="347472"/>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"Never get overwhelmed by 200 orders shouting at your counter all at once."</a:t>
            </a:r>
            <a:endParaRPr lang="en-US" sz="1300" dirty="0"/>
          </a:p>
        </p:txBody>
      </p:sp>
      <p:sp>
        <p:nvSpPr>
          <p:cNvPr id="7" name="Shape 5"/>
          <p:cNvSpPr/>
          <p:nvPr/>
        </p:nvSpPr>
        <p:spPr>
          <a:xfrm>
            <a:off x="731520" y="1737360"/>
            <a:ext cx="5212080" cy="3474720"/>
          </a:xfrm>
          <a:prstGeom prst="roundRect">
            <a:avLst>
              <a:gd name="adj" fmla="val 3158"/>
            </a:avLst>
          </a:prstGeom>
          <a:solidFill>
            <a:srgbClr val="FEF2F2"/>
          </a:solidFill>
          <a:ln w="19050">
            <a:solidFill>
              <a:srgbClr val="FECACA"/>
            </a:solidFill>
            <a:prstDash val="solid"/>
          </a:ln>
        </p:spPr>
      </p:sp>
      <p:sp>
        <p:nvSpPr>
          <p:cNvPr id="8" name="Shape 6"/>
          <p:cNvSpPr/>
          <p:nvPr/>
        </p:nvSpPr>
        <p:spPr>
          <a:xfrm>
            <a:off x="1005840" y="1920240"/>
            <a:ext cx="2926080" cy="292608"/>
          </a:xfrm>
          <a:prstGeom prst="roundRect">
            <a:avLst>
              <a:gd name="adj" fmla="val 25000"/>
            </a:avLst>
          </a:prstGeom>
          <a:solidFill>
            <a:srgbClr val="FFFFFF"/>
          </a:solidFill>
          <a:ln w="12700">
            <a:solidFill>
              <a:srgbClr val="FECACA"/>
            </a:solidFill>
            <a:prstDash val="solid"/>
          </a:ln>
        </p:spPr>
      </p:sp>
      <p:sp>
        <p:nvSpPr>
          <p:cNvPr id="9" name="Text 7"/>
          <p:cNvSpPr/>
          <p:nvPr/>
        </p:nvSpPr>
        <p:spPr>
          <a:xfrm>
            <a:off x="1005840" y="1920240"/>
            <a:ext cx="2926080" cy="292608"/>
          </a:xfrm>
          <a:prstGeom prst="rect">
            <a:avLst/>
          </a:prstGeom>
          <a:noFill/>
          <a:ln/>
        </p:spPr>
        <p:txBody>
          <a:bodyPr wrap="square" rtlCol="0" anchor="ctr"/>
          <a:lstStyle/>
          <a:p>
            <a:pPr algn="ctr" indent="0" marL="0">
              <a:buNone/>
            </a:pPr>
            <a:r>
              <a:rPr lang="en-US" sz="1000" b="1" dirty="0">
                <a:solidFill>
                  <a:srgbClr val="DC2626"/>
                </a:solidFill>
                <a:latin typeface="Arial" pitchFamily="34" charset="0"/>
                <a:ea typeface="Arial" pitchFamily="34" charset="-122"/>
                <a:cs typeface="Arial" pitchFamily="34" charset="-120"/>
              </a:rPr>
              <a:t>UNCONTROLLED COUNTER RUSH</a:t>
            </a:r>
            <a:endParaRPr lang="en-US" sz="1000" dirty="0"/>
          </a:p>
        </p:txBody>
      </p:sp>
      <p:sp>
        <p:nvSpPr>
          <p:cNvPr id="10" name="Text 8"/>
          <p:cNvSpPr/>
          <p:nvPr/>
        </p:nvSpPr>
        <p:spPr>
          <a:xfrm>
            <a:off x="1005840" y="2377440"/>
            <a:ext cx="4663440" cy="2651760"/>
          </a:xfrm>
          <a:prstGeom prst="rect">
            <a:avLst/>
          </a:prstGeom>
          <a:noFill/>
          <a:ln/>
        </p:spPr>
        <p:txBody>
          <a:bodyPr wrap="square" rtlCol="0" anchor="ctr"/>
          <a:lstStyle/>
          <a:p>
            <a:pPr indent="0" marL="0">
              <a:lnSpc>
                <a:spcPct val="120000"/>
              </a:lnSpc>
              <a:buNone/>
            </a:pPr>
            <a:r>
              <a:rPr lang="en-US" sz="1200" dirty="0">
                <a:solidFill>
                  <a:srgbClr val="0F172A"/>
                </a:solidFill>
                <a:latin typeface="Arial" pitchFamily="34" charset="0"/>
                <a:ea typeface="Arial" pitchFamily="34" charset="-122"/>
                <a:cs typeface="Arial" pitchFamily="34" charset="-120"/>
              </a:rPr>
              <a:t>• 100+ students push and scream at 1:05 PM at the exact same minute.</a:t>
            </a:r>
            <a:endParaRPr lang="en-US" sz="1200" dirty="0"/>
          </a:p>
          <a:p>
            <a:pPr indent="0" marL="0">
              <a:lnSpc>
                <a:spcPct val="120000"/>
              </a:lnSpc>
              <a:buNone/>
            </a:pPr>
            <a:endParaRPr lang="en-US" sz="1200" dirty="0"/>
          </a:p>
          <a:p>
            <a:pPr indent="0" marL="0">
              <a:lnSpc>
                <a:spcPct val="120000"/>
              </a:lnSpc>
              <a:buNone/>
            </a:pPr>
            <a:r>
              <a:rPr lang="en-US" sz="1200" dirty="0">
                <a:solidFill>
                  <a:srgbClr val="0F172A"/>
                </a:solidFill>
                <a:latin typeface="Arial" pitchFamily="34" charset="0"/>
                <a:ea typeface="Arial" pitchFamily="34" charset="-122"/>
                <a:cs typeface="Arial" pitchFamily="34" charset="-120"/>
              </a:rPr>
              <a:t>• Grill and sandwich toasters hit bottleneck; wait times balloon to 25+ minutes.</a:t>
            </a:r>
            <a:endParaRPr lang="en-US" sz="1200" dirty="0"/>
          </a:p>
          <a:p>
            <a:pPr indent="0" marL="0">
              <a:lnSpc>
                <a:spcPct val="120000"/>
              </a:lnSpc>
              <a:buNone/>
            </a:pPr>
            <a:endParaRPr lang="en-US" sz="1200" dirty="0"/>
          </a:p>
          <a:p>
            <a:pPr indent="0" marL="0">
              <a:lnSpc>
                <a:spcPct val="120000"/>
              </a:lnSpc>
              <a:buNone/>
            </a:pPr>
            <a:r>
              <a:rPr lang="en-US" sz="1200" dirty="0">
                <a:solidFill>
                  <a:srgbClr val="0F172A"/>
                </a:solidFill>
                <a:latin typeface="Arial" pitchFamily="34" charset="0"/>
                <a:ea typeface="Arial" pitchFamily="34" charset="-122"/>
                <a:cs typeface="Arial" pitchFamily="34" charset="-120"/>
              </a:rPr>
              <a:t>• Kitchen helpers panic, items burn, orders get mixed up, customer disputes flare.</a:t>
            </a:r>
            <a:endParaRPr lang="en-US" sz="1200" dirty="0"/>
          </a:p>
          <a:p>
            <a:pPr indent="0" marL="0">
              <a:lnSpc>
                <a:spcPct val="120000"/>
              </a:lnSpc>
              <a:buNone/>
            </a:pPr>
            <a:endParaRPr lang="en-US" sz="1200" dirty="0"/>
          </a:p>
          <a:p>
            <a:pPr indent="0" marL="0">
              <a:lnSpc>
                <a:spcPct val="120000"/>
              </a:lnSpc>
              <a:buNone/>
            </a:pPr>
            <a:r>
              <a:rPr lang="en-US" sz="1200" dirty="0">
                <a:solidFill>
                  <a:srgbClr val="0F172A"/>
                </a:solidFill>
                <a:latin typeface="Arial" pitchFamily="34" charset="0"/>
                <a:ea typeface="Arial" pitchFamily="34" charset="-122"/>
                <a:cs typeface="Arial" pitchFamily="34" charset="-120"/>
              </a:rPr>
              <a:t>• Leftover over-preparation leads to food spoilage and wasted inventory expenses.</a:t>
            </a:r>
            <a:endParaRPr lang="en-US" sz="1200" dirty="0"/>
          </a:p>
        </p:txBody>
      </p:sp>
      <p:sp>
        <p:nvSpPr>
          <p:cNvPr id="11" name="Shape 9"/>
          <p:cNvSpPr/>
          <p:nvPr/>
        </p:nvSpPr>
        <p:spPr>
          <a:xfrm>
            <a:off x="6217920" y="1737360"/>
            <a:ext cx="5212080" cy="3474720"/>
          </a:xfrm>
          <a:prstGeom prst="roundRect">
            <a:avLst>
              <a:gd name="adj" fmla="val 3158"/>
            </a:avLst>
          </a:prstGeom>
          <a:solidFill>
            <a:srgbClr val="ECFDF5"/>
          </a:solidFill>
          <a:ln w="19050">
            <a:solidFill>
              <a:srgbClr val="A7F3D0"/>
            </a:solidFill>
            <a:prstDash val="solid"/>
          </a:ln>
        </p:spPr>
      </p:sp>
      <p:sp>
        <p:nvSpPr>
          <p:cNvPr id="12" name="Shape 10"/>
          <p:cNvSpPr/>
          <p:nvPr/>
        </p:nvSpPr>
        <p:spPr>
          <a:xfrm>
            <a:off x="6492240" y="1920240"/>
            <a:ext cx="3291840" cy="292608"/>
          </a:xfrm>
          <a:prstGeom prst="roundRect">
            <a:avLst>
              <a:gd name="adj" fmla="val 25000"/>
            </a:avLst>
          </a:prstGeom>
          <a:solidFill>
            <a:srgbClr val="FFFFFF"/>
          </a:solidFill>
          <a:ln w="12700">
            <a:solidFill>
              <a:srgbClr val="A7F3D0"/>
            </a:solidFill>
            <a:prstDash val="solid"/>
          </a:ln>
        </p:spPr>
      </p:sp>
      <p:sp>
        <p:nvSpPr>
          <p:cNvPr id="13" name="Text 11"/>
          <p:cNvSpPr/>
          <p:nvPr/>
        </p:nvSpPr>
        <p:spPr>
          <a:xfrm>
            <a:off x="6492240" y="1920240"/>
            <a:ext cx="329184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FOODLINE SMART CAPACITY THROTTLING</a:t>
            </a:r>
            <a:endParaRPr lang="en-US" sz="1000" dirty="0"/>
          </a:p>
        </p:txBody>
      </p:sp>
      <p:sp>
        <p:nvSpPr>
          <p:cNvPr id="14" name="Text 12"/>
          <p:cNvSpPr/>
          <p:nvPr/>
        </p:nvSpPr>
        <p:spPr>
          <a:xfrm>
            <a:off x="6492240" y="2377440"/>
            <a:ext cx="4663440" cy="2651760"/>
          </a:xfrm>
          <a:prstGeom prst="rect">
            <a:avLst/>
          </a:prstGeom>
          <a:noFill/>
          <a:ln/>
        </p:spPr>
        <p:txBody>
          <a:bodyPr wrap="square" rtlCol="0" anchor="ctr"/>
          <a:lstStyle/>
          <a:p>
            <a:pPr indent="0" marL="0">
              <a:lnSpc>
                <a:spcPct val="120000"/>
              </a:lnSpc>
              <a:buNone/>
            </a:pPr>
            <a:r>
              <a:rPr lang="en-US" sz="1200" dirty="0">
                <a:solidFill>
                  <a:srgbClr val="0F172A"/>
                </a:solidFill>
                <a:latin typeface="Arial" pitchFamily="34" charset="0"/>
                <a:ea typeface="Arial" pitchFamily="34" charset="-122"/>
                <a:cs typeface="Arial" pitchFamily="34" charset="-120"/>
              </a:rPr>
              <a:t>• Built-In Grill Limits: If the kitchen grill can only toast 30 sandwiches in 10 minutes, FoodLine only accepts 30 orders for that slot.</a:t>
            </a:r>
            <a:endParaRPr lang="en-US" sz="1200" dirty="0"/>
          </a:p>
          <a:p>
            <a:pPr indent="0" marL="0">
              <a:lnSpc>
                <a:spcPct val="120000"/>
              </a:lnSpc>
              <a:buNone/>
            </a:pPr>
            <a:endParaRPr lang="en-US" sz="1200" dirty="0"/>
          </a:p>
          <a:p>
            <a:pPr indent="0" marL="0">
              <a:lnSpc>
                <a:spcPct val="120000"/>
              </a:lnSpc>
              <a:buNone/>
            </a:pPr>
            <a:r>
              <a:rPr lang="en-US" sz="1200" dirty="0">
                <a:solidFill>
                  <a:srgbClr val="0F172A"/>
                </a:solidFill>
                <a:latin typeface="Arial" pitchFamily="34" charset="0"/>
                <a:ea typeface="Arial" pitchFamily="34" charset="-122"/>
                <a:cs typeface="Arial" pitchFamily="34" charset="-120"/>
              </a:rPr>
              <a:t>• Automatic Slot Shifting: Once a slot reaches 100% capacity, the app automatically guides next orders to the subsequent 10-minute break window.</a:t>
            </a:r>
            <a:endParaRPr lang="en-US" sz="1200" dirty="0"/>
          </a:p>
          <a:p>
            <a:pPr indent="0" marL="0">
              <a:lnSpc>
                <a:spcPct val="120000"/>
              </a:lnSpc>
              <a:buNone/>
            </a:pPr>
            <a:endParaRPr lang="en-US" sz="1200" dirty="0"/>
          </a:p>
          <a:p>
            <a:pPr indent="0" marL="0">
              <a:lnSpc>
                <a:spcPct val="120000"/>
              </a:lnSpc>
              <a:buNone/>
            </a:pPr>
            <a:r>
              <a:rPr lang="en-US" sz="1200" dirty="0">
                <a:solidFill>
                  <a:srgbClr val="0F172A"/>
                </a:solidFill>
                <a:latin typeface="Arial" pitchFamily="34" charset="0"/>
                <a:ea typeface="Arial" pitchFamily="34" charset="-122"/>
                <a:cs typeface="Arial" pitchFamily="34" charset="-120"/>
              </a:rPr>
              <a:t>• 20-Minute Head-Start: Chefs see exact batch requirements 20 minutes before the rush.</a:t>
            </a:r>
            <a:endParaRPr lang="en-US" sz="1200" dirty="0"/>
          </a:p>
          <a:p>
            <a:pPr indent="0" marL="0">
              <a:lnSpc>
                <a:spcPct val="120000"/>
              </a:lnSpc>
              <a:buNone/>
            </a:pPr>
            <a:endParaRPr lang="en-US" sz="1200" dirty="0"/>
          </a:p>
          <a:p>
            <a:pPr indent="0" marL="0">
              <a:lnSpc>
                <a:spcPct val="120000"/>
              </a:lnSpc>
              <a:buNone/>
            </a:pPr>
            <a:r>
              <a:rPr lang="en-US" sz="1200" dirty="0">
                <a:solidFill>
                  <a:srgbClr val="0F172A"/>
                </a:solidFill>
                <a:latin typeface="Arial" pitchFamily="34" charset="0"/>
                <a:ea typeface="Arial" pitchFamily="34" charset="-122"/>
                <a:cs typeface="Arial" pitchFamily="34" charset="-120"/>
              </a:rPr>
              <a:t>• Zero Food Waste: Kitchen cooks exactly what is confirmed and pre-paid.</a:t>
            </a:r>
            <a:endParaRPr lang="en-US" sz="1200" dirty="0"/>
          </a:p>
        </p:txBody>
      </p:sp>
      <p:sp>
        <p:nvSpPr>
          <p:cNvPr id="15" name="Shape 13"/>
          <p:cNvSpPr/>
          <p:nvPr/>
        </p:nvSpPr>
        <p:spPr>
          <a:xfrm>
            <a:off x="731520" y="5349240"/>
            <a:ext cx="10698480" cy="914400"/>
          </a:xfrm>
          <a:prstGeom prst="roundRect">
            <a:avLst>
              <a:gd name="adj" fmla="val 10000"/>
            </a:avLst>
          </a:prstGeom>
          <a:solidFill>
            <a:srgbClr val="FFFFFF"/>
          </a:solidFill>
          <a:ln w="12700">
            <a:solidFill>
              <a:srgbClr val="E2E8F0"/>
            </a:solidFill>
            <a:prstDash val="solid"/>
          </a:ln>
        </p:spPr>
      </p:sp>
      <p:sp>
        <p:nvSpPr>
          <p:cNvPr id="16" name="Text 14"/>
          <p:cNvSpPr/>
          <p:nvPr/>
        </p:nvSpPr>
        <p:spPr>
          <a:xfrm>
            <a:off x="1005840" y="5440680"/>
            <a:ext cx="10149840" cy="228600"/>
          </a:xfrm>
          <a:prstGeom prst="rect">
            <a:avLst/>
          </a:prstGeom>
          <a:noFill/>
          <a:ln/>
        </p:spPr>
        <p:txBody>
          <a:bodyPr wrap="square" rtlCol="0" anchor="ctr"/>
          <a:lstStyle/>
          <a:p>
            <a:pPr indent="0" marL="0">
              <a:buNone/>
            </a:pPr>
            <a:r>
              <a:rPr lang="en-US" sz="1100" b="1" dirty="0">
                <a:solidFill>
                  <a:srgbClr val="059669"/>
                </a:solidFill>
                <a:latin typeface="Arial" pitchFamily="34" charset="0"/>
                <a:ea typeface="Arial" pitchFamily="34" charset="-122"/>
                <a:cs typeface="Arial" pitchFamily="34" charset="-120"/>
              </a:rPr>
              <a:t>THE KITCHEN TRAFFIC POLICE:</a:t>
            </a:r>
            <a:endParaRPr lang="en-US" sz="1100" dirty="0"/>
          </a:p>
        </p:txBody>
      </p:sp>
      <p:sp>
        <p:nvSpPr>
          <p:cNvPr id="17" name="Text 15"/>
          <p:cNvSpPr/>
          <p:nvPr/>
        </p:nvSpPr>
        <p:spPr>
          <a:xfrm>
            <a:off x="1005840" y="5715000"/>
            <a:ext cx="10149840" cy="41148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"To our canteen managers: FoodLine stops the 1:05 PM screaming rush. The software acts like a smart traffic police officer, letting in only as many orders as your kitchen equipment can cook comfortably."</a:t>
            </a:r>
            <a:endParaRPr lang="en-US" sz="1300" dirty="0"/>
          </a:p>
        </p:txBody>
      </p:sp>
      <p:sp>
        <p:nvSpPr>
          <p:cNvPr id="18" name="Text 16"/>
          <p:cNvSpPr/>
          <p:nvPr/>
        </p:nvSpPr>
        <p:spPr>
          <a:xfrm>
            <a:off x="731520" y="6446520"/>
            <a:ext cx="5486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FoodLine Campus • Master Pitch Deck 2026</a:t>
            </a:r>
            <a:endParaRPr lang="en-US" sz="900" dirty="0"/>
          </a:p>
        </p:txBody>
      </p:sp>
      <p:sp>
        <p:nvSpPr>
          <p:cNvPr id="19" name="Text 17"/>
          <p:cNvSpPr/>
          <p:nvPr/>
        </p:nvSpPr>
        <p:spPr>
          <a:xfrm>
            <a:off x="9144000" y="64465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926080" cy="292608"/>
          </a:xfrm>
          <a:prstGeom prst="roundRect">
            <a:avLst>
              <a:gd name="adj" fmla="val 25000"/>
            </a:avLst>
          </a:prstGeom>
          <a:solidFill>
            <a:srgbClr val="ECFDF5"/>
          </a:solidFill>
          <a:ln w="12700">
            <a:solidFill>
              <a:srgbClr val="A7F3D0"/>
            </a:solidFill>
            <a:prstDash val="solid"/>
          </a:ln>
        </p:spPr>
      </p:sp>
      <p:sp>
        <p:nvSpPr>
          <p:cNvPr id="3" name="Text 1"/>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FINANCIAL INTEGRITY &amp; RECONCILIATION</a:t>
            </a:r>
            <a:endParaRPr lang="en-US" sz="1000" dirty="0"/>
          </a:p>
        </p:txBody>
      </p:sp>
      <p:sp>
        <p:nvSpPr>
          <p:cNvPr id="4" name="Text 2"/>
          <p:cNvSpPr/>
          <p:nvPr/>
        </p:nvSpPr>
        <p:spPr>
          <a:xfrm>
            <a:off x="9144000" y="411480"/>
            <a:ext cx="2286000" cy="292608"/>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FOODLINE CAMPUS</a:t>
            </a:r>
            <a:endParaRPr lang="en-US" sz="1000" dirty="0"/>
          </a:p>
        </p:txBody>
      </p:sp>
      <p:sp>
        <p:nvSpPr>
          <p:cNvPr id="5" name="Text 3"/>
          <p:cNvSpPr/>
          <p:nvPr/>
        </p:nvSpPr>
        <p:spPr>
          <a:xfrm>
            <a:off x="731520" y="777240"/>
            <a:ext cx="10698480" cy="50292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100% Guaranteed Money: Zero Fake Screenshots</a:t>
            </a:r>
            <a:endParaRPr lang="en-US" sz="2400" dirty="0"/>
          </a:p>
        </p:txBody>
      </p:sp>
      <p:sp>
        <p:nvSpPr>
          <p:cNvPr id="6" name="Text 4"/>
          <p:cNvSpPr/>
          <p:nvPr/>
        </p:nvSpPr>
        <p:spPr>
          <a:xfrm>
            <a:off x="731520" y="1280160"/>
            <a:ext cx="10698480" cy="347472"/>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"Every single rupee is bank-verified before the cook even touches the pan."</a:t>
            </a:r>
            <a:endParaRPr lang="en-US" sz="1300" dirty="0"/>
          </a:p>
        </p:txBody>
      </p:sp>
      <p:sp>
        <p:nvSpPr>
          <p:cNvPr id="7" name="Shape 5"/>
          <p:cNvSpPr/>
          <p:nvPr/>
        </p:nvSpPr>
        <p:spPr>
          <a:xfrm>
            <a:off x="731520" y="1737360"/>
            <a:ext cx="5212080" cy="3474720"/>
          </a:xfrm>
          <a:prstGeom prst="roundRect">
            <a:avLst>
              <a:gd name="adj" fmla="val 3158"/>
            </a:avLst>
          </a:prstGeom>
          <a:solidFill>
            <a:srgbClr val="FEF2F2"/>
          </a:solidFill>
          <a:ln w="19050">
            <a:solidFill>
              <a:srgbClr val="FECACA"/>
            </a:solidFill>
            <a:prstDash val="solid"/>
          </a:ln>
        </p:spPr>
      </p:sp>
      <p:sp>
        <p:nvSpPr>
          <p:cNvPr id="8" name="Shape 6"/>
          <p:cNvSpPr/>
          <p:nvPr/>
        </p:nvSpPr>
        <p:spPr>
          <a:xfrm>
            <a:off x="1005840" y="1920240"/>
            <a:ext cx="3200400" cy="292608"/>
          </a:xfrm>
          <a:prstGeom prst="roundRect">
            <a:avLst>
              <a:gd name="adj" fmla="val 25000"/>
            </a:avLst>
          </a:prstGeom>
          <a:solidFill>
            <a:srgbClr val="FFFFFF"/>
          </a:solidFill>
          <a:ln w="12700">
            <a:solidFill>
              <a:srgbClr val="FECACA"/>
            </a:solidFill>
            <a:prstDash val="solid"/>
          </a:ln>
        </p:spPr>
      </p:sp>
      <p:sp>
        <p:nvSpPr>
          <p:cNvPr id="9" name="Text 7"/>
          <p:cNvSpPr/>
          <p:nvPr/>
        </p:nvSpPr>
        <p:spPr>
          <a:xfrm>
            <a:off x="1005840" y="1920240"/>
            <a:ext cx="3200400" cy="292608"/>
          </a:xfrm>
          <a:prstGeom prst="rect">
            <a:avLst/>
          </a:prstGeom>
          <a:noFill/>
          <a:ln/>
        </p:spPr>
        <p:txBody>
          <a:bodyPr wrap="square" rtlCol="0" anchor="ctr"/>
          <a:lstStyle/>
          <a:p>
            <a:pPr algn="ctr" indent="0" marL="0">
              <a:buNone/>
            </a:pPr>
            <a:r>
              <a:rPr lang="en-US" sz="1000" b="1" dirty="0">
                <a:solidFill>
                  <a:srgbClr val="DC2626"/>
                </a:solidFill>
                <a:latin typeface="Arial" pitchFamily="34" charset="0"/>
                <a:ea typeface="Arial" pitchFamily="34" charset="-122"/>
                <a:cs typeface="Arial" pitchFamily="34" charset="-120"/>
              </a:rPr>
              <a:t>THE CANTEEN FRAUD PROBLEM</a:t>
            </a:r>
            <a:endParaRPr lang="en-US" sz="1000" dirty="0"/>
          </a:p>
        </p:txBody>
      </p:sp>
      <p:sp>
        <p:nvSpPr>
          <p:cNvPr id="10" name="Text 8"/>
          <p:cNvSpPr/>
          <p:nvPr/>
        </p:nvSpPr>
        <p:spPr>
          <a:xfrm>
            <a:off x="1005840" y="2331720"/>
            <a:ext cx="4663440" cy="2743200"/>
          </a:xfrm>
          <a:prstGeom prst="rect">
            <a:avLst/>
          </a:prstGeom>
          <a:noFill/>
          <a:ln/>
        </p:spPr>
        <p:txBody>
          <a:bodyPr wrap="square" rtlCol="0" anchor="ctr"/>
          <a:lstStyle/>
          <a:p>
            <a:pPr indent="0" marL="0">
              <a:lnSpc>
                <a:spcPct val="115000"/>
              </a:lnSpc>
              <a:buNone/>
            </a:pPr>
            <a:r>
              <a:rPr lang="en-US" sz="1200" dirty="0">
                <a:solidFill>
                  <a:srgbClr val="0F172A"/>
                </a:solidFill>
                <a:latin typeface="Arial" pitchFamily="34" charset="0"/>
                <a:ea typeface="Arial" pitchFamily="34" charset="-122"/>
                <a:cs typeface="Arial" pitchFamily="34" charset="-120"/>
              </a:rPr>
              <a:t>Fake Gallery Screenshots</a:t>
            </a: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In dense crowds, dishonest students show fake payment screenshots or old video recordings from their phone gallery.</a:t>
            </a:r>
            <a:endParaRPr lang="en-US" sz="1200" dirty="0"/>
          </a:p>
          <a:p>
            <a:pPr indent="0" marL="0">
              <a:lnSpc>
                <a:spcPct val="115000"/>
              </a:lnSpc>
              <a:buNone/>
            </a:pP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Staff Under Pressure</a:t>
            </a: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"Bhaiya paise bhej diye!" Staff has zero time to check bank SMS alerts on their phone while 50 students push at the counter.</a:t>
            </a:r>
            <a:endParaRPr lang="en-US" sz="1200" dirty="0"/>
          </a:p>
          <a:p>
            <a:pPr indent="0" marL="0">
              <a:lnSpc>
                <a:spcPct val="115000"/>
              </a:lnSpc>
              <a:buNone/>
            </a:pP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The Weekly Cash Loss</a:t>
            </a: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Busy college canteens lose ₹1,000 to ₹3,000 every single week to undetected fake payment tricks.</a:t>
            </a:r>
            <a:endParaRPr lang="en-US" sz="1200" dirty="0"/>
          </a:p>
        </p:txBody>
      </p:sp>
      <p:sp>
        <p:nvSpPr>
          <p:cNvPr id="11" name="Shape 9"/>
          <p:cNvSpPr/>
          <p:nvPr/>
        </p:nvSpPr>
        <p:spPr>
          <a:xfrm>
            <a:off x="6217920" y="1737360"/>
            <a:ext cx="5212080" cy="3474720"/>
          </a:xfrm>
          <a:prstGeom prst="roundRect">
            <a:avLst>
              <a:gd name="adj" fmla="val 3158"/>
            </a:avLst>
          </a:prstGeom>
          <a:solidFill>
            <a:srgbClr val="ECFDF5"/>
          </a:solidFill>
          <a:ln w="19050">
            <a:solidFill>
              <a:srgbClr val="A7F3D0"/>
            </a:solidFill>
            <a:prstDash val="solid"/>
          </a:ln>
        </p:spPr>
      </p:sp>
      <p:sp>
        <p:nvSpPr>
          <p:cNvPr id="12" name="Shape 10"/>
          <p:cNvSpPr/>
          <p:nvPr/>
        </p:nvSpPr>
        <p:spPr>
          <a:xfrm>
            <a:off x="6492240" y="1920240"/>
            <a:ext cx="3474720" cy="292608"/>
          </a:xfrm>
          <a:prstGeom prst="roundRect">
            <a:avLst>
              <a:gd name="adj" fmla="val 25000"/>
            </a:avLst>
          </a:prstGeom>
          <a:solidFill>
            <a:srgbClr val="FFFFFF"/>
          </a:solidFill>
          <a:ln w="12700">
            <a:solidFill>
              <a:srgbClr val="A7F3D0"/>
            </a:solidFill>
            <a:prstDash val="solid"/>
          </a:ln>
        </p:spPr>
      </p:sp>
      <p:sp>
        <p:nvSpPr>
          <p:cNvPr id="13" name="Text 11"/>
          <p:cNvSpPr/>
          <p:nvPr/>
        </p:nvSpPr>
        <p:spPr>
          <a:xfrm>
            <a:off x="6492240" y="1920240"/>
            <a:ext cx="347472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THE FOODLINE ANTI-FRAUD SHIELD</a:t>
            </a:r>
            <a:endParaRPr lang="en-US" sz="1000" dirty="0"/>
          </a:p>
        </p:txBody>
      </p:sp>
      <p:sp>
        <p:nvSpPr>
          <p:cNvPr id="14" name="Text 12"/>
          <p:cNvSpPr/>
          <p:nvPr/>
        </p:nvSpPr>
        <p:spPr>
          <a:xfrm>
            <a:off x="6492240" y="2331720"/>
            <a:ext cx="4663440" cy="2743200"/>
          </a:xfrm>
          <a:prstGeom prst="rect">
            <a:avLst/>
          </a:prstGeom>
          <a:noFill/>
          <a:ln/>
        </p:spPr>
        <p:txBody>
          <a:bodyPr wrap="square" rtlCol="0" anchor="ctr"/>
          <a:lstStyle/>
          <a:p>
            <a:pPr indent="0" marL="0">
              <a:lnSpc>
                <a:spcPct val="115000"/>
              </a:lnSpc>
              <a:buNone/>
            </a:pPr>
            <a:r>
              <a:rPr lang="en-US" sz="1200" dirty="0">
                <a:solidFill>
                  <a:srgbClr val="0F172A"/>
                </a:solidFill>
                <a:latin typeface="Arial" pitchFamily="34" charset="0"/>
                <a:ea typeface="Arial" pitchFamily="34" charset="-122"/>
                <a:cs typeface="Arial" pitchFamily="34" charset="-120"/>
              </a:rPr>
              <a:t>12-Digit Bank Reference (UTR) Match</a:t>
            </a: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Every order requires a valid 12-digit UTR reference code issued directly by the banking system.</a:t>
            </a:r>
            <a:endParaRPr lang="en-US" sz="1200" dirty="0"/>
          </a:p>
          <a:p>
            <a:pPr indent="0" marL="0">
              <a:lnSpc>
                <a:spcPct val="115000"/>
              </a:lnSpc>
              <a:buNone/>
            </a:pP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Replay Attack Prevention</a:t>
            </a: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FoodLine tracks every reference code in a secure cryptographic log. If the same UTR is submitted twice, it is instantly blocked.</a:t>
            </a:r>
            <a:endParaRPr lang="en-US" sz="1200" dirty="0"/>
          </a:p>
          <a:p>
            <a:pPr indent="0" marL="0">
              <a:lnSpc>
                <a:spcPct val="115000"/>
              </a:lnSpc>
              <a:buNone/>
            </a:pP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Zero Ticket Without Real Money</a:t>
            </a:r>
            <a:endParaRPr lang="en-US" sz="1200" dirty="0"/>
          </a:p>
          <a:p>
            <a:pPr indent="0" marL="0">
              <a:lnSpc>
                <a:spcPct val="115000"/>
              </a:lnSpc>
              <a:buNone/>
            </a:pPr>
            <a:r>
              <a:rPr lang="en-US" sz="1200" dirty="0">
                <a:solidFill>
                  <a:srgbClr val="0F172A"/>
                </a:solidFill>
                <a:latin typeface="Arial" pitchFamily="34" charset="0"/>
                <a:ea typeface="Arial" pitchFamily="34" charset="-122"/>
                <a:cs typeface="Arial" pitchFamily="34" charset="-120"/>
              </a:rPr>
              <a:t>If the payment isn't verified and settled, the kitchen ticket is physically NEVER spawned. No guesswork, 100% money in bank.</a:t>
            </a:r>
            <a:endParaRPr lang="en-US" sz="1200" dirty="0"/>
          </a:p>
        </p:txBody>
      </p:sp>
      <p:sp>
        <p:nvSpPr>
          <p:cNvPr id="15" name="Shape 13"/>
          <p:cNvSpPr/>
          <p:nvPr/>
        </p:nvSpPr>
        <p:spPr>
          <a:xfrm>
            <a:off x="731520" y="5349240"/>
            <a:ext cx="10698480" cy="914400"/>
          </a:xfrm>
          <a:prstGeom prst="roundRect">
            <a:avLst>
              <a:gd name="adj" fmla="val 10000"/>
            </a:avLst>
          </a:prstGeom>
          <a:solidFill>
            <a:srgbClr val="FFFFFF"/>
          </a:solidFill>
          <a:ln w="12700">
            <a:solidFill>
              <a:srgbClr val="E2E8F0"/>
            </a:solidFill>
            <a:prstDash val="solid"/>
          </a:ln>
        </p:spPr>
      </p:sp>
      <p:sp>
        <p:nvSpPr>
          <p:cNvPr id="16" name="Text 14"/>
          <p:cNvSpPr/>
          <p:nvPr/>
        </p:nvSpPr>
        <p:spPr>
          <a:xfrm>
            <a:off x="1005840" y="5440680"/>
            <a:ext cx="10149840" cy="228600"/>
          </a:xfrm>
          <a:prstGeom prst="rect">
            <a:avLst/>
          </a:prstGeom>
          <a:noFill/>
          <a:ln/>
        </p:spPr>
        <p:txBody>
          <a:bodyPr wrap="square" rtlCol="0" anchor="ctr"/>
          <a:lstStyle/>
          <a:p>
            <a:pPr indent="0" marL="0">
              <a:buNone/>
            </a:pPr>
            <a:r>
              <a:rPr lang="en-US" sz="1100" b="1" dirty="0">
                <a:solidFill>
                  <a:srgbClr val="059669"/>
                </a:solidFill>
                <a:latin typeface="Arial" pitchFamily="34" charset="0"/>
                <a:ea typeface="Arial" pitchFamily="34" charset="-122"/>
                <a:cs typeface="Arial" pitchFamily="34" charset="-120"/>
              </a:rPr>
              <a:t>ZERO SCREENSHOT NONSENSE:</a:t>
            </a:r>
            <a:endParaRPr lang="en-US" sz="1100" dirty="0"/>
          </a:p>
        </p:txBody>
      </p:sp>
      <p:sp>
        <p:nvSpPr>
          <p:cNvPr id="17" name="Text 15"/>
          <p:cNvSpPr/>
          <p:nvPr/>
        </p:nvSpPr>
        <p:spPr>
          <a:xfrm>
            <a:off x="1005840" y="5715000"/>
            <a:ext cx="10149840" cy="41148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"No more students holding up their phone in a crowd claiming 'Bhaiya, paise bhej diye!' while showing an old screenshot. With FoodLine, if the money isn't safely in the canteen's bank account, the food does not get cooked."</a:t>
            </a:r>
            <a:endParaRPr lang="en-US" sz="1300" dirty="0"/>
          </a:p>
        </p:txBody>
      </p:sp>
      <p:sp>
        <p:nvSpPr>
          <p:cNvPr id="18" name="Text 16"/>
          <p:cNvSpPr/>
          <p:nvPr/>
        </p:nvSpPr>
        <p:spPr>
          <a:xfrm>
            <a:off x="731520" y="6446520"/>
            <a:ext cx="5486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FoodLine Campus • Master Pitch Deck 2026</a:t>
            </a:r>
            <a:endParaRPr lang="en-US" sz="900" dirty="0"/>
          </a:p>
        </p:txBody>
      </p:sp>
      <p:sp>
        <p:nvSpPr>
          <p:cNvPr id="19" name="Text 17"/>
          <p:cNvSpPr/>
          <p:nvPr/>
        </p:nvSpPr>
        <p:spPr>
          <a:xfrm>
            <a:off x="9144000" y="64465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926080" cy="292608"/>
          </a:xfrm>
          <a:prstGeom prst="roundRect">
            <a:avLst>
              <a:gd name="adj" fmla="val 25000"/>
            </a:avLst>
          </a:prstGeom>
          <a:solidFill>
            <a:srgbClr val="ECFDF5"/>
          </a:solidFill>
          <a:ln w="12700">
            <a:solidFill>
              <a:srgbClr val="A7F3D0"/>
            </a:solidFill>
            <a:prstDash val="solid"/>
          </a:ln>
        </p:spPr>
      </p:sp>
      <p:sp>
        <p:nvSpPr>
          <p:cNvPr id="3" name="Text 1"/>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OPERATIONAL EXCELLENCE</a:t>
            </a:r>
            <a:endParaRPr lang="en-US" sz="1000" dirty="0"/>
          </a:p>
        </p:txBody>
      </p:sp>
      <p:sp>
        <p:nvSpPr>
          <p:cNvPr id="4" name="Text 2"/>
          <p:cNvSpPr/>
          <p:nvPr/>
        </p:nvSpPr>
        <p:spPr>
          <a:xfrm>
            <a:off x="9144000" y="411480"/>
            <a:ext cx="2286000" cy="292608"/>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FOODLINE CAMPUS</a:t>
            </a:r>
            <a:endParaRPr lang="en-US" sz="1000" dirty="0"/>
          </a:p>
        </p:txBody>
      </p:sp>
      <p:sp>
        <p:nvSpPr>
          <p:cNvPr id="5" name="Text 3"/>
          <p:cNvSpPr/>
          <p:nvPr/>
        </p:nvSpPr>
        <p:spPr>
          <a:xfrm>
            <a:off x="731520" y="777240"/>
            <a:ext cx="10698480" cy="50292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The Live Kitchen Display Screen (KDS)</a:t>
            </a:r>
            <a:endParaRPr lang="en-US" sz="2400" dirty="0"/>
          </a:p>
        </p:txBody>
      </p:sp>
      <p:sp>
        <p:nvSpPr>
          <p:cNvPr id="6" name="Text 4"/>
          <p:cNvSpPr/>
          <p:nvPr/>
        </p:nvSpPr>
        <p:spPr>
          <a:xfrm>
            <a:off x="731520" y="1280160"/>
            <a:ext cx="10698480" cy="347472"/>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"Clean, big, color-coded buttons that any kitchen helper can use in 2 minutes."</a:t>
            </a:r>
            <a:endParaRPr lang="en-US" sz="1300" dirty="0"/>
          </a:p>
        </p:txBody>
      </p:sp>
      <p:sp>
        <p:nvSpPr>
          <p:cNvPr id="7" name="Shape 5"/>
          <p:cNvSpPr/>
          <p:nvPr/>
        </p:nvSpPr>
        <p:spPr>
          <a:xfrm>
            <a:off x="731520" y="1737360"/>
            <a:ext cx="3383280" cy="3474720"/>
          </a:xfrm>
          <a:prstGeom prst="roundRect">
            <a:avLst>
              <a:gd name="adj" fmla="val 3243"/>
            </a:avLst>
          </a:prstGeom>
          <a:solidFill>
            <a:srgbClr val="FFFFFF"/>
          </a:solidFill>
          <a:ln w="19050">
            <a:solidFill>
              <a:srgbClr val="FDE68A"/>
            </a:solidFill>
            <a:prstDash val="solid"/>
          </a:ln>
        </p:spPr>
      </p:sp>
      <p:sp>
        <p:nvSpPr>
          <p:cNvPr id="8" name="Shape 6"/>
          <p:cNvSpPr/>
          <p:nvPr/>
        </p:nvSpPr>
        <p:spPr>
          <a:xfrm>
            <a:off x="1005840" y="1920240"/>
            <a:ext cx="2834640" cy="320040"/>
          </a:xfrm>
          <a:prstGeom prst="roundRect">
            <a:avLst>
              <a:gd name="adj" fmla="val 22857"/>
            </a:avLst>
          </a:prstGeom>
          <a:solidFill>
            <a:srgbClr val="FFFBEB"/>
          </a:solidFill>
          <a:ln w="12700">
            <a:solidFill>
              <a:srgbClr val="FDE68A"/>
            </a:solidFill>
            <a:prstDash val="solid"/>
          </a:ln>
        </p:spPr>
      </p:sp>
      <p:sp>
        <p:nvSpPr>
          <p:cNvPr id="9" name="Text 7"/>
          <p:cNvSpPr/>
          <p:nvPr/>
        </p:nvSpPr>
        <p:spPr>
          <a:xfrm>
            <a:off x="1005840" y="1920240"/>
            <a:ext cx="283464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PREPARING (COOKING)</a:t>
            </a:r>
            <a:endParaRPr lang="en-US" sz="1000" dirty="0"/>
          </a:p>
        </p:txBody>
      </p:sp>
      <p:sp>
        <p:nvSpPr>
          <p:cNvPr id="10" name="Text 8"/>
          <p:cNvSpPr/>
          <p:nvPr/>
        </p:nvSpPr>
        <p:spPr>
          <a:xfrm>
            <a:off x="1005840" y="2377440"/>
            <a:ext cx="2834640" cy="32004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Ticket #1042</a:t>
            </a:r>
            <a:endParaRPr lang="en-US" sz="1800" dirty="0"/>
          </a:p>
        </p:txBody>
      </p:sp>
      <p:sp>
        <p:nvSpPr>
          <p:cNvPr id="11" name="Text 9"/>
          <p:cNvSpPr/>
          <p:nvPr/>
        </p:nvSpPr>
        <p:spPr>
          <a:xfrm>
            <a:off x="1005840" y="2697480"/>
            <a:ext cx="2834640" cy="22860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Slot: 1:15 PM (4 min left)</a:t>
            </a:r>
            <a:endParaRPr lang="en-US" sz="1000" dirty="0"/>
          </a:p>
        </p:txBody>
      </p:sp>
      <p:sp>
        <p:nvSpPr>
          <p:cNvPr id="12" name="Text 10"/>
          <p:cNvSpPr/>
          <p:nvPr/>
        </p:nvSpPr>
        <p:spPr>
          <a:xfrm>
            <a:off x="1005840" y="3017520"/>
            <a:ext cx="2834640" cy="228600"/>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ORDER ITEMS:</a:t>
            </a:r>
            <a:endParaRPr lang="en-US" sz="900" dirty="0"/>
          </a:p>
        </p:txBody>
      </p:sp>
      <p:sp>
        <p:nvSpPr>
          <p:cNvPr id="13" name="Text 11"/>
          <p:cNvSpPr/>
          <p:nvPr/>
        </p:nvSpPr>
        <p:spPr>
          <a:xfrm>
            <a:off x="1005840" y="3246120"/>
            <a:ext cx="2834640" cy="1097280"/>
          </a:xfrm>
          <a:prstGeom prst="rect">
            <a:avLst/>
          </a:prstGeom>
          <a:noFill/>
          <a:ln/>
        </p:spPr>
        <p:txBody>
          <a:bodyPr wrap="square" rtlCol="0" anchor="ctr"/>
          <a:lstStyle/>
          <a:p>
            <a:pPr indent="0" marL="0">
              <a:lnSpc>
                <a:spcPct val="120000"/>
              </a:lnSpc>
              <a:buNone/>
            </a:pPr>
            <a:r>
              <a:rPr lang="en-US" sz="1300" b="1" dirty="0">
                <a:solidFill>
                  <a:srgbClr val="0F172A"/>
                </a:solidFill>
                <a:latin typeface="Arial" pitchFamily="34" charset="0"/>
                <a:ea typeface="Arial" pitchFamily="34" charset="-122"/>
                <a:cs typeface="Arial" pitchFamily="34" charset="-120"/>
              </a:rPr>
              <a:t>2x Bun Maska</a:t>
            </a:r>
            <a:endParaRPr lang="en-US" sz="1300" dirty="0"/>
          </a:p>
          <a:p>
            <a:pPr indent="0" marL="0">
              <a:lnSpc>
                <a:spcPct val="120000"/>
              </a:lnSpc>
              <a:buNone/>
            </a:pPr>
            <a:r>
              <a:rPr lang="en-US" sz="1300" b="1" dirty="0">
                <a:solidFill>
                  <a:srgbClr val="0F172A"/>
                </a:solidFill>
                <a:latin typeface="Arial" pitchFamily="34" charset="0"/>
                <a:ea typeface="Arial" pitchFamily="34" charset="-122"/>
                <a:cs typeface="Arial" pitchFamily="34" charset="-120"/>
              </a:rPr>
              <a:t>1x Special Masala Chai</a:t>
            </a:r>
            <a:endParaRPr lang="en-US" sz="1300" dirty="0"/>
          </a:p>
        </p:txBody>
      </p:sp>
      <p:sp>
        <p:nvSpPr>
          <p:cNvPr id="14" name="Shape 12"/>
          <p:cNvSpPr/>
          <p:nvPr/>
        </p:nvSpPr>
        <p:spPr>
          <a:xfrm>
            <a:off x="1005840" y="4526280"/>
            <a:ext cx="2834640" cy="502920"/>
          </a:xfrm>
          <a:prstGeom prst="roundRect">
            <a:avLst>
              <a:gd name="adj" fmla="val 14545"/>
            </a:avLst>
          </a:prstGeom>
          <a:solidFill>
            <a:srgbClr val="D97706"/>
          </a:solidFill>
          <a:ln w="12700">
            <a:solidFill>
              <a:srgbClr val="D97706"/>
            </a:solidFill>
            <a:prstDash val="solid"/>
          </a:ln>
        </p:spPr>
      </p:sp>
      <p:sp>
        <p:nvSpPr>
          <p:cNvPr id="15" name="Text 13"/>
          <p:cNvSpPr/>
          <p:nvPr/>
        </p:nvSpPr>
        <p:spPr>
          <a:xfrm>
            <a:off x="1005840" y="4526280"/>
            <a:ext cx="2834640" cy="5029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TAP TO MARK READY</a:t>
            </a:r>
            <a:endParaRPr lang="en-US" sz="1100" dirty="0"/>
          </a:p>
        </p:txBody>
      </p:sp>
      <p:sp>
        <p:nvSpPr>
          <p:cNvPr id="16" name="Shape 14"/>
          <p:cNvSpPr/>
          <p:nvPr/>
        </p:nvSpPr>
        <p:spPr>
          <a:xfrm>
            <a:off x="4389120" y="1737360"/>
            <a:ext cx="3383280" cy="3474720"/>
          </a:xfrm>
          <a:prstGeom prst="roundRect">
            <a:avLst>
              <a:gd name="adj" fmla="val 3243"/>
            </a:avLst>
          </a:prstGeom>
          <a:solidFill>
            <a:srgbClr val="FFFFFF"/>
          </a:solidFill>
          <a:ln w="19050">
            <a:solidFill>
              <a:srgbClr val="A7F3D0"/>
            </a:solidFill>
            <a:prstDash val="solid"/>
          </a:ln>
        </p:spPr>
      </p:sp>
      <p:sp>
        <p:nvSpPr>
          <p:cNvPr id="17" name="Shape 15"/>
          <p:cNvSpPr/>
          <p:nvPr/>
        </p:nvSpPr>
        <p:spPr>
          <a:xfrm>
            <a:off x="4663440" y="1920240"/>
            <a:ext cx="2834640" cy="320040"/>
          </a:xfrm>
          <a:prstGeom prst="roundRect">
            <a:avLst>
              <a:gd name="adj" fmla="val 22857"/>
            </a:avLst>
          </a:prstGeom>
          <a:solidFill>
            <a:srgbClr val="ECFDF5"/>
          </a:solidFill>
          <a:ln w="12700">
            <a:solidFill>
              <a:srgbClr val="A7F3D0"/>
            </a:solidFill>
            <a:prstDash val="solid"/>
          </a:ln>
        </p:spPr>
      </p:sp>
      <p:sp>
        <p:nvSpPr>
          <p:cNvPr id="18" name="Text 16"/>
          <p:cNvSpPr/>
          <p:nvPr/>
        </p:nvSpPr>
        <p:spPr>
          <a:xfrm>
            <a:off x="4663440" y="1920240"/>
            <a:ext cx="2834640" cy="320040"/>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READY FOR PICKUP</a:t>
            </a:r>
            <a:endParaRPr lang="en-US" sz="1000" dirty="0"/>
          </a:p>
        </p:txBody>
      </p:sp>
      <p:sp>
        <p:nvSpPr>
          <p:cNvPr id="19" name="Text 17"/>
          <p:cNvSpPr/>
          <p:nvPr/>
        </p:nvSpPr>
        <p:spPr>
          <a:xfrm>
            <a:off x="4663440" y="2377440"/>
            <a:ext cx="2834640" cy="32004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Ticket #1040</a:t>
            </a:r>
            <a:endParaRPr lang="en-US" sz="1800" dirty="0"/>
          </a:p>
        </p:txBody>
      </p:sp>
      <p:sp>
        <p:nvSpPr>
          <p:cNvPr id="20" name="Text 18"/>
          <p:cNvSpPr/>
          <p:nvPr/>
        </p:nvSpPr>
        <p:spPr>
          <a:xfrm>
            <a:off x="4663440" y="2697480"/>
            <a:ext cx="2834640" cy="228600"/>
          </a:xfrm>
          <a:prstGeom prst="rect">
            <a:avLst/>
          </a:prstGeom>
          <a:noFill/>
          <a:ln/>
        </p:spPr>
        <p:txBody>
          <a:bodyPr wrap="square" rtlCol="0" anchor="ctr"/>
          <a:lstStyle/>
          <a:p>
            <a:pPr indent="0" marL="0">
              <a:buNone/>
            </a:pPr>
            <a:r>
              <a:rPr lang="en-US" sz="1000" b="1" dirty="0">
                <a:solidFill>
                  <a:srgbClr val="059669"/>
                </a:solidFill>
                <a:latin typeface="Arial" pitchFamily="34" charset="0"/>
                <a:ea typeface="Arial" pitchFamily="34" charset="-122"/>
                <a:cs typeface="Arial" pitchFamily="34" charset="-120"/>
              </a:rPr>
              <a:t>OTP: 5197 (Counter 2)</a:t>
            </a:r>
            <a:endParaRPr lang="en-US" sz="1000" dirty="0"/>
          </a:p>
        </p:txBody>
      </p:sp>
      <p:sp>
        <p:nvSpPr>
          <p:cNvPr id="21" name="Text 19"/>
          <p:cNvSpPr/>
          <p:nvPr/>
        </p:nvSpPr>
        <p:spPr>
          <a:xfrm>
            <a:off x="4663440" y="3017520"/>
            <a:ext cx="2834640" cy="228600"/>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ORDER ITEMS:</a:t>
            </a:r>
            <a:endParaRPr lang="en-US" sz="900" dirty="0"/>
          </a:p>
        </p:txBody>
      </p:sp>
      <p:sp>
        <p:nvSpPr>
          <p:cNvPr id="22" name="Text 20"/>
          <p:cNvSpPr/>
          <p:nvPr/>
        </p:nvSpPr>
        <p:spPr>
          <a:xfrm>
            <a:off x="4663440" y="3246120"/>
            <a:ext cx="2834640" cy="1097280"/>
          </a:xfrm>
          <a:prstGeom prst="rect">
            <a:avLst/>
          </a:prstGeom>
          <a:noFill/>
          <a:ln/>
        </p:spPr>
        <p:txBody>
          <a:bodyPr wrap="square" rtlCol="0" anchor="ctr"/>
          <a:lstStyle/>
          <a:p>
            <a:pPr indent="0" marL="0">
              <a:lnSpc>
                <a:spcPct val="120000"/>
              </a:lnSpc>
              <a:buNone/>
            </a:pPr>
            <a:r>
              <a:rPr lang="en-US" sz="1300" b="1" dirty="0">
                <a:solidFill>
                  <a:srgbClr val="0F172A"/>
                </a:solidFill>
                <a:latin typeface="Arial" pitchFamily="34" charset="0"/>
                <a:ea typeface="Arial" pitchFamily="34" charset="-122"/>
                <a:cs typeface="Arial" pitchFamily="34" charset="-120"/>
              </a:rPr>
              <a:t>1x Cheese Grill Sandwich</a:t>
            </a:r>
            <a:endParaRPr lang="en-US" sz="1300" dirty="0"/>
          </a:p>
          <a:p>
            <a:pPr indent="0" marL="0">
              <a:lnSpc>
                <a:spcPct val="120000"/>
              </a:lnSpc>
              <a:buNone/>
            </a:pPr>
            <a:r>
              <a:rPr lang="en-US" sz="1300" b="1" dirty="0">
                <a:solidFill>
                  <a:srgbClr val="0F172A"/>
                </a:solidFill>
                <a:latin typeface="Arial" pitchFamily="34" charset="0"/>
                <a:ea typeface="Arial" pitchFamily="34" charset="-122"/>
                <a:cs typeface="Arial" pitchFamily="34" charset="-120"/>
              </a:rPr>
              <a:t>1x Cold Coffee (Bottled)</a:t>
            </a:r>
            <a:endParaRPr lang="en-US" sz="1300" dirty="0"/>
          </a:p>
        </p:txBody>
      </p:sp>
      <p:sp>
        <p:nvSpPr>
          <p:cNvPr id="23" name="Shape 21"/>
          <p:cNvSpPr/>
          <p:nvPr/>
        </p:nvSpPr>
        <p:spPr>
          <a:xfrm>
            <a:off x="4663440" y="4526280"/>
            <a:ext cx="2834640" cy="502920"/>
          </a:xfrm>
          <a:prstGeom prst="roundRect">
            <a:avLst>
              <a:gd name="adj" fmla="val 14545"/>
            </a:avLst>
          </a:prstGeom>
          <a:solidFill>
            <a:srgbClr val="059669"/>
          </a:solidFill>
          <a:ln w="12700">
            <a:solidFill>
              <a:srgbClr val="059669"/>
            </a:solidFill>
            <a:prstDash val="solid"/>
          </a:ln>
        </p:spPr>
      </p:sp>
      <p:sp>
        <p:nvSpPr>
          <p:cNvPr id="24" name="Text 22"/>
          <p:cNvSpPr/>
          <p:nvPr/>
        </p:nvSpPr>
        <p:spPr>
          <a:xfrm>
            <a:off x="4663440" y="4526280"/>
            <a:ext cx="2834640" cy="5029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AUTO-NOTIFIED VIA APP</a:t>
            </a:r>
            <a:endParaRPr lang="en-US" sz="1100" dirty="0"/>
          </a:p>
        </p:txBody>
      </p:sp>
      <p:sp>
        <p:nvSpPr>
          <p:cNvPr id="25" name="Shape 23"/>
          <p:cNvSpPr/>
          <p:nvPr/>
        </p:nvSpPr>
        <p:spPr>
          <a:xfrm>
            <a:off x="8046720" y="1737360"/>
            <a:ext cx="3383280" cy="3474720"/>
          </a:xfrm>
          <a:prstGeom prst="roundRect">
            <a:avLst>
              <a:gd name="adj" fmla="val 3243"/>
            </a:avLst>
          </a:prstGeom>
          <a:solidFill>
            <a:srgbClr val="FFFFFF"/>
          </a:solidFill>
          <a:ln w="19050">
            <a:solidFill>
              <a:srgbClr val="CBD5E1"/>
            </a:solidFill>
            <a:prstDash val="solid"/>
          </a:ln>
        </p:spPr>
      </p:sp>
      <p:sp>
        <p:nvSpPr>
          <p:cNvPr id="26" name="Shape 24"/>
          <p:cNvSpPr/>
          <p:nvPr/>
        </p:nvSpPr>
        <p:spPr>
          <a:xfrm>
            <a:off x="8321040" y="1920240"/>
            <a:ext cx="2834640" cy="320040"/>
          </a:xfrm>
          <a:prstGeom prst="roundRect">
            <a:avLst>
              <a:gd name="adj" fmla="val 22857"/>
            </a:avLst>
          </a:prstGeom>
          <a:solidFill>
            <a:srgbClr val="F1F5F9"/>
          </a:solidFill>
          <a:ln w="12700">
            <a:solidFill>
              <a:srgbClr val="CBD5E1"/>
            </a:solidFill>
            <a:prstDash val="solid"/>
          </a:ln>
        </p:spPr>
      </p:sp>
      <p:sp>
        <p:nvSpPr>
          <p:cNvPr id="27" name="Text 25"/>
          <p:cNvSpPr/>
          <p:nvPr/>
        </p:nvSpPr>
        <p:spPr>
          <a:xfrm>
            <a:off x="8321040" y="1920240"/>
            <a:ext cx="2834640" cy="320040"/>
          </a:xfrm>
          <a:prstGeom prst="rect">
            <a:avLst/>
          </a:prstGeom>
          <a:noFill/>
          <a:ln/>
        </p:spPr>
        <p:txBody>
          <a:bodyPr wrap="square" rtlCol="0" anchor="ctr"/>
          <a:lstStyle/>
          <a:p>
            <a:pPr algn="ctr" indent="0" marL="0">
              <a:buNone/>
            </a:pPr>
            <a:r>
              <a:rPr lang="en-US" sz="1000" b="1" dirty="0">
                <a:solidFill>
                  <a:srgbClr val="64748B"/>
                </a:solidFill>
                <a:latin typeface="Arial" pitchFamily="34" charset="0"/>
                <a:ea typeface="Arial" pitchFamily="34" charset="-122"/>
                <a:cs typeface="Arial" pitchFamily="34" charset="-120"/>
              </a:rPr>
              <a:t>COLLECTED &amp; COMPLETED</a:t>
            </a:r>
            <a:endParaRPr lang="en-US" sz="1000" dirty="0"/>
          </a:p>
        </p:txBody>
      </p:sp>
      <p:sp>
        <p:nvSpPr>
          <p:cNvPr id="28" name="Text 26"/>
          <p:cNvSpPr/>
          <p:nvPr/>
        </p:nvSpPr>
        <p:spPr>
          <a:xfrm>
            <a:off x="8321040" y="2377440"/>
            <a:ext cx="2834640" cy="32004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Ticket #1038</a:t>
            </a:r>
            <a:endParaRPr lang="en-US" sz="1800" dirty="0"/>
          </a:p>
        </p:txBody>
      </p:sp>
      <p:sp>
        <p:nvSpPr>
          <p:cNvPr id="29" name="Text 27"/>
          <p:cNvSpPr/>
          <p:nvPr/>
        </p:nvSpPr>
        <p:spPr>
          <a:xfrm>
            <a:off x="8321040" y="2697480"/>
            <a:ext cx="2834640" cy="228600"/>
          </a:xfrm>
          <a:prstGeom prst="rect">
            <a:avLst/>
          </a:prstGeom>
          <a:noFill/>
          <a:ln/>
        </p:spPr>
        <p:txBody>
          <a:bodyPr wrap="square" rtlCol="0" anchor="ctr"/>
          <a:lstStyle/>
          <a:p>
            <a:pPr indent="0" marL="0">
              <a:buNone/>
            </a:pPr>
            <a:r>
              <a:rPr lang="en-US" sz="1000" b="1" dirty="0">
                <a:solidFill>
                  <a:srgbClr val="64748B"/>
                </a:solidFill>
                <a:latin typeface="Arial" pitchFamily="34" charset="0"/>
                <a:ea typeface="Arial" pitchFamily="34" charset="-122"/>
                <a:cs typeface="Arial" pitchFamily="34" charset="-120"/>
              </a:rPr>
              <a:t>Collected in 22 seconds</a:t>
            </a:r>
            <a:endParaRPr lang="en-US" sz="1000" dirty="0"/>
          </a:p>
        </p:txBody>
      </p:sp>
      <p:sp>
        <p:nvSpPr>
          <p:cNvPr id="30" name="Text 28"/>
          <p:cNvSpPr/>
          <p:nvPr/>
        </p:nvSpPr>
        <p:spPr>
          <a:xfrm>
            <a:off x="8321040" y="3017520"/>
            <a:ext cx="2834640" cy="228600"/>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ORDER ITEMS:</a:t>
            </a:r>
            <a:endParaRPr lang="en-US" sz="900" dirty="0"/>
          </a:p>
        </p:txBody>
      </p:sp>
      <p:sp>
        <p:nvSpPr>
          <p:cNvPr id="31" name="Text 29"/>
          <p:cNvSpPr/>
          <p:nvPr/>
        </p:nvSpPr>
        <p:spPr>
          <a:xfrm>
            <a:off x="8321040" y="3246120"/>
            <a:ext cx="2834640" cy="1097280"/>
          </a:xfrm>
          <a:prstGeom prst="rect">
            <a:avLst/>
          </a:prstGeom>
          <a:noFill/>
          <a:ln/>
        </p:spPr>
        <p:txBody>
          <a:bodyPr wrap="square" rtlCol="0" anchor="ctr"/>
          <a:lstStyle/>
          <a:p>
            <a:pPr indent="0" marL="0">
              <a:lnSpc>
                <a:spcPct val="120000"/>
              </a:lnSpc>
              <a:buNone/>
            </a:pPr>
            <a:r>
              <a:rPr lang="en-US" sz="1300" b="1" dirty="0">
                <a:solidFill>
                  <a:srgbClr val="0F172A"/>
                </a:solidFill>
                <a:latin typeface="Arial" pitchFamily="34" charset="0"/>
                <a:ea typeface="Arial" pitchFamily="34" charset="-122"/>
                <a:cs typeface="Arial" pitchFamily="34" charset="-120"/>
              </a:rPr>
              <a:t>1x Special Misal Pav</a:t>
            </a:r>
            <a:endParaRPr lang="en-US" sz="1300" dirty="0"/>
          </a:p>
          <a:p>
            <a:pPr indent="0" marL="0">
              <a:lnSpc>
                <a:spcPct val="120000"/>
              </a:lnSpc>
              <a:buNone/>
            </a:pPr>
            <a:r>
              <a:rPr lang="en-US" sz="1300" b="1" dirty="0">
                <a:solidFill>
                  <a:srgbClr val="0F172A"/>
                </a:solidFill>
                <a:latin typeface="Arial" pitchFamily="34" charset="0"/>
                <a:ea typeface="Arial" pitchFamily="34" charset="-122"/>
                <a:cs typeface="Arial" pitchFamily="34" charset="-120"/>
              </a:rPr>
              <a:t>1x Sweet Lassi</a:t>
            </a:r>
            <a:endParaRPr lang="en-US" sz="1300" dirty="0"/>
          </a:p>
        </p:txBody>
      </p:sp>
      <p:sp>
        <p:nvSpPr>
          <p:cNvPr id="32" name="Shape 30"/>
          <p:cNvSpPr/>
          <p:nvPr/>
        </p:nvSpPr>
        <p:spPr>
          <a:xfrm>
            <a:off x="8321040" y="4526280"/>
            <a:ext cx="2834640" cy="502920"/>
          </a:xfrm>
          <a:prstGeom prst="roundRect">
            <a:avLst>
              <a:gd name="adj" fmla="val 14545"/>
            </a:avLst>
          </a:prstGeom>
          <a:solidFill>
            <a:srgbClr val="64748B"/>
          </a:solidFill>
          <a:ln w="12700">
            <a:solidFill>
              <a:srgbClr val="64748B"/>
            </a:solidFill>
            <a:prstDash val="solid"/>
          </a:ln>
        </p:spPr>
      </p:sp>
      <p:sp>
        <p:nvSpPr>
          <p:cNvPr id="33" name="Text 31"/>
          <p:cNvSpPr/>
          <p:nvPr/>
        </p:nvSpPr>
        <p:spPr>
          <a:xfrm>
            <a:off x="8321040" y="4526280"/>
            <a:ext cx="2834640" cy="5029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LOGGED IN DAILY LEDGER</a:t>
            </a:r>
            <a:endParaRPr lang="en-US" sz="1100" dirty="0"/>
          </a:p>
        </p:txBody>
      </p:sp>
      <p:sp>
        <p:nvSpPr>
          <p:cNvPr id="34" name="Shape 32"/>
          <p:cNvSpPr/>
          <p:nvPr/>
        </p:nvSpPr>
        <p:spPr>
          <a:xfrm>
            <a:off x="731520" y="5394960"/>
            <a:ext cx="3383280" cy="822960"/>
          </a:xfrm>
          <a:prstGeom prst="roundRect">
            <a:avLst>
              <a:gd name="adj" fmla="val 8889"/>
            </a:avLst>
          </a:prstGeom>
          <a:solidFill>
            <a:srgbClr val="FFFFFF"/>
          </a:solidFill>
          <a:ln w="12700">
            <a:solidFill>
              <a:srgbClr val="E2E8F0"/>
            </a:solidFill>
            <a:prstDash val="solid"/>
          </a:ln>
        </p:spPr>
      </p:sp>
      <p:sp>
        <p:nvSpPr>
          <p:cNvPr id="35" name="Text 33"/>
          <p:cNvSpPr/>
          <p:nvPr/>
        </p:nvSpPr>
        <p:spPr>
          <a:xfrm>
            <a:off x="914400" y="5440680"/>
            <a:ext cx="3017520" cy="73152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Large 1-Tap Buttons: Helpers with wet hands can tap a 10" tablet screen with zero errors</a:t>
            </a:r>
            <a:endParaRPr lang="en-US" sz="1000" dirty="0"/>
          </a:p>
        </p:txBody>
      </p:sp>
      <p:sp>
        <p:nvSpPr>
          <p:cNvPr id="36" name="Shape 34"/>
          <p:cNvSpPr/>
          <p:nvPr/>
        </p:nvSpPr>
        <p:spPr>
          <a:xfrm>
            <a:off x="4389120" y="5394960"/>
            <a:ext cx="3383280" cy="822960"/>
          </a:xfrm>
          <a:prstGeom prst="roundRect">
            <a:avLst>
              <a:gd name="adj" fmla="val 8889"/>
            </a:avLst>
          </a:prstGeom>
          <a:solidFill>
            <a:srgbClr val="FFFFFF"/>
          </a:solidFill>
          <a:ln w="12700">
            <a:solidFill>
              <a:srgbClr val="E2E8F0"/>
            </a:solidFill>
            <a:prstDash val="solid"/>
          </a:ln>
        </p:spPr>
      </p:sp>
      <p:sp>
        <p:nvSpPr>
          <p:cNvPr id="37" name="Text 35"/>
          <p:cNvSpPr/>
          <p:nvPr/>
        </p:nvSpPr>
        <p:spPr>
          <a:xfrm>
            <a:off x="4572000" y="5440680"/>
            <a:ext cx="3017520" cy="73152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Zero Paper Receipts: No missing slips of paper or tokens blowing away in kitchen wind</a:t>
            </a:r>
            <a:endParaRPr lang="en-US" sz="1000" dirty="0"/>
          </a:p>
        </p:txBody>
      </p:sp>
      <p:sp>
        <p:nvSpPr>
          <p:cNvPr id="38" name="Shape 36"/>
          <p:cNvSpPr/>
          <p:nvPr/>
        </p:nvSpPr>
        <p:spPr>
          <a:xfrm>
            <a:off x="8046720" y="5394960"/>
            <a:ext cx="3383280" cy="822960"/>
          </a:xfrm>
          <a:prstGeom prst="roundRect">
            <a:avLst>
              <a:gd name="adj" fmla="val 8889"/>
            </a:avLst>
          </a:prstGeom>
          <a:solidFill>
            <a:srgbClr val="FFFFFF"/>
          </a:solidFill>
          <a:ln w="12700">
            <a:solidFill>
              <a:srgbClr val="E2E8F0"/>
            </a:solidFill>
            <a:prstDash val="solid"/>
          </a:ln>
        </p:spPr>
      </p:sp>
      <p:sp>
        <p:nvSpPr>
          <p:cNvPr id="39" name="Text 37"/>
          <p:cNvSpPr/>
          <p:nvPr/>
        </p:nvSpPr>
        <p:spPr>
          <a:xfrm>
            <a:off x="8229600" y="5440680"/>
            <a:ext cx="3017520" cy="73152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Multi-Language Ready: Simple Hindi, Marathi &amp; English UI for kitchen helper ease</a:t>
            </a:r>
            <a:endParaRPr lang="en-US" sz="1000" dirty="0"/>
          </a:p>
        </p:txBody>
      </p:sp>
      <p:sp>
        <p:nvSpPr>
          <p:cNvPr id="40" name="Text 38"/>
          <p:cNvSpPr/>
          <p:nvPr/>
        </p:nvSpPr>
        <p:spPr>
          <a:xfrm>
            <a:off x="731520" y="6446520"/>
            <a:ext cx="5486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FoodLine Campus • Master Pitch Deck 2026</a:t>
            </a:r>
            <a:endParaRPr lang="en-US" sz="900" dirty="0"/>
          </a:p>
        </p:txBody>
      </p:sp>
      <p:sp>
        <p:nvSpPr>
          <p:cNvPr id="41" name="Text 39"/>
          <p:cNvSpPr/>
          <p:nvPr/>
        </p:nvSpPr>
        <p:spPr>
          <a:xfrm>
            <a:off x="9144000" y="64465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926080" cy="292608"/>
          </a:xfrm>
          <a:prstGeom prst="roundRect">
            <a:avLst>
              <a:gd name="adj" fmla="val 25000"/>
            </a:avLst>
          </a:prstGeom>
          <a:solidFill>
            <a:srgbClr val="ECFDF5"/>
          </a:solidFill>
          <a:ln w="12700">
            <a:solidFill>
              <a:srgbClr val="A7F3D0"/>
            </a:solidFill>
            <a:prstDash val="solid"/>
          </a:ln>
        </p:spPr>
      </p:sp>
      <p:sp>
        <p:nvSpPr>
          <p:cNvPr id="3" name="Text 1"/>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FINANCIAL ARCHITECTURE</a:t>
            </a:r>
            <a:endParaRPr lang="en-US" sz="1000" dirty="0"/>
          </a:p>
        </p:txBody>
      </p:sp>
      <p:sp>
        <p:nvSpPr>
          <p:cNvPr id="4" name="Text 2"/>
          <p:cNvSpPr/>
          <p:nvPr/>
        </p:nvSpPr>
        <p:spPr>
          <a:xfrm>
            <a:off x="9144000" y="411480"/>
            <a:ext cx="2286000" cy="292608"/>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FOODLINE CAMPUS</a:t>
            </a:r>
            <a:endParaRPr lang="en-US" sz="1000" dirty="0"/>
          </a:p>
        </p:txBody>
      </p:sp>
      <p:sp>
        <p:nvSpPr>
          <p:cNvPr id="5" name="Text 3"/>
          <p:cNvSpPr/>
          <p:nvPr/>
        </p:nvSpPr>
        <p:spPr>
          <a:xfrm>
            <a:off x="731520" y="777240"/>
            <a:ext cx="10698480" cy="50292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How FoodLine Makes Money: High Volume, Zero Inventory</a:t>
            </a:r>
            <a:endParaRPr lang="en-US" sz="2400" dirty="0"/>
          </a:p>
        </p:txBody>
      </p:sp>
      <p:sp>
        <p:nvSpPr>
          <p:cNvPr id="6" name="Text 4"/>
          <p:cNvSpPr/>
          <p:nvPr/>
        </p:nvSpPr>
        <p:spPr>
          <a:xfrm>
            <a:off x="731520" y="1280160"/>
            <a:ext cx="10698480" cy="347472"/>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"High daily transaction volume, zero inventory risk, and predictable campus cash flow."</a:t>
            </a:r>
            <a:endParaRPr lang="en-US" sz="1300" dirty="0"/>
          </a:p>
        </p:txBody>
      </p:sp>
      <p:sp>
        <p:nvSpPr>
          <p:cNvPr id="7" name="Shape 5"/>
          <p:cNvSpPr/>
          <p:nvPr/>
        </p:nvSpPr>
        <p:spPr>
          <a:xfrm>
            <a:off x="731520" y="1737360"/>
            <a:ext cx="3383280" cy="4434840"/>
          </a:xfrm>
          <a:prstGeom prst="roundRect">
            <a:avLst>
              <a:gd name="adj" fmla="val 3243"/>
            </a:avLst>
          </a:prstGeom>
          <a:solidFill>
            <a:srgbClr val="FFFFFF"/>
          </a:solidFill>
          <a:ln w="19050">
            <a:solidFill>
              <a:srgbClr val="A7F3D0"/>
            </a:solidFill>
            <a:prstDash val="solid"/>
          </a:ln>
        </p:spPr>
      </p:sp>
      <p:sp>
        <p:nvSpPr>
          <p:cNvPr id="8" name="Shape 6"/>
          <p:cNvSpPr/>
          <p:nvPr/>
        </p:nvSpPr>
        <p:spPr>
          <a:xfrm>
            <a:off x="1005840" y="1920240"/>
            <a:ext cx="1371600" cy="274320"/>
          </a:xfrm>
          <a:prstGeom prst="roundRect">
            <a:avLst>
              <a:gd name="adj" fmla="val 26667"/>
            </a:avLst>
          </a:prstGeom>
          <a:solidFill>
            <a:srgbClr val="ECFDF5"/>
          </a:solidFill>
          <a:ln w="12700">
            <a:solidFill>
              <a:srgbClr val="A7F3D0"/>
            </a:solidFill>
            <a:prstDash val="solid"/>
          </a:ln>
        </p:spPr>
      </p:sp>
      <p:sp>
        <p:nvSpPr>
          <p:cNvPr id="9" name="Text 7"/>
          <p:cNvSpPr/>
          <p:nvPr/>
        </p:nvSpPr>
        <p:spPr>
          <a:xfrm>
            <a:off x="1005840" y="1920240"/>
            <a:ext cx="1371600" cy="274320"/>
          </a:xfrm>
          <a:prstGeom prst="rect">
            <a:avLst/>
          </a:prstGeom>
          <a:noFill/>
          <a:ln/>
        </p:spPr>
        <p:txBody>
          <a:bodyPr wrap="square" rtlCol="0" anchor="ctr"/>
          <a:lstStyle/>
          <a:p>
            <a:pPr algn="ctr" indent="0" marL="0">
              <a:buNone/>
            </a:pPr>
            <a:r>
              <a:rPr lang="en-US" sz="900" b="1" dirty="0">
                <a:solidFill>
                  <a:srgbClr val="059669"/>
                </a:solidFill>
                <a:latin typeface="Arial" pitchFamily="34" charset="0"/>
                <a:ea typeface="Arial" pitchFamily="34" charset="-122"/>
                <a:cs typeface="Arial" pitchFamily="34" charset="-120"/>
              </a:rPr>
              <a:t>PILLAR 01</a:t>
            </a:r>
            <a:endParaRPr lang="en-US" sz="900" dirty="0"/>
          </a:p>
        </p:txBody>
      </p:sp>
      <p:sp>
        <p:nvSpPr>
          <p:cNvPr id="10" name="Text 8"/>
          <p:cNvSpPr/>
          <p:nvPr/>
        </p:nvSpPr>
        <p:spPr>
          <a:xfrm>
            <a:off x="1005840" y="2286000"/>
            <a:ext cx="2834640" cy="32004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Micro-Convenience Fee</a:t>
            </a:r>
            <a:endParaRPr lang="en-US" sz="1600" dirty="0"/>
          </a:p>
        </p:txBody>
      </p:sp>
      <p:sp>
        <p:nvSpPr>
          <p:cNvPr id="11" name="Text 9"/>
          <p:cNvSpPr/>
          <p:nvPr/>
        </p:nvSpPr>
        <p:spPr>
          <a:xfrm>
            <a:off x="1005840" y="2606040"/>
            <a:ext cx="283464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Paid by Students per Order</a:t>
            </a:r>
            <a:endParaRPr lang="en-US" sz="1000" dirty="0"/>
          </a:p>
        </p:txBody>
      </p:sp>
      <p:sp>
        <p:nvSpPr>
          <p:cNvPr id="12" name="Shape 10"/>
          <p:cNvSpPr/>
          <p:nvPr/>
        </p:nvSpPr>
        <p:spPr>
          <a:xfrm>
            <a:off x="1005840" y="2926080"/>
            <a:ext cx="2834640" cy="411480"/>
          </a:xfrm>
          <a:prstGeom prst="roundRect">
            <a:avLst>
              <a:gd name="adj" fmla="val 17778"/>
            </a:avLst>
          </a:prstGeom>
          <a:solidFill>
            <a:srgbClr val="ECFDF5"/>
          </a:solidFill>
          <a:ln w="12700">
            <a:solidFill>
              <a:srgbClr val="A7F3D0"/>
            </a:solidFill>
            <a:prstDash val="solid"/>
          </a:ln>
        </p:spPr>
      </p:sp>
      <p:sp>
        <p:nvSpPr>
          <p:cNvPr id="13" name="Text 11"/>
          <p:cNvSpPr/>
          <p:nvPr/>
        </p:nvSpPr>
        <p:spPr>
          <a:xfrm>
            <a:off x="1005840" y="2926080"/>
            <a:ext cx="2834640" cy="411480"/>
          </a:xfrm>
          <a:prstGeom prst="rect">
            <a:avLst/>
          </a:prstGeom>
          <a:noFill/>
          <a:ln/>
        </p:spPr>
        <p:txBody>
          <a:bodyPr wrap="square" rtlCol="0" anchor="ctr"/>
          <a:lstStyle/>
          <a:p>
            <a:pPr algn="ctr" indent="0" marL="0">
              <a:buNone/>
            </a:pPr>
            <a:r>
              <a:rPr lang="en-US" sz="1400" b="1" dirty="0">
                <a:solidFill>
                  <a:srgbClr val="059669"/>
                </a:solidFill>
                <a:latin typeface="Arial" pitchFamily="34" charset="0"/>
                <a:ea typeface="Arial" pitchFamily="34" charset="-122"/>
                <a:cs typeface="Arial" pitchFamily="34" charset="-120"/>
              </a:rPr>
              <a:t>₹2 to ₹3 / order</a:t>
            </a:r>
            <a:endParaRPr lang="en-US" sz="1400" dirty="0"/>
          </a:p>
        </p:txBody>
      </p:sp>
      <p:sp>
        <p:nvSpPr>
          <p:cNvPr id="14" name="Text 12"/>
          <p:cNvSpPr/>
          <p:nvPr/>
        </p:nvSpPr>
        <p:spPr>
          <a:xfrm>
            <a:off x="1005840" y="3474720"/>
            <a:ext cx="2834640" cy="2468880"/>
          </a:xfrm>
          <a:prstGeom prst="rect">
            <a:avLst/>
          </a:prstGeom>
          <a:noFill/>
          <a:ln/>
        </p:spPr>
        <p:txBody>
          <a:bodyPr wrap="square" rtlCol="0" anchor="ctr"/>
          <a:lstStyle/>
          <a:p>
            <a:pPr indent="0" marL="0">
              <a:lnSpc>
                <a:spcPct val="115000"/>
              </a:lnSpc>
              <a:buNone/>
            </a:pPr>
            <a:r>
              <a:rPr lang="en-US" sz="1100" dirty="0">
                <a:solidFill>
                  <a:srgbClr val="334155"/>
                </a:solidFill>
                <a:latin typeface="Arial" pitchFamily="34" charset="0"/>
                <a:ea typeface="Arial" pitchFamily="34" charset="-122"/>
                <a:cs typeface="Arial" pitchFamily="34" charset="-120"/>
              </a:rPr>
              <a:t>Students happily pay a tiny ₹2 to ₹3 convenience fee to skip 20 minutes of standing in chaotic lines.</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Daily Math:</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3,000 orders/day × ₹2.50 avg fee</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₹7,500 daily revenue</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₹1.87 Lakhs monthly platform revenue from just ONE campus!</a:t>
            </a:r>
            <a:endParaRPr lang="en-US" sz="1100" dirty="0"/>
          </a:p>
        </p:txBody>
      </p:sp>
      <p:sp>
        <p:nvSpPr>
          <p:cNvPr id="15" name="Shape 13"/>
          <p:cNvSpPr/>
          <p:nvPr/>
        </p:nvSpPr>
        <p:spPr>
          <a:xfrm>
            <a:off x="4389120" y="1737360"/>
            <a:ext cx="3383280" cy="4434840"/>
          </a:xfrm>
          <a:prstGeom prst="roundRect">
            <a:avLst>
              <a:gd name="adj" fmla="val 3243"/>
            </a:avLst>
          </a:prstGeom>
          <a:solidFill>
            <a:srgbClr val="FFFFFF"/>
          </a:solidFill>
          <a:ln w="19050">
            <a:solidFill>
              <a:srgbClr val="BFDBFE"/>
            </a:solidFill>
            <a:prstDash val="solid"/>
          </a:ln>
        </p:spPr>
      </p:sp>
      <p:sp>
        <p:nvSpPr>
          <p:cNvPr id="16" name="Shape 14"/>
          <p:cNvSpPr/>
          <p:nvPr/>
        </p:nvSpPr>
        <p:spPr>
          <a:xfrm>
            <a:off x="4663440" y="1920240"/>
            <a:ext cx="1371600" cy="274320"/>
          </a:xfrm>
          <a:prstGeom prst="roundRect">
            <a:avLst>
              <a:gd name="adj" fmla="val 26667"/>
            </a:avLst>
          </a:prstGeom>
          <a:solidFill>
            <a:srgbClr val="EFF6FF"/>
          </a:solidFill>
          <a:ln w="12700">
            <a:solidFill>
              <a:srgbClr val="BFDBFE"/>
            </a:solidFill>
            <a:prstDash val="solid"/>
          </a:ln>
        </p:spPr>
      </p:sp>
      <p:sp>
        <p:nvSpPr>
          <p:cNvPr id="17" name="Text 15"/>
          <p:cNvSpPr/>
          <p:nvPr/>
        </p:nvSpPr>
        <p:spPr>
          <a:xfrm>
            <a:off x="4663440" y="1920240"/>
            <a:ext cx="1371600" cy="274320"/>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PILLAR 02</a:t>
            </a:r>
            <a:endParaRPr lang="en-US" sz="900" dirty="0"/>
          </a:p>
        </p:txBody>
      </p:sp>
      <p:sp>
        <p:nvSpPr>
          <p:cNvPr id="18" name="Text 16"/>
          <p:cNvSpPr/>
          <p:nvPr/>
        </p:nvSpPr>
        <p:spPr>
          <a:xfrm>
            <a:off x="4663440" y="2286000"/>
            <a:ext cx="2834640" cy="32004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Canteen SaaS &amp; Commission</a:t>
            </a:r>
            <a:endParaRPr lang="en-US" sz="1600" dirty="0"/>
          </a:p>
        </p:txBody>
      </p:sp>
      <p:sp>
        <p:nvSpPr>
          <p:cNvPr id="19" name="Text 17"/>
          <p:cNvSpPr/>
          <p:nvPr/>
        </p:nvSpPr>
        <p:spPr>
          <a:xfrm>
            <a:off x="4663440" y="2606040"/>
            <a:ext cx="283464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Paid by Canteen Operators</a:t>
            </a:r>
            <a:endParaRPr lang="en-US" sz="1000" dirty="0"/>
          </a:p>
        </p:txBody>
      </p:sp>
      <p:sp>
        <p:nvSpPr>
          <p:cNvPr id="20" name="Shape 18"/>
          <p:cNvSpPr/>
          <p:nvPr/>
        </p:nvSpPr>
        <p:spPr>
          <a:xfrm>
            <a:off x="4663440" y="2926080"/>
            <a:ext cx="2834640" cy="411480"/>
          </a:xfrm>
          <a:prstGeom prst="roundRect">
            <a:avLst>
              <a:gd name="adj" fmla="val 17778"/>
            </a:avLst>
          </a:prstGeom>
          <a:solidFill>
            <a:srgbClr val="EFF6FF"/>
          </a:solidFill>
          <a:ln w="12700">
            <a:solidFill>
              <a:srgbClr val="BFDBFE"/>
            </a:solidFill>
            <a:prstDash val="solid"/>
          </a:ln>
        </p:spPr>
      </p:sp>
      <p:sp>
        <p:nvSpPr>
          <p:cNvPr id="21" name="Text 19"/>
          <p:cNvSpPr/>
          <p:nvPr/>
        </p:nvSpPr>
        <p:spPr>
          <a:xfrm>
            <a:off x="4663440" y="2926080"/>
            <a:ext cx="2834640" cy="411480"/>
          </a:xfrm>
          <a:prstGeom prst="rect">
            <a:avLst/>
          </a:prstGeom>
          <a:noFill/>
          <a:ln/>
        </p:spPr>
        <p:txBody>
          <a:bodyPr wrap="square" rtlCol="0" anchor="ctr"/>
          <a:lstStyle/>
          <a:p>
            <a:pPr algn="ctr" indent="0" marL="0">
              <a:buNone/>
            </a:pPr>
            <a:r>
              <a:rPr lang="en-US" sz="1400" b="1" dirty="0">
                <a:solidFill>
                  <a:srgbClr val="2563EB"/>
                </a:solidFill>
                <a:latin typeface="Arial" pitchFamily="34" charset="0"/>
                <a:ea typeface="Arial" pitchFamily="34" charset="-122"/>
                <a:cs typeface="Arial" pitchFamily="34" charset="-120"/>
              </a:rPr>
              <a:t>3% - 5% Commission</a:t>
            </a:r>
            <a:endParaRPr lang="en-US" sz="1400" dirty="0"/>
          </a:p>
        </p:txBody>
      </p:sp>
      <p:sp>
        <p:nvSpPr>
          <p:cNvPr id="22" name="Text 20"/>
          <p:cNvSpPr/>
          <p:nvPr/>
        </p:nvSpPr>
        <p:spPr>
          <a:xfrm>
            <a:off x="4663440" y="3474720"/>
            <a:ext cx="2834640" cy="2468880"/>
          </a:xfrm>
          <a:prstGeom prst="rect">
            <a:avLst/>
          </a:prstGeom>
          <a:noFill/>
          <a:ln/>
        </p:spPr>
        <p:txBody>
          <a:bodyPr wrap="square" rtlCol="0" anchor="ctr"/>
          <a:lstStyle/>
          <a:p>
            <a:pPr indent="0" marL="0">
              <a:lnSpc>
                <a:spcPct val="115000"/>
              </a:lnSpc>
              <a:buNone/>
            </a:pPr>
            <a:r>
              <a:rPr lang="en-US" sz="1100" dirty="0">
                <a:solidFill>
                  <a:srgbClr val="334155"/>
                </a:solidFill>
                <a:latin typeface="Arial" pitchFamily="34" charset="0"/>
                <a:ea typeface="Arial" pitchFamily="34" charset="-122"/>
                <a:cs typeface="Arial" pitchFamily="34" charset="-120"/>
              </a:rPr>
              <a:t>Canteens pay a small software commission because FoodLine boosts their daily order processing capacity by 40%.</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Turnover Growth:</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Faster counter throughput generates ₹35,000+ extra monthly net profit for the canteen owner with zero extra staff.</a:t>
            </a:r>
            <a:endParaRPr lang="en-US" sz="1100" dirty="0"/>
          </a:p>
        </p:txBody>
      </p:sp>
      <p:sp>
        <p:nvSpPr>
          <p:cNvPr id="23" name="Shape 21"/>
          <p:cNvSpPr/>
          <p:nvPr/>
        </p:nvSpPr>
        <p:spPr>
          <a:xfrm>
            <a:off x="8046720" y="1737360"/>
            <a:ext cx="3383280" cy="4434840"/>
          </a:xfrm>
          <a:prstGeom prst="roundRect">
            <a:avLst>
              <a:gd name="adj" fmla="val 3243"/>
            </a:avLst>
          </a:prstGeom>
          <a:solidFill>
            <a:srgbClr val="FFFFFF"/>
          </a:solidFill>
          <a:ln w="19050">
            <a:solidFill>
              <a:srgbClr val="FDE68A"/>
            </a:solidFill>
            <a:prstDash val="solid"/>
          </a:ln>
        </p:spPr>
      </p:sp>
      <p:sp>
        <p:nvSpPr>
          <p:cNvPr id="24" name="Shape 22"/>
          <p:cNvSpPr/>
          <p:nvPr/>
        </p:nvSpPr>
        <p:spPr>
          <a:xfrm>
            <a:off x="8321040" y="1920240"/>
            <a:ext cx="1371600" cy="274320"/>
          </a:xfrm>
          <a:prstGeom prst="roundRect">
            <a:avLst>
              <a:gd name="adj" fmla="val 26667"/>
            </a:avLst>
          </a:prstGeom>
          <a:solidFill>
            <a:srgbClr val="FFFBEB"/>
          </a:solidFill>
          <a:ln w="12700">
            <a:solidFill>
              <a:srgbClr val="FDE68A"/>
            </a:solidFill>
            <a:prstDash val="solid"/>
          </a:ln>
        </p:spPr>
      </p:sp>
      <p:sp>
        <p:nvSpPr>
          <p:cNvPr id="25" name="Text 23"/>
          <p:cNvSpPr/>
          <p:nvPr/>
        </p:nvSpPr>
        <p:spPr>
          <a:xfrm>
            <a:off x="8321040" y="1920240"/>
            <a:ext cx="1371600" cy="274320"/>
          </a:xfrm>
          <a:prstGeom prst="rect">
            <a:avLst/>
          </a:prstGeom>
          <a:noFill/>
          <a:ln/>
        </p:spPr>
        <p:txBody>
          <a:bodyPr wrap="square" rtlCol="0" anchor="ctr"/>
          <a:lstStyle/>
          <a:p>
            <a:pPr algn="ctr" indent="0" marL="0">
              <a:buNone/>
            </a:pPr>
            <a:r>
              <a:rPr lang="en-US" sz="900" b="1" dirty="0">
                <a:solidFill>
                  <a:srgbClr val="D97706"/>
                </a:solidFill>
                <a:latin typeface="Arial" pitchFamily="34" charset="0"/>
                <a:ea typeface="Arial" pitchFamily="34" charset="-122"/>
                <a:cs typeface="Arial" pitchFamily="34" charset="-120"/>
              </a:rPr>
              <a:t>PILLAR 03</a:t>
            </a:r>
            <a:endParaRPr lang="en-US" sz="900" dirty="0"/>
          </a:p>
        </p:txBody>
      </p:sp>
      <p:sp>
        <p:nvSpPr>
          <p:cNvPr id="26" name="Text 24"/>
          <p:cNvSpPr/>
          <p:nvPr/>
        </p:nvSpPr>
        <p:spPr>
          <a:xfrm>
            <a:off x="8321040" y="2286000"/>
            <a:ext cx="2834640" cy="32004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Campus Brand Partnerships</a:t>
            </a:r>
            <a:endParaRPr lang="en-US" sz="1600" dirty="0"/>
          </a:p>
        </p:txBody>
      </p:sp>
      <p:sp>
        <p:nvSpPr>
          <p:cNvPr id="27" name="Text 25"/>
          <p:cNvSpPr/>
          <p:nvPr/>
        </p:nvSpPr>
        <p:spPr>
          <a:xfrm>
            <a:off x="8321040" y="2606040"/>
            <a:ext cx="283464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Sponsored Perks &amp; Sampling</a:t>
            </a:r>
            <a:endParaRPr lang="en-US" sz="1000" dirty="0"/>
          </a:p>
        </p:txBody>
      </p:sp>
      <p:sp>
        <p:nvSpPr>
          <p:cNvPr id="28" name="Shape 26"/>
          <p:cNvSpPr/>
          <p:nvPr/>
        </p:nvSpPr>
        <p:spPr>
          <a:xfrm>
            <a:off x="8321040" y="2926080"/>
            <a:ext cx="2834640" cy="411480"/>
          </a:xfrm>
          <a:prstGeom prst="roundRect">
            <a:avLst>
              <a:gd name="adj" fmla="val 17778"/>
            </a:avLst>
          </a:prstGeom>
          <a:solidFill>
            <a:srgbClr val="FFFBEB"/>
          </a:solidFill>
          <a:ln w="12700">
            <a:solidFill>
              <a:srgbClr val="FDE68A"/>
            </a:solidFill>
            <a:prstDash val="solid"/>
          </a:ln>
        </p:spPr>
      </p:sp>
      <p:sp>
        <p:nvSpPr>
          <p:cNvPr id="29" name="Text 27"/>
          <p:cNvSpPr/>
          <p:nvPr/>
        </p:nvSpPr>
        <p:spPr>
          <a:xfrm>
            <a:off x="8321040" y="2926080"/>
            <a:ext cx="2834640" cy="411480"/>
          </a:xfrm>
          <a:prstGeom prst="rect">
            <a:avLst/>
          </a:prstGeom>
          <a:noFill/>
          <a:ln/>
        </p:spPr>
        <p:txBody>
          <a:bodyPr wrap="square" rtlCol="0" anchor="ctr"/>
          <a:lstStyle/>
          <a:p>
            <a:pPr algn="ctr" indent="0" marL="0">
              <a:buNone/>
            </a:pPr>
            <a:r>
              <a:rPr lang="en-US" sz="1400" b="1" dirty="0">
                <a:solidFill>
                  <a:srgbClr val="D97706"/>
                </a:solidFill>
                <a:latin typeface="Arial" pitchFamily="34" charset="0"/>
                <a:ea typeface="Arial" pitchFamily="34" charset="-122"/>
                <a:cs typeface="Arial" pitchFamily="34" charset="-120"/>
              </a:rPr>
              <a:t>100% Asset-Light</a:t>
            </a:r>
            <a:endParaRPr lang="en-US" sz="1400" dirty="0"/>
          </a:p>
        </p:txBody>
      </p:sp>
      <p:sp>
        <p:nvSpPr>
          <p:cNvPr id="30" name="Text 28"/>
          <p:cNvSpPr/>
          <p:nvPr/>
        </p:nvSpPr>
        <p:spPr>
          <a:xfrm>
            <a:off x="8321040" y="3474720"/>
            <a:ext cx="2834640" cy="2468880"/>
          </a:xfrm>
          <a:prstGeom prst="rect">
            <a:avLst/>
          </a:prstGeom>
          <a:noFill/>
          <a:ln/>
        </p:spPr>
        <p:txBody>
          <a:bodyPr wrap="square" rtlCol="0" anchor="ctr"/>
          <a:lstStyle/>
          <a:p>
            <a:pPr indent="0" marL="0">
              <a:lnSpc>
                <a:spcPct val="115000"/>
              </a:lnSpc>
              <a:buNone/>
            </a:pPr>
            <a:r>
              <a:rPr lang="en-US" sz="1100" dirty="0">
                <a:solidFill>
                  <a:srgbClr val="334155"/>
                </a:solidFill>
                <a:latin typeface="Arial" pitchFamily="34" charset="0"/>
                <a:ea typeface="Arial" pitchFamily="34" charset="-122"/>
                <a:cs typeface="Arial" pitchFamily="34" charset="-120"/>
              </a:rPr>
              <a:t>National FMCG brands, beverage giants, and campus student deals pay for featured slots and coupon drops.</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Zero Fleet Capex:</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Zero delivery bikes, zero fuel bills, zero drivers to insure. FoodLine is a 100% asset-light software rail connecting students to kitchens.</a:t>
            </a:r>
            <a:endParaRPr lang="en-US" sz="1100" dirty="0"/>
          </a:p>
        </p:txBody>
      </p:sp>
      <p:sp>
        <p:nvSpPr>
          <p:cNvPr id="31" name="Text 29"/>
          <p:cNvSpPr/>
          <p:nvPr/>
        </p:nvSpPr>
        <p:spPr>
          <a:xfrm>
            <a:off x="731520" y="6446520"/>
            <a:ext cx="5486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FoodLine Campus • Master Pitch Deck 2026</a:t>
            </a:r>
            <a:endParaRPr lang="en-US" sz="900" dirty="0"/>
          </a:p>
        </p:txBody>
      </p:sp>
      <p:sp>
        <p:nvSpPr>
          <p:cNvPr id="32" name="Text 30"/>
          <p:cNvSpPr/>
          <p:nvPr/>
        </p:nvSpPr>
        <p:spPr>
          <a:xfrm>
            <a:off x="9144000" y="64465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926080" cy="292608"/>
          </a:xfrm>
          <a:prstGeom prst="roundRect">
            <a:avLst>
              <a:gd name="adj" fmla="val 25000"/>
            </a:avLst>
          </a:prstGeom>
          <a:solidFill>
            <a:srgbClr val="ECFDF5"/>
          </a:solidFill>
          <a:ln w="12700">
            <a:solidFill>
              <a:srgbClr val="A7F3D0"/>
            </a:solidFill>
            <a:prstDash val="solid"/>
          </a:ln>
        </p:spPr>
      </p:sp>
      <p:sp>
        <p:nvSpPr>
          <p:cNvPr id="3" name="Text 1"/>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PROVEN UNIT ECONOMICS</a:t>
            </a:r>
            <a:endParaRPr lang="en-US" sz="1000" dirty="0"/>
          </a:p>
        </p:txBody>
      </p:sp>
      <p:sp>
        <p:nvSpPr>
          <p:cNvPr id="4" name="Text 2"/>
          <p:cNvSpPr/>
          <p:nvPr/>
        </p:nvSpPr>
        <p:spPr>
          <a:xfrm>
            <a:off x="9144000" y="411480"/>
            <a:ext cx="2286000" cy="292608"/>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FOODLINE CAMPUS</a:t>
            </a:r>
            <a:endParaRPr lang="en-US" sz="1000" dirty="0"/>
          </a:p>
        </p:txBody>
      </p:sp>
      <p:sp>
        <p:nvSpPr>
          <p:cNvPr id="5" name="Text 3"/>
          <p:cNvSpPr/>
          <p:nvPr/>
        </p:nvSpPr>
        <p:spPr>
          <a:xfrm>
            <a:off x="731520" y="777240"/>
            <a:ext cx="10698480" cy="50292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The Math Behind the Campus Model (Single Campus Benchmark)</a:t>
            </a:r>
            <a:endParaRPr lang="en-US" sz="2400" dirty="0"/>
          </a:p>
        </p:txBody>
      </p:sp>
      <p:sp>
        <p:nvSpPr>
          <p:cNvPr id="6" name="Text 4"/>
          <p:cNvSpPr/>
          <p:nvPr/>
        </p:nvSpPr>
        <p:spPr>
          <a:xfrm>
            <a:off x="731520" y="1280160"/>
            <a:ext cx="10698480" cy="347472"/>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"Real numbers modeled from a typical 5,000 to 8,000 student university campus."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737360"/>
          <a:ext cx="6217920" cy="3200400"/>
        </p:xfrm>
        <a:graphic>
          <a:graphicData uri="http://schemas.openxmlformats.org/drawingml/2006/table">
            <a:tbl>
              <a:tblPr/>
              <a:tblGrid>
                <a:gridCol w="3474720"/>
                <a:gridCol w="2743200"/>
              </a:tblGrid>
              <a:tr h="457200">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CAMPUS OPERATIONAL METRIC</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59669"/>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BENCHMARK VALUE</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59669"/>
                    </a:solidFill>
                  </a:tcPr>
                </a:tc>
              </a:tr>
              <a:tr h="457200">
                <a:tc>
                  <a:txBody>
                    <a:bodyPr/>
                    <a:lstStyle/>
                    <a:p>
                      <a:pPr indent="0" marL="0">
                        <a:buNone/>
                      </a:pPr>
                      <a:r>
                        <a:rPr lang="en-US" sz="1100" b="1" dirty="0">
                          <a:solidFill>
                            <a:srgbClr val="0F172A"/>
                          </a:solidFill>
                          <a:latin typeface="Arial" pitchFamily="34" charset="0"/>
                          <a:ea typeface="Arial" pitchFamily="34" charset="-122"/>
                          <a:cs typeface="Arial" pitchFamily="34" charset="-120"/>
                        </a:rPr>
                        <a:t>Total Students on Campus</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Arial" pitchFamily="34" charset="0"/>
                          <a:ea typeface="Arial" pitchFamily="34" charset="-122"/>
                          <a:cs typeface="Arial" pitchFamily="34" charset="-120"/>
                        </a:rPr>
                        <a:t>5,000 – 8,000 Students</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172A"/>
                          </a:solidFill>
                          <a:latin typeface="Arial" pitchFamily="34" charset="0"/>
                          <a:ea typeface="Arial" pitchFamily="34" charset="-122"/>
                          <a:cs typeface="Arial" pitchFamily="34" charset="-120"/>
                        </a:rPr>
                        <a:t>Daily Food &amp; Snack Orders</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Arial" pitchFamily="34" charset="0"/>
                          <a:ea typeface="Arial" pitchFamily="34" charset="-122"/>
                          <a:cs typeface="Arial" pitchFamily="34" charset="-120"/>
                        </a:rPr>
                        <a:t>2,500 Orders / Day</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172A"/>
                          </a:solidFill>
                          <a:latin typeface="Arial" pitchFamily="34" charset="0"/>
                          <a:ea typeface="Arial" pitchFamily="34" charset="-122"/>
                          <a:cs typeface="Arial" pitchFamily="34" charset="-120"/>
                        </a:rPr>
                        <a:t>Average Order Value (AOV)</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Arial" pitchFamily="34" charset="0"/>
                          <a:ea typeface="Arial" pitchFamily="34" charset="-122"/>
                          <a:cs typeface="Arial" pitchFamily="34" charset="-120"/>
                        </a:rPr>
                        <a:t>₹45 (Tea, Vada Pav, Thali, Sandwich)</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172A"/>
                          </a:solidFill>
                          <a:latin typeface="Arial" pitchFamily="34" charset="0"/>
                          <a:ea typeface="Arial" pitchFamily="34" charset="-122"/>
                          <a:cs typeface="Arial" pitchFamily="34" charset="-120"/>
                        </a:rPr>
                        <a:t>Daily Gross Merchandise Value (GMV)</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059669"/>
                          </a:solidFill>
                          <a:latin typeface="Arial" pitchFamily="34" charset="0"/>
                          <a:ea typeface="Arial" pitchFamily="34" charset="-122"/>
                          <a:cs typeface="Arial" pitchFamily="34" charset="-120"/>
                        </a:rPr>
                        <a:t>₹1,12,500 / Day</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172A"/>
                          </a:solidFill>
                          <a:latin typeface="Arial" pitchFamily="34" charset="0"/>
                          <a:ea typeface="Arial" pitchFamily="34" charset="-122"/>
                          <a:cs typeface="Arial" pitchFamily="34" charset="-120"/>
                        </a:rPr>
                        <a:t>Monthly Platform GMV (25 operational days)</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059669"/>
                          </a:solidFill>
                          <a:latin typeface="Arial" pitchFamily="34" charset="0"/>
                          <a:ea typeface="Arial" pitchFamily="34" charset="-122"/>
                          <a:cs typeface="Arial" pitchFamily="34" charset="-120"/>
                        </a:rPr>
                        <a:t>₹28,12,500 / Month</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172A"/>
                          </a:solidFill>
                          <a:latin typeface="Arial" pitchFamily="34" charset="0"/>
                          <a:ea typeface="Arial" pitchFamily="34" charset="-122"/>
                          <a:cs typeface="Arial" pitchFamily="34" charset="-120"/>
                        </a:rPr>
                        <a:t>Monthly Platform Revenue (Fees + SaaS)</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059669"/>
                          </a:solidFill>
                          <a:latin typeface="Arial" pitchFamily="34" charset="0"/>
                          <a:ea typeface="Arial" pitchFamily="34" charset="-122"/>
                          <a:cs typeface="Arial" pitchFamily="34" charset="-120"/>
                        </a:rPr>
                        <a:t>₹1,50,000 – ₹2,25,000 / Campus</a:t>
                      </a:r>
                      <a:endParaRPr lang="en-US" sz="11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Shape 5"/>
          <p:cNvSpPr/>
          <p:nvPr/>
        </p:nvSpPr>
        <p:spPr>
          <a:xfrm>
            <a:off x="731520" y="5120640"/>
            <a:ext cx="6217920" cy="1051560"/>
          </a:xfrm>
          <a:prstGeom prst="roundRect">
            <a:avLst>
              <a:gd name="adj" fmla="val 8696"/>
            </a:avLst>
          </a:prstGeom>
          <a:solidFill>
            <a:srgbClr val="ECFDF5"/>
          </a:solidFill>
          <a:ln w="12700">
            <a:solidFill>
              <a:srgbClr val="A7F3D0"/>
            </a:solidFill>
            <a:prstDash val="solid"/>
          </a:ln>
        </p:spPr>
      </p:sp>
      <p:sp>
        <p:nvSpPr>
          <p:cNvPr id="9" name="Text 6"/>
          <p:cNvSpPr/>
          <p:nvPr/>
        </p:nvSpPr>
        <p:spPr>
          <a:xfrm>
            <a:off x="914400" y="5212080"/>
            <a:ext cx="5852160" cy="228600"/>
          </a:xfrm>
          <a:prstGeom prst="rect">
            <a:avLst/>
          </a:prstGeom>
          <a:noFill/>
          <a:ln/>
        </p:spPr>
        <p:txBody>
          <a:bodyPr wrap="square" rtlCol="0" anchor="ctr"/>
          <a:lstStyle/>
          <a:p>
            <a:pPr indent="0" marL="0">
              <a:buNone/>
            </a:pPr>
            <a:r>
              <a:rPr lang="en-US" sz="1000" b="1" dirty="0">
                <a:solidFill>
                  <a:srgbClr val="059669"/>
                </a:solidFill>
                <a:latin typeface="Arial" pitchFamily="34" charset="0"/>
                <a:ea typeface="Arial" pitchFamily="34" charset="-122"/>
                <a:cs typeface="Arial" pitchFamily="34" charset="-120"/>
              </a:rPr>
              <a:t>HIGH-FREQUENCY CAPTIVE AUDIENCE:</a:t>
            </a:r>
            <a:endParaRPr lang="en-US" sz="1000" dirty="0"/>
          </a:p>
        </p:txBody>
      </p:sp>
      <p:sp>
        <p:nvSpPr>
          <p:cNvPr id="10" name="Text 7"/>
          <p:cNvSpPr/>
          <p:nvPr/>
        </p:nvSpPr>
        <p:spPr>
          <a:xfrm>
            <a:off x="914400" y="5440680"/>
            <a:ext cx="5852160" cy="64008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College students attend campus 22 to 26 days per month and eat 2 to 3 times per day. Unlike city apps with volatile retention, campus density ensures immediate organic repeat usage without costly discount subsidies.</a:t>
            </a:r>
            <a:endParaRPr lang="en-US" sz="1100" dirty="0"/>
          </a:p>
        </p:txBody>
      </p:sp>
      <p:sp>
        <p:nvSpPr>
          <p:cNvPr id="11" name="Shape 8"/>
          <p:cNvSpPr/>
          <p:nvPr/>
        </p:nvSpPr>
        <p:spPr>
          <a:xfrm>
            <a:off x="7223760" y="1737360"/>
            <a:ext cx="4206240" cy="4434840"/>
          </a:xfrm>
          <a:prstGeom prst="roundRect">
            <a:avLst>
              <a:gd name="adj" fmla="val 2609"/>
            </a:avLst>
          </a:prstGeom>
          <a:solidFill>
            <a:srgbClr val="FFFFFF"/>
          </a:solidFill>
          <a:ln w="19050">
            <a:solidFill>
              <a:srgbClr val="E2E8F0"/>
            </a:solidFill>
            <a:prstDash val="solid"/>
          </a:ln>
        </p:spPr>
      </p:sp>
      <p:sp>
        <p:nvSpPr>
          <p:cNvPr id="12" name="Shape 9"/>
          <p:cNvSpPr/>
          <p:nvPr/>
        </p:nvSpPr>
        <p:spPr>
          <a:xfrm>
            <a:off x="7498080" y="1965960"/>
            <a:ext cx="3657600" cy="320040"/>
          </a:xfrm>
          <a:prstGeom prst="roundRect">
            <a:avLst>
              <a:gd name="adj" fmla="val 22857"/>
            </a:avLst>
          </a:prstGeom>
          <a:solidFill>
            <a:srgbClr val="FFFBEB"/>
          </a:solidFill>
          <a:ln w="12700">
            <a:solidFill>
              <a:srgbClr val="FDE68A"/>
            </a:solidFill>
            <a:prstDash val="solid"/>
          </a:ln>
        </p:spPr>
      </p:sp>
      <p:sp>
        <p:nvSpPr>
          <p:cNvPr id="13" name="Text 10"/>
          <p:cNvSpPr/>
          <p:nvPr/>
        </p:nvSpPr>
        <p:spPr>
          <a:xfrm>
            <a:off x="7498080" y="1965960"/>
            <a:ext cx="365760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CAPEX &amp; CAPITAL EFFICIENCY</a:t>
            </a:r>
            <a:endParaRPr lang="en-US" sz="1000" dirty="0"/>
          </a:p>
        </p:txBody>
      </p:sp>
      <p:sp>
        <p:nvSpPr>
          <p:cNvPr id="14" name="Text 11"/>
          <p:cNvSpPr/>
          <p:nvPr/>
        </p:nvSpPr>
        <p:spPr>
          <a:xfrm>
            <a:off x="7498080" y="2423160"/>
            <a:ext cx="3657600" cy="228600"/>
          </a:xfrm>
          <a:prstGeom prst="rect">
            <a:avLst/>
          </a:prstGeom>
          <a:noFill/>
          <a:ln/>
        </p:spPr>
        <p:txBody>
          <a:bodyPr wrap="square" rtlCol="0" anchor="ctr"/>
          <a:lstStyle/>
          <a:p>
            <a:pPr indent="0" marL="0">
              <a:buNone/>
            </a:pPr>
            <a:r>
              <a:rPr lang="en-US" sz="1000" b="1" dirty="0">
                <a:solidFill>
                  <a:srgbClr val="64748B"/>
                </a:solidFill>
                <a:latin typeface="Arial" pitchFamily="34" charset="0"/>
                <a:ea typeface="Arial" pitchFamily="34" charset="-122"/>
                <a:cs typeface="Arial" pitchFamily="34" charset="-120"/>
              </a:rPr>
              <a:t>Kitchen Hardware Setup:</a:t>
            </a:r>
            <a:endParaRPr lang="en-US" sz="1000" dirty="0"/>
          </a:p>
        </p:txBody>
      </p:sp>
      <p:sp>
        <p:nvSpPr>
          <p:cNvPr id="15" name="Text 12"/>
          <p:cNvSpPr/>
          <p:nvPr/>
        </p:nvSpPr>
        <p:spPr>
          <a:xfrm>
            <a:off x="7498080" y="2651760"/>
            <a:ext cx="3657600" cy="41148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Under ₹15,000 (1 Android Tablet + Soundbox)</a:t>
            </a:r>
            <a:endParaRPr lang="en-US" sz="1200" dirty="0"/>
          </a:p>
        </p:txBody>
      </p:sp>
      <p:sp>
        <p:nvSpPr>
          <p:cNvPr id="16" name="Text 13"/>
          <p:cNvSpPr/>
          <p:nvPr/>
        </p:nvSpPr>
        <p:spPr>
          <a:xfrm>
            <a:off x="7498080" y="3108960"/>
            <a:ext cx="3657600" cy="228600"/>
          </a:xfrm>
          <a:prstGeom prst="rect">
            <a:avLst/>
          </a:prstGeom>
          <a:noFill/>
          <a:ln/>
        </p:spPr>
        <p:txBody>
          <a:bodyPr wrap="square" rtlCol="0" anchor="ctr"/>
          <a:lstStyle/>
          <a:p>
            <a:pPr indent="0" marL="0">
              <a:buNone/>
            </a:pPr>
            <a:r>
              <a:rPr lang="en-US" sz="1000" b="1" dirty="0">
                <a:solidFill>
                  <a:srgbClr val="64748B"/>
                </a:solidFill>
                <a:latin typeface="Arial" pitchFamily="34" charset="0"/>
                <a:ea typeface="Arial" pitchFamily="34" charset="-122"/>
                <a:cs typeface="Arial" pitchFamily="34" charset="-120"/>
              </a:rPr>
              <a:t>Customer Acquisition Cost:</a:t>
            </a:r>
            <a:endParaRPr lang="en-US" sz="1000" dirty="0"/>
          </a:p>
        </p:txBody>
      </p:sp>
      <p:sp>
        <p:nvSpPr>
          <p:cNvPr id="17" name="Text 14"/>
          <p:cNvSpPr/>
          <p:nvPr/>
        </p:nvSpPr>
        <p:spPr>
          <a:xfrm>
            <a:off x="7498080" y="3337560"/>
            <a:ext cx="3657600" cy="41148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Near ₹0 (Physical campus posters &amp; word-of-mouth)</a:t>
            </a:r>
            <a:endParaRPr lang="en-US" sz="1200" dirty="0"/>
          </a:p>
        </p:txBody>
      </p:sp>
      <p:sp>
        <p:nvSpPr>
          <p:cNvPr id="18" name="Text 15"/>
          <p:cNvSpPr/>
          <p:nvPr/>
        </p:nvSpPr>
        <p:spPr>
          <a:xfrm>
            <a:off x="7498080" y="3794760"/>
            <a:ext cx="3657600" cy="228600"/>
          </a:xfrm>
          <a:prstGeom prst="rect">
            <a:avLst/>
          </a:prstGeom>
          <a:noFill/>
          <a:ln/>
        </p:spPr>
        <p:txBody>
          <a:bodyPr wrap="square" rtlCol="0" anchor="ctr"/>
          <a:lstStyle/>
          <a:p>
            <a:pPr indent="0" marL="0">
              <a:buNone/>
            </a:pPr>
            <a:r>
              <a:rPr lang="en-US" sz="1000" b="1" dirty="0">
                <a:solidFill>
                  <a:srgbClr val="64748B"/>
                </a:solidFill>
                <a:latin typeface="Arial" pitchFamily="34" charset="0"/>
                <a:ea typeface="Arial" pitchFamily="34" charset="-122"/>
                <a:cs typeface="Arial" pitchFamily="34" charset="-120"/>
              </a:rPr>
              <a:t>Kitchen Payback Period:</a:t>
            </a:r>
            <a:endParaRPr lang="en-US" sz="1000" dirty="0"/>
          </a:p>
        </p:txBody>
      </p:sp>
      <p:sp>
        <p:nvSpPr>
          <p:cNvPr id="19" name="Text 16"/>
          <p:cNvSpPr/>
          <p:nvPr/>
        </p:nvSpPr>
        <p:spPr>
          <a:xfrm>
            <a:off x="7498080" y="4023360"/>
            <a:ext cx="3657600" cy="41148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Under 30 Days per outlet!</a:t>
            </a:r>
            <a:endParaRPr lang="en-US" sz="1200" dirty="0"/>
          </a:p>
        </p:txBody>
      </p:sp>
      <p:sp>
        <p:nvSpPr>
          <p:cNvPr id="20" name="Text 17"/>
          <p:cNvSpPr/>
          <p:nvPr/>
        </p:nvSpPr>
        <p:spPr>
          <a:xfrm>
            <a:off x="7498080" y="4480560"/>
            <a:ext cx="3657600" cy="228600"/>
          </a:xfrm>
          <a:prstGeom prst="rect">
            <a:avLst/>
          </a:prstGeom>
          <a:noFill/>
          <a:ln/>
        </p:spPr>
        <p:txBody>
          <a:bodyPr wrap="square" rtlCol="0" anchor="ctr"/>
          <a:lstStyle/>
          <a:p>
            <a:pPr indent="0" marL="0">
              <a:buNone/>
            </a:pPr>
            <a:r>
              <a:rPr lang="en-US" sz="1000" b="1" dirty="0">
                <a:solidFill>
                  <a:srgbClr val="64748B"/>
                </a:solidFill>
                <a:latin typeface="Arial" pitchFamily="34" charset="0"/>
                <a:ea typeface="Arial" pitchFamily="34" charset="-122"/>
                <a:cs typeface="Arial" pitchFamily="34" charset="-120"/>
              </a:rPr>
              <a:t>Gross Margin on Platform Fees:</a:t>
            </a:r>
            <a:endParaRPr lang="en-US" sz="1000" dirty="0"/>
          </a:p>
        </p:txBody>
      </p:sp>
      <p:sp>
        <p:nvSpPr>
          <p:cNvPr id="21" name="Text 18"/>
          <p:cNvSpPr/>
          <p:nvPr/>
        </p:nvSpPr>
        <p:spPr>
          <a:xfrm>
            <a:off x="7498080" y="4709160"/>
            <a:ext cx="3657600" cy="41148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88% – 92% (Asset-light software rail)</a:t>
            </a:r>
            <a:endParaRPr lang="en-US" sz="1200" dirty="0"/>
          </a:p>
        </p:txBody>
      </p:sp>
      <p:sp>
        <p:nvSpPr>
          <p:cNvPr id="22" name="Text 19"/>
          <p:cNvSpPr/>
          <p:nvPr/>
        </p:nvSpPr>
        <p:spPr>
          <a:xfrm>
            <a:off x="7498080" y="5166360"/>
            <a:ext cx="3657600" cy="228600"/>
          </a:xfrm>
          <a:prstGeom prst="rect">
            <a:avLst/>
          </a:prstGeom>
          <a:noFill/>
          <a:ln/>
        </p:spPr>
        <p:txBody>
          <a:bodyPr wrap="square" rtlCol="0" anchor="ctr"/>
          <a:lstStyle/>
          <a:p>
            <a:pPr indent="0" marL="0">
              <a:buNone/>
            </a:pPr>
            <a:r>
              <a:rPr lang="en-US" sz="1000" b="1" dirty="0">
                <a:solidFill>
                  <a:srgbClr val="64748B"/>
                </a:solidFill>
                <a:latin typeface="Arial" pitchFamily="34" charset="0"/>
                <a:ea typeface="Arial" pitchFamily="34" charset="-122"/>
                <a:cs typeface="Arial" pitchFamily="34" charset="-120"/>
              </a:rPr>
              <a:t>50-Campus Scale Projection:</a:t>
            </a:r>
            <a:endParaRPr lang="en-US" sz="1000" dirty="0"/>
          </a:p>
        </p:txBody>
      </p:sp>
      <p:sp>
        <p:nvSpPr>
          <p:cNvPr id="23" name="Text 20"/>
          <p:cNvSpPr/>
          <p:nvPr/>
        </p:nvSpPr>
        <p:spPr>
          <a:xfrm>
            <a:off x="7498080" y="5394960"/>
            <a:ext cx="3657600" cy="41148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₹75 Lakhs – ₹1.1 Crore Monthly Revenue</a:t>
            </a:r>
            <a:endParaRPr lang="en-US" sz="1200" dirty="0"/>
          </a:p>
        </p:txBody>
      </p:sp>
      <p:sp>
        <p:nvSpPr>
          <p:cNvPr id="24" name="Shape 21"/>
          <p:cNvSpPr/>
          <p:nvPr/>
        </p:nvSpPr>
        <p:spPr>
          <a:xfrm>
            <a:off x="7498080" y="5486400"/>
            <a:ext cx="3657600" cy="502920"/>
          </a:xfrm>
          <a:prstGeom prst="roundRect">
            <a:avLst>
              <a:gd name="adj" fmla="val 14545"/>
            </a:avLst>
          </a:prstGeom>
          <a:solidFill>
            <a:srgbClr val="059669"/>
          </a:solidFill>
          <a:ln w="12700">
            <a:solidFill>
              <a:srgbClr val="059669"/>
            </a:solidFill>
            <a:prstDash val="solid"/>
          </a:ln>
        </p:spPr>
      </p:sp>
      <p:sp>
        <p:nvSpPr>
          <p:cNvPr id="25" name="Text 22"/>
          <p:cNvSpPr/>
          <p:nvPr/>
        </p:nvSpPr>
        <p:spPr>
          <a:xfrm>
            <a:off x="7498080" y="5486400"/>
            <a:ext cx="3657600" cy="5029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Payback Period: Under 30 Days</a:t>
            </a:r>
            <a:endParaRPr lang="en-US" sz="1200" dirty="0"/>
          </a:p>
        </p:txBody>
      </p:sp>
      <p:sp>
        <p:nvSpPr>
          <p:cNvPr id="26" name="Text 23"/>
          <p:cNvSpPr/>
          <p:nvPr/>
        </p:nvSpPr>
        <p:spPr>
          <a:xfrm>
            <a:off x="731520" y="6446520"/>
            <a:ext cx="5486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FoodLine Campus • Master Pitch Deck 2026</a:t>
            </a:r>
            <a:endParaRPr lang="en-US" sz="900" dirty="0"/>
          </a:p>
        </p:txBody>
      </p:sp>
      <p:sp>
        <p:nvSpPr>
          <p:cNvPr id="27" name="Text 24"/>
          <p:cNvSpPr/>
          <p:nvPr/>
        </p:nvSpPr>
        <p:spPr>
          <a:xfrm>
            <a:off x="9144000" y="64465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926080" cy="292608"/>
          </a:xfrm>
          <a:prstGeom prst="roundRect">
            <a:avLst>
              <a:gd name="adj" fmla="val 25000"/>
            </a:avLst>
          </a:prstGeom>
          <a:solidFill>
            <a:srgbClr val="ECFDF5"/>
          </a:solidFill>
          <a:ln w="12700">
            <a:solidFill>
              <a:srgbClr val="A7F3D0"/>
            </a:solidFill>
            <a:prstDash val="solid"/>
          </a:ln>
        </p:spPr>
      </p:sp>
      <p:sp>
        <p:nvSpPr>
          <p:cNvPr id="3" name="Text 1"/>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ENGINEERING MATURITY</a:t>
            </a:r>
            <a:endParaRPr lang="en-US" sz="1000" dirty="0"/>
          </a:p>
        </p:txBody>
      </p:sp>
      <p:sp>
        <p:nvSpPr>
          <p:cNvPr id="4" name="Text 2"/>
          <p:cNvSpPr/>
          <p:nvPr/>
        </p:nvSpPr>
        <p:spPr>
          <a:xfrm>
            <a:off x="9144000" y="411480"/>
            <a:ext cx="2286000" cy="292608"/>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FOODLINE CAMPUS</a:t>
            </a:r>
            <a:endParaRPr lang="en-US" sz="1000" dirty="0"/>
          </a:p>
        </p:txBody>
      </p:sp>
      <p:sp>
        <p:nvSpPr>
          <p:cNvPr id="5" name="Text 3"/>
          <p:cNvSpPr/>
          <p:nvPr/>
        </p:nvSpPr>
        <p:spPr>
          <a:xfrm>
            <a:off x="731520" y="777240"/>
            <a:ext cx="10698480" cy="50292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Not an Idea — A Working Reality</a:t>
            </a:r>
            <a:endParaRPr lang="en-US" sz="2400" dirty="0"/>
          </a:p>
        </p:txBody>
      </p:sp>
      <p:sp>
        <p:nvSpPr>
          <p:cNvPr id="6" name="Text 4"/>
          <p:cNvSpPr/>
          <p:nvPr/>
        </p:nvSpPr>
        <p:spPr>
          <a:xfrm>
            <a:off x="731520" y="1280160"/>
            <a:ext cx="10698480" cy="347472"/>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"Tested, battle-hardened, and ready to launch at the canteen counter tomorrow morning."</a:t>
            </a:r>
            <a:endParaRPr lang="en-US" sz="1300" dirty="0"/>
          </a:p>
        </p:txBody>
      </p:sp>
      <p:sp>
        <p:nvSpPr>
          <p:cNvPr id="7" name="Shape 5"/>
          <p:cNvSpPr/>
          <p:nvPr/>
        </p:nvSpPr>
        <p:spPr>
          <a:xfrm>
            <a:off x="731520" y="1737360"/>
            <a:ext cx="5212080" cy="2057400"/>
          </a:xfrm>
          <a:prstGeom prst="roundRect">
            <a:avLst>
              <a:gd name="adj" fmla="val 5333"/>
            </a:avLst>
          </a:prstGeom>
          <a:solidFill>
            <a:srgbClr val="FFFFFF"/>
          </a:solidFill>
          <a:ln w="19050">
            <a:solidFill>
              <a:srgbClr val="A7F3D0"/>
            </a:solidFill>
            <a:prstDash val="solid"/>
          </a:ln>
        </p:spPr>
      </p:sp>
      <p:sp>
        <p:nvSpPr>
          <p:cNvPr id="8" name="Shape 6"/>
          <p:cNvSpPr/>
          <p:nvPr/>
        </p:nvSpPr>
        <p:spPr>
          <a:xfrm>
            <a:off x="1005840" y="1901952"/>
            <a:ext cx="2560320" cy="256032"/>
          </a:xfrm>
          <a:prstGeom prst="roundRect">
            <a:avLst>
              <a:gd name="adj" fmla="val 28571"/>
            </a:avLst>
          </a:prstGeom>
          <a:solidFill>
            <a:srgbClr val="ECFDF5"/>
          </a:solidFill>
          <a:ln w="12700">
            <a:solidFill>
              <a:srgbClr val="A7F3D0"/>
            </a:solidFill>
            <a:prstDash val="solid"/>
          </a:ln>
        </p:spPr>
      </p:sp>
      <p:sp>
        <p:nvSpPr>
          <p:cNvPr id="9" name="Text 7"/>
          <p:cNvSpPr/>
          <p:nvPr/>
        </p:nvSpPr>
        <p:spPr>
          <a:xfrm>
            <a:off x="1005840" y="1901952"/>
            <a:ext cx="2560320" cy="256032"/>
          </a:xfrm>
          <a:prstGeom prst="rect">
            <a:avLst/>
          </a:prstGeom>
          <a:noFill/>
          <a:ln/>
        </p:spPr>
        <p:txBody>
          <a:bodyPr wrap="square" rtlCol="0" anchor="ctr"/>
          <a:lstStyle/>
          <a:p>
            <a:pPr algn="ctr" indent="0" marL="0">
              <a:buNone/>
            </a:pPr>
            <a:r>
              <a:rPr lang="en-US" sz="900" b="1" dirty="0">
                <a:solidFill>
                  <a:srgbClr val="059669"/>
                </a:solidFill>
                <a:latin typeface="Arial" pitchFamily="34" charset="0"/>
                <a:ea typeface="Arial" pitchFamily="34" charset="-122"/>
                <a:cs typeface="Arial" pitchFamily="34" charset="-120"/>
              </a:rPr>
              <a:t>FRONTEND &amp; MOBILE</a:t>
            </a:r>
            <a:endParaRPr lang="en-US" sz="900" dirty="0"/>
          </a:p>
        </p:txBody>
      </p:sp>
      <p:sp>
        <p:nvSpPr>
          <p:cNvPr id="10" name="Text 8"/>
          <p:cNvSpPr/>
          <p:nvPr/>
        </p:nvSpPr>
        <p:spPr>
          <a:xfrm>
            <a:off x="1005840" y="2212848"/>
            <a:ext cx="466344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Production Web App &amp; Android APK</a:t>
            </a:r>
            <a:endParaRPr lang="en-US" sz="1400" dirty="0"/>
          </a:p>
        </p:txBody>
      </p:sp>
      <p:sp>
        <p:nvSpPr>
          <p:cNvPr id="11" name="Text 9"/>
          <p:cNvSpPr/>
          <p:nvPr/>
        </p:nvSpPr>
        <p:spPr>
          <a:xfrm>
            <a:off x="1005840" y="2560320"/>
            <a:ext cx="4663440" cy="1143000"/>
          </a:xfrm>
          <a:prstGeom prst="rect">
            <a:avLst/>
          </a:prstGeom>
          <a:noFill/>
          <a:ln/>
        </p:spPr>
        <p:txBody>
          <a:bodyPr wrap="square" rtlCol="0" anchor="ctr"/>
          <a:lstStyle/>
          <a:p>
            <a:pPr indent="0" marL="0">
              <a:lnSpc>
                <a:spcPct val="115000"/>
              </a:lnSpc>
              <a:buNone/>
            </a:pPr>
            <a:r>
              <a:rPr lang="en-US" sz="1100" dirty="0">
                <a:solidFill>
                  <a:srgbClr val="334155"/>
                </a:solidFill>
                <a:latin typeface="Arial" pitchFamily="34" charset="0"/>
                <a:ea typeface="Arial" pitchFamily="34" charset="-122"/>
                <a:cs typeface="Arial" pitchFamily="34" charset="-120"/>
              </a:rPr>
              <a:t>• High-speed Next.js 15 responsive PWA application</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Installable Android APK built for spotty campus 4G</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Instant QR menu navigation with zero app install required</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Sub-second client-side optimistic UI state transitions</a:t>
            </a:r>
            <a:endParaRPr lang="en-US" sz="1100" dirty="0"/>
          </a:p>
        </p:txBody>
      </p:sp>
      <p:sp>
        <p:nvSpPr>
          <p:cNvPr id="12" name="Shape 10"/>
          <p:cNvSpPr/>
          <p:nvPr/>
        </p:nvSpPr>
        <p:spPr>
          <a:xfrm>
            <a:off x="6217920" y="1737360"/>
            <a:ext cx="5212080" cy="2057400"/>
          </a:xfrm>
          <a:prstGeom prst="roundRect">
            <a:avLst>
              <a:gd name="adj" fmla="val 5333"/>
            </a:avLst>
          </a:prstGeom>
          <a:solidFill>
            <a:srgbClr val="FFFFFF"/>
          </a:solidFill>
          <a:ln w="19050">
            <a:solidFill>
              <a:srgbClr val="BFDBFE"/>
            </a:solidFill>
            <a:prstDash val="solid"/>
          </a:ln>
        </p:spPr>
      </p:sp>
      <p:sp>
        <p:nvSpPr>
          <p:cNvPr id="13" name="Shape 11"/>
          <p:cNvSpPr/>
          <p:nvPr/>
        </p:nvSpPr>
        <p:spPr>
          <a:xfrm>
            <a:off x="6492240" y="1901952"/>
            <a:ext cx="2560320" cy="256032"/>
          </a:xfrm>
          <a:prstGeom prst="roundRect">
            <a:avLst>
              <a:gd name="adj" fmla="val 28571"/>
            </a:avLst>
          </a:prstGeom>
          <a:solidFill>
            <a:srgbClr val="EFF6FF"/>
          </a:solidFill>
          <a:ln w="12700">
            <a:solidFill>
              <a:srgbClr val="BFDBFE"/>
            </a:solidFill>
            <a:prstDash val="solid"/>
          </a:ln>
        </p:spPr>
      </p:sp>
      <p:sp>
        <p:nvSpPr>
          <p:cNvPr id="14" name="Text 12"/>
          <p:cNvSpPr/>
          <p:nvPr/>
        </p:nvSpPr>
        <p:spPr>
          <a:xfrm>
            <a:off x="6492240" y="1901952"/>
            <a:ext cx="2560320" cy="256032"/>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KITCHEN AUTOMATION</a:t>
            </a:r>
            <a:endParaRPr lang="en-US" sz="900" dirty="0"/>
          </a:p>
        </p:txBody>
      </p:sp>
      <p:sp>
        <p:nvSpPr>
          <p:cNvPr id="15" name="Text 13"/>
          <p:cNvSpPr/>
          <p:nvPr/>
        </p:nvSpPr>
        <p:spPr>
          <a:xfrm>
            <a:off x="6492240" y="2212848"/>
            <a:ext cx="466344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Live Kitchen Display System (KDS)</a:t>
            </a:r>
            <a:endParaRPr lang="en-US" sz="1400" dirty="0"/>
          </a:p>
        </p:txBody>
      </p:sp>
      <p:sp>
        <p:nvSpPr>
          <p:cNvPr id="16" name="Text 14"/>
          <p:cNvSpPr/>
          <p:nvPr/>
        </p:nvSpPr>
        <p:spPr>
          <a:xfrm>
            <a:off x="6492240" y="2560320"/>
            <a:ext cx="4663440" cy="1143000"/>
          </a:xfrm>
          <a:prstGeom prst="rect">
            <a:avLst/>
          </a:prstGeom>
          <a:noFill/>
          <a:ln/>
        </p:spPr>
        <p:txBody>
          <a:bodyPr wrap="square" rtlCol="0" anchor="ctr"/>
          <a:lstStyle/>
          <a:p>
            <a:pPr indent="0" marL="0">
              <a:lnSpc>
                <a:spcPct val="115000"/>
              </a:lnSpc>
              <a:buNone/>
            </a:pPr>
            <a:r>
              <a:rPr lang="en-US" sz="1100" dirty="0">
                <a:solidFill>
                  <a:srgbClr val="334155"/>
                </a:solidFill>
                <a:latin typeface="Arial" pitchFamily="34" charset="0"/>
                <a:ea typeface="Arial" pitchFamily="34" charset="-122"/>
                <a:cs typeface="Arial" pitchFamily="34" charset="-120"/>
              </a:rPr>
              <a:t>• Real-time SSE event streaming for zero-latency orders</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Instant audio chimes alert chefs when new tickets arrive</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1-Tap status updates: Cooking ➔ Ready ➔ Collected</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Live kitchen capacity monitoring and slot throttle gauges</a:t>
            </a:r>
            <a:endParaRPr lang="en-US" sz="1100" dirty="0"/>
          </a:p>
        </p:txBody>
      </p:sp>
      <p:sp>
        <p:nvSpPr>
          <p:cNvPr id="17" name="Shape 15"/>
          <p:cNvSpPr/>
          <p:nvPr/>
        </p:nvSpPr>
        <p:spPr>
          <a:xfrm>
            <a:off x="731520" y="3977640"/>
            <a:ext cx="5212080" cy="2057400"/>
          </a:xfrm>
          <a:prstGeom prst="roundRect">
            <a:avLst>
              <a:gd name="adj" fmla="val 5333"/>
            </a:avLst>
          </a:prstGeom>
          <a:solidFill>
            <a:srgbClr val="FFFFFF"/>
          </a:solidFill>
          <a:ln w="19050">
            <a:solidFill>
              <a:srgbClr val="FECACA"/>
            </a:solidFill>
            <a:prstDash val="solid"/>
          </a:ln>
        </p:spPr>
      </p:sp>
      <p:sp>
        <p:nvSpPr>
          <p:cNvPr id="18" name="Shape 16"/>
          <p:cNvSpPr/>
          <p:nvPr/>
        </p:nvSpPr>
        <p:spPr>
          <a:xfrm>
            <a:off x="1005840" y="4142232"/>
            <a:ext cx="2560320" cy="256032"/>
          </a:xfrm>
          <a:prstGeom prst="roundRect">
            <a:avLst>
              <a:gd name="adj" fmla="val 28571"/>
            </a:avLst>
          </a:prstGeom>
          <a:solidFill>
            <a:srgbClr val="FEF2F2"/>
          </a:solidFill>
          <a:ln w="12700">
            <a:solidFill>
              <a:srgbClr val="FECACA"/>
            </a:solidFill>
            <a:prstDash val="solid"/>
          </a:ln>
        </p:spPr>
      </p:sp>
      <p:sp>
        <p:nvSpPr>
          <p:cNvPr id="19" name="Text 17"/>
          <p:cNvSpPr/>
          <p:nvPr/>
        </p:nvSpPr>
        <p:spPr>
          <a:xfrm>
            <a:off x="1005840" y="4142232"/>
            <a:ext cx="2560320" cy="256032"/>
          </a:xfrm>
          <a:prstGeom prst="rect">
            <a:avLst/>
          </a:prstGeom>
          <a:noFill/>
          <a:ln/>
        </p:spPr>
        <p:txBody>
          <a:bodyPr wrap="square" rtlCol="0" anchor="ctr"/>
          <a:lstStyle/>
          <a:p>
            <a:pPr algn="ctr" indent="0" marL="0">
              <a:buNone/>
            </a:pPr>
            <a:r>
              <a:rPr lang="en-US" sz="900" b="1" dirty="0">
                <a:solidFill>
                  <a:srgbClr val="DC2626"/>
                </a:solidFill>
                <a:latin typeface="Arial" pitchFamily="34" charset="0"/>
                <a:ea typeface="Arial" pitchFamily="34" charset="-122"/>
                <a:cs typeface="Arial" pitchFamily="34" charset="-120"/>
              </a:rPr>
              <a:t>SECURITY ASSURANCE</a:t>
            </a:r>
            <a:endParaRPr lang="en-US" sz="900" dirty="0"/>
          </a:p>
        </p:txBody>
      </p:sp>
      <p:sp>
        <p:nvSpPr>
          <p:cNvPr id="20" name="Text 18"/>
          <p:cNvSpPr/>
          <p:nvPr/>
        </p:nvSpPr>
        <p:spPr>
          <a:xfrm>
            <a:off x="1005840" y="4453128"/>
            <a:ext cx="466344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23/23 Automated Security Audits Passed</a:t>
            </a:r>
            <a:endParaRPr lang="en-US" sz="1400" dirty="0"/>
          </a:p>
        </p:txBody>
      </p:sp>
      <p:sp>
        <p:nvSpPr>
          <p:cNvPr id="21" name="Text 19"/>
          <p:cNvSpPr/>
          <p:nvPr/>
        </p:nvSpPr>
        <p:spPr>
          <a:xfrm>
            <a:off x="1005840" y="4800600"/>
            <a:ext cx="4663440" cy="1143000"/>
          </a:xfrm>
          <a:prstGeom prst="rect">
            <a:avLst/>
          </a:prstGeom>
          <a:noFill/>
          <a:ln/>
        </p:spPr>
        <p:txBody>
          <a:bodyPr wrap="square" rtlCol="0" anchor="ctr"/>
          <a:lstStyle/>
          <a:p>
            <a:pPr indent="0" marL="0">
              <a:lnSpc>
                <a:spcPct val="115000"/>
              </a:lnSpc>
              <a:buNone/>
            </a:pPr>
            <a:r>
              <a:rPr lang="en-US" sz="1100" dirty="0">
                <a:solidFill>
                  <a:srgbClr val="334155"/>
                </a:solidFill>
                <a:latin typeface="Arial" pitchFamily="34" charset="0"/>
                <a:ea typeface="Arial" pitchFamily="34" charset="-122"/>
                <a:cs typeface="Arial" pitchFamily="34" charset="-120"/>
              </a:rPr>
              <a:t>• Cryptographic protection against fake UPI replay attacks</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SHA-256 integrity checks on every transaction token</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Strict CORS boundaries, rate-limiting, and sanitized inputs</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Zero vulnerability to screen tampering or ticket forging</a:t>
            </a:r>
            <a:endParaRPr lang="en-US" sz="1100" dirty="0"/>
          </a:p>
        </p:txBody>
      </p:sp>
      <p:sp>
        <p:nvSpPr>
          <p:cNvPr id="22" name="Shape 20"/>
          <p:cNvSpPr/>
          <p:nvPr/>
        </p:nvSpPr>
        <p:spPr>
          <a:xfrm>
            <a:off x="6217920" y="3977640"/>
            <a:ext cx="5212080" cy="2057400"/>
          </a:xfrm>
          <a:prstGeom prst="roundRect">
            <a:avLst>
              <a:gd name="adj" fmla="val 5333"/>
            </a:avLst>
          </a:prstGeom>
          <a:solidFill>
            <a:srgbClr val="FFFFFF"/>
          </a:solidFill>
          <a:ln w="19050">
            <a:solidFill>
              <a:srgbClr val="FDE68A"/>
            </a:solidFill>
            <a:prstDash val="solid"/>
          </a:ln>
        </p:spPr>
      </p:sp>
      <p:sp>
        <p:nvSpPr>
          <p:cNvPr id="23" name="Shape 21"/>
          <p:cNvSpPr/>
          <p:nvPr/>
        </p:nvSpPr>
        <p:spPr>
          <a:xfrm>
            <a:off x="6492240" y="4142232"/>
            <a:ext cx="2560320" cy="256032"/>
          </a:xfrm>
          <a:prstGeom prst="roundRect">
            <a:avLst>
              <a:gd name="adj" fmla="val 28571"/>
            </a:avLst>
          </a:prstGeom>
          <a:solidFill>
            <a:srgbClr val="FFFBEB"/>
          </a:solidFill>
          <a:ln w="12700">
            <a:solidFill>
              <a:srgbClr val="FDE68A"/>
            </a:solidFill>
            <a:prstDash val="solid"/>
          </a:ln>
        </p:spPr>
      </p:sp>
      <p:sp>
        <p:nvSpPr>
          <p:cNvPr id="24" name="Text 22"/>
          <p:cNvSpPr/>
          <p:nvPr/>
        </p:nvSpPr>
        <p:spPr>
          <a:xfrm>
            <a:off x="6492240" y="4142232"/>
            <a:ext cx="2560320" cy="256032"/>
          </a:xfrm>
          <a:prstGeom prst="rect">
            <a:avLst/>
          </a:prstGeom>
          <a:noFill/>
          <a:ln/>
        </p:spPr>
        <p:txBody>
          <a:bodyPr wrap="square" rtlCol="0" anchor="ctr"/>
          <a:lstStyle/>
          <a:p>
            <a:pPr algn="ctr" indent="0" marL="0">
              <a:buNone/>
            </a:pPr>
            <a:r>
              <a:rPr lang="en-US" sz="900" b="1" dirty="0">
                <a:solidFill>
                  <a:srgbClr val="D97706"/>
                </a:solidFill>
                <a:latin typeface="Arial" pitchFamily="34" charset="0"/>
                <a:ea typeface="Arial" pitchFamily="34" charset="-122"/>
                <a:cs typeface="Arial" pitchFamily="34" charset="-120"/>
              </a:rPr>
              <a:t>DATA REDUNDANCY</a:t>
            </a:r>
            <a:endParaRPr lang="en-US" sz="900" dirty="0"/>
          </a:p>
        </p:txBody>
      </p:sp>
      <p:sp>
        <p:nvSpPr>
          <p:cNvPr id="25" name="Text 23"/>
          <p:cNvSpPr/>
          <p:nvPr/>
        </p:nvSpPr>
        <p:spPr>
          <a:xfrm>
            <a:off x="6492240" y="4453128"/>
            <a:ext cx="466344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PostgreSQL + Google Sheets Dual-Sync</a:t>
            </a:r>
            <a:endParaRPr lang="en-US" sz="1400" dirty="0"/>
          </a:p>
        </p:txBody>
      </p:sp>
      <p:sp>
        <p:nvSpPr>
          <p:cNvPr id="26" name="Text 24"/>
          <p:cNvSpPr/>
          <p:nvPr/>
        </p:nvSpPr>
        <p:spPr>
          <a:xfrm>
            <a:off x="6492240" y="4800600"/>
            <a:ext cx="4663440" cy="1143000"/>
          </a:xfrm>
          <a:prstGeom prst="rect">
            <a:avLst/>
          </a:prstGeom>
          <a:noFill/>
          <a:ln/>
        </p:spPr>
        <p:txBody>
          <a:bodyPr wrap="square" rtlCol="0" anchor="ctr"/>
          <a:lstStyle/>
          <a:p>
            <a:pPr indent="0" marL="0">
              <a:lnSpc>
                <a:spcPct val="115000"/>
              </a:lnSpc>
              <a:buNone/>
            </a:pPr>
            <a:r>
              <a:rPr lang="en-US" sz="1100" dirty="0">
                <a:solidFill>
                  <a:srgbClr val="334155"/>
                </a:solidFill>
                <a:latin typeface="Arial" pitchFamily="34" charset="0"/>
                <a:ea typeface="Arial" pitchFamily="34" charset="-122"/>
                <a:cs typeface="Arial" pitchFamily="34" charset="-120"/>
              </a:rPr>
              <a:t>• Enterprise Supabase PostgreSQL transactional database</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Real-time two-way synchronization to Google Sheets</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Zero-training interface for canteen owners to check sales</a:t>
            </a: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Full offline resilience during intermittent campus Wi-Fi</a:t>
            </a:r>
            <a:endParaRPr lang="en-US" sz="1100" dirty="0"/>
          </a:p>
        </p:txBody>
      </p:sp>
      <p:sp>
        <p:nvSpPr>
          <p:cNvPr id="27" name="Text 25"/>
          <p:cNvSpPr/>
          <p:nvPr/>
        </p:nvSpPr>
        <p:spPr>
          <a:xfrm>
            <a:off x="731520" y="6446520"/>
            <a:ext cx="5486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FoodLine Campus • Master Pitch Deck 2026</a:t>
            </a:r>
            <a:endParaRPr lang="en-US" sz="900" dirty="0"/>
          </a:p>
        </p:txBody>
      </p:sp>
      <p:sp>
        <p:nvSpPr>
          <p:cNvPr id="28" name="Text 26"/>
          <p:cNvSpPr/>
          <p:nvPr/>
        </p:nvSpPr>
        <p:spPr>
          <a:xfrm>
            <a:off x="9144000" y="64465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926080" cy="292608"/>
          </a:xfrm>
          <a:prstGeom prst="roundRect">
            <a:avLst>
              <a:gd name="adj" fmla="val 25000"/>
            </a:avLst>
          </a:prstGeom>
          <a:solidFill>
            <a:srgbClr val="ECFDF5"/>
          </a:solidFill>
          <a:ln w="12700">
            <a:solidFill>
              <a:srgbClr val="A7F3D0"/>
            </a:solidFill>
            <a:prstDash val="solid"/>
          </a:ln>
        </p:spPr>
      </p:sp>
      <p:sp>
        <p:nvSpPr>
          <p:cNvPr id="3" name="Text 1"/>
          <p:cNvSpPr/>
          <p:nvPr/>
        </p:nvSpPr>
        <p:spPr>
          <a:xfrm>
            <a:off x="731520" y="411480"/>
            <a:ext cx="292608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THE WIN-WIN ECOSYSTEM</a:t>
            </a:r>
            <a:endParaRPr lang="en-US" sz="1000" dirty="0"/>
          </a:p>
        </p:txBody>
      </p:sp>
      <p:sp>
        <p:nvSpPr>
          <p:cNvPr id="4" name="Text 2"/>
          <p:cNvSpPr/>
          <p:nvPr/>
        </p:nvSpPr>
        <p:spPr>
          <a:xfrm>
            <a:off x="9144000" y="411480"/>
            <a:ext cx="2286000" cy="292608"/>
          </a:xfrm>
          <a:prstGeom prst="rect">
            <a:avLst/>
          </a:prstGeom>
          <a:noFill/>
          <a:ln/>
        </p:spPr>
        <p:txBody>
          <a:bodyPr wrap="square" rtlCol="0" anchor="ctr"/>
          <a:lstStyle/>
          <a:p>
            <a:pPr algn="r" indent="0" marL="0">
              <a:buNone/>
            </a:pPr>
            <a:r>
              <a:rPr lang="en-US" sz="1000" b="1" dirty="0">
                <a:solidFill>
                  <a:srgbClr val="64748B"/>
                </a:solidFill>
                <a:latin typeface="Arial" pitchFamily="34" charset="0"/>
                <a:ea typeface="Arial" pitchFamily="34" charset="-122"/>
                <a:cs typeface="Arial" pitchFamily="34" charset="-120"/>
              </a:rPr>
              <a:t>FOODLINE CAMPUS</a:t>
            </a:r>
            <a:endParaRPr lang="en-US" sz="1000" dirty="0"/>
          </a:p>
        </p:txBody>
      </p:sp>
      <p:sp>
        <p:nvSpPr>
          <p:cNvPr id="5" name="Text 3"/>
          <p:cNvSpPr/>
          <p:nvPr/>
        </p:nvSpPr>
        <p:spPr>
          <a:xfrm>
            <a:off x="731520" y="777240"/>
            <a:ext cx="10698480" cy="50292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Everyone Wins with FoodLine Campus</a:t>
            </a:r>
            <a:endParaRPr lang="en-US" sz="2400" dirty="0"/>
          </a:p>
        </p:txBody>
      </p:sp>
      <p:sp>
        <p:nvSpPr>
          <p:cNvPr id="6" name="Text 4"/>
          <p:cNvSpPr/>
          <p:nvPr/>
        </p:nvSpPr>
        <p:spPr>
          <a:xfrm>
            <a:off x="731520" y="1280160"/>
            <a:ext cx="10698480" cy="347472"/>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"Happy Students, Relaxed Canteen Owners, High-Growth Business."</a:t>
            </a:r>
            <a:endParaRPr lang="en-US" sz="1300" dirty="0"/>
          </a:p>
        </p:txBody>
      </p:sp>
      <p:sp>
        <p:nvSpPr>
          <p:cNvPr id="7" name="Shape 5"/>
          <p:cNvSpPr/>
          <p:nvPr/>
        </p:nvSpPr>
        <p:spPr>
          <a:xfrm>
            <a:off x="731520" y="1737360"/>
            <a:ext cx="3383280" cy="2560320"/>
          </a:xfrm>
          <a:prstGeom prst="roundRect">
            <a:avLst>
              <a:gd name="adj" fmla="val 4286"/>
            </a:avLst>
          </a:prstGeom>
          <a:solidFill>
            <a:srgbClr val="FFFFFF"/>
          </a:solidFill>
          <a:ln w="19050">
            <a:solidFill>
              <a:srgbClr val="A7F3D0"/>
            </a:solidFill>
            <a:prstDash val="solid"/>
          </a:ln>
        </p:spPr>
      </p:sp>
      <p:sp>
        <p:nvSpPr>
          <p:cNvPr id="8" name="Shape 6"/>
          <p:cNvSpPr/>
          <p:nvPr/>
        </p:nvSpPr>
        <p:spPr>
          <a:xfrm>
            <a:off x="1005840" y="1920240"/>
            <a:ext cx="2011680" cy="274320"/>
          </a:xfrm>
          <a:prstGeom prst="roundRect">
            <a:avLst>
              <a:gd name="adj" fmla="val 26667"/>
            </a:avLst>
          </a:prstGeom>
          <a:solidFill>
            <a:srgbClr val="ECFDF5"/>
          </a:solidFill>
          <a:ln w="12700">
            <a:solidFill>
              <a:srgbClr val="A7F3D0"/>
            </a:solidFill>
            <a:prstDash val="solid"/>
          </a:ln>
        </p:spPr>
      </p:sp>
      <p:sp>
        <p:nvSpPr>
          <p:cNvPr id="9" name="Text 7"/>
          <p:cNvSpPr/>
          <p:nvPr/>
        </p:nvSpPr>
        <p:spPr>
          <a:xfrm>
            <a:off x="1005840" y="1920240"/>
            <a:ext cx="2011680" cy="274320"/>
          </a:xfrm>
          <a:prstGeom prst="rect">
            <a:avLst/>
          </a:prstGeom>
          <a:noFill/>
          <a:ln/>
        </p:spPr>
        <p:txBody>
          <a:bodyPr wrap="square" rtlCol="0" anchor="ctr"/>
          <a:lstStyle/>
          <a:p>
            <a:pPr algn="ctr" indent="0" marL="0">
              <a:buNone/>
            </a:pPr>
            <a:r>
              <a:rPr lang="en-US" sz="900" b="1" dirty="0">
                <a:solidFill>
                  <a:srgbClr val="059669"/>
                </a:solidFill>
                <a:latin typeface="Arial" pitchFamily="34" charset="0"/>
                <a:ea typeface="Arial" pitchFamily="34" charset="-122"/>
                <a:cs typeface="Arial" pitchFamily="34" charset="-120"/>
              </a:rPr>
              <a:t>FOR STUDENTS</a:t>
            </a:r>
            <a:endParaRPr lang="en-US" sz="900" dirty="0"/>
          </a:p>
        </p:txBody>
      </p:sp>
      <p:sp>
        <p:nvSpPr>
          <p:cNvPr id="10" name="Text 8"/>
          <p:cNvSpPr/>
          <p:nvPr/>
        </p:nvSpPr>
        <p:spPr>
          <a:xfrm>
            <a:off x="1005840" y="2286000"/>
            <a:ext cx="2834640" cy="32004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Zero Queue Anxiety</a:t>
            </a:r>
            <a:endParaRPr lang="en-US" sz="1600" dirty="0"/>
          </a:p>
        </p:txBody>
      </p:sp>
      <p:sp>
        <p:nvSpPr>
          <p:cNvPr id="11" name="Text 9"/>
          <p:cNvSpPr/>
          <p:nvPr/>
        </p:nvSpPr>
        <p:spPr>
          <a:xfrm>
            <a:off x="1005840" y="2697480"/>
            <a:ext cx="2834640" cy="1463040"/>
          </a:xfrm>
          <a:prstGeom prst="rect">
            <a:avLst/>
          </a:prstGeom>
          <a:noFill/>
          <a:ln/>
        </p:spPr>
        <p:txBody>
          <a:bodyPr wrap="square" rtlCol="0" anchor="ctr"/>
          <a:lstStyle/>
          <a:p>
            <a:pPr indent="0" marL="0">
              <a:lnSpc>
                <a:spcPct val="115000"/>
              </a:lnSpc>
              <a:buNone/>
            </a:pPr>
            <a:r>
              <a:rPr lang="en-US" sz="1100" dirty="0">
                <a:solidFill>
                  <a:srgbClr val="334155"/>
                </a:solidFill>
                <a:latin typeface="Arial" pitchFamily="34" charset="0"/>
                <a:ea typeface="Arial" pitchFamily="34" charset="-122"/>
                <a:cs typeface="Arial" pitchFamily="34" charset="-120"/>
              </a:rPr>
              <a:t>• Bypass 20-minute counter lines completely.</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Enjoy hot, freshly prepared food every break.</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Never arrive late to lectures or skip lunch.</a:t>
            </a:r>
            <a:endParaRPr lang="en-US" sz="1100" dirty="0"/>
          </a:p>
        </p:txBody>
      </p:sp>
      <p:sp>
        <p:nvSpPr>
          <p:cNvPr id="12" name="Shape 10"/>
          <p:cNvSpPr/>
          <p:nvPr/>
        </p:nvSpPr>
        <p:spPr>
          <a:xfrm>
            <a:off x="4389120" y="1737360"/>
            <a:ext cx="3383280" cy="2560320"/>
          </a:xfrm>
          <a:prstGeom prst="roundRect">
            <a:avLst>
              <a:gd name="adj" fmla="val 4286"/>
            </a:avLst>
          </a:prstGeom>
          <a:solidFill>
            <a:srgbClr val="FFFFFF"/>
          </a:solidFill>
          <a:ln w="19050">
            <a:solidFill>
              <a:srgbClr val="BFDBFE"/>
            </a:solidFill>
            <a:prstDash val="solid"/>
          </a:ln>
        </p:spPr>
      </p:sp>
      <p:sp>
        <p:nvSpPr>
          <p:cNvPr id="13" name="Shape 11"/>
          <p:cNvSpPr/>
          <p:nvPr/>
        </p:nvSpPr>
        <p:spPr>
          <a:xfrm>
            <a:off x="4663440" y="1920240"/>
            <a:ext cx="2011680" cy="274320"/>
          </a:xfrm>
          <a:prstGeom prst="roundRect">
            <a:avLst>
              <a:gd name="adj" fmla="val 26667"/>
            </a:avLst>
          </a:prstGeom>
          <a:solidFill>
            <a:srgbClr val="EFF6FF"/>
          </a:solidFill>
          <a:ln w="12700">
            <a:solidFill>
              <a:srgbClr val="BFDBFE"/>
            </a:solidFill>
            <a:prstDash val="solid"/>
          </a:ln>
        </p:spPr>
      </p:sp>
      <p:sp>
        <p:nvSpPr>
          <p:cNvPr id="14" name="Text 12"/>
          <p:cNvSpPr/>
          <p:nvPr/>
        </p:nvSpPr>
        <p:spPr>
          <a:xfrm>
            <a:off x="4663440" y="1920240"/>
            <a:ext cx="2011680" cy="274320"/>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FOR CANTEEN OWNERS</a:t>
            </a:r>
            <a:endParaRPr lang="en-US" sz="900" dirty="0"/>
          </a:p>
        </p:txBody>
      </p:sp>
      <p:sp>
        <p:nvSpPr>
          <p:cNvPr id="15" name="Text 13"/>
          <p:cNvSpPr/>
          <p:nvPr/>
        </p:nvSpPr>
        <p:spPr>
          <a:xfrm>
            <a:off x="4663440" y="2286000"/>
            <a:ext cx="2834640" cy="32004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Higher Profits &amp; Peace</a:t>
            </a:r>
            <a:endParaRPr lang="en-US" sz="1600" dirty="0"/>
          </a:p>
        </p:txBody>
      </p:sp>
      <p:sp>
        <p:nvSpPr>
          <p:cNvPr id="16" name="Text 14"/>
          <p:cNvSpPr/>
          <p:nvPr/>
        </p:nvSpPr>
        <p:spPr>
          <a:xfrm>
            <a:off x="4663440" y="2697480"/>
            <a:ext cx="2834640" cy="1463040"/>
          </a:xfrm>
          <a:prstGeom prst="rect">
            <a:avLst/>
          </a:prstGeom>
          <a:noFill/>
          <a:ln/>
        </p:spPr>
        <p:txBody>
          <a:bodyPr wrap="square" rtlCol="0" anchor="ctr"/>
          <a:lstStyle/>
          <a:p>
            <a:pPr indent="0" marL="0">
              <a:lnSpc>
                <a:spcPct val="115000"/>
              </a:lnSpc>
              <a:buNone/>
            </a:pPr>
            <a:r>
              <a:rPr lang="en-US" sz="1100" dirty="0">
                <a:solidFill>
                  <a:srgbClr val="334155"/>
                </a:solidFill>
                <a:latin typeface="Arial" pitchFamily="34" charset="0"/>
                <a:ea typeface="Arial" pitchFamily="34" charset="-122"/>
                <a:cs typeface="Arial" pitchFamily="34" charset="-120"/>
              </a:rPr>
              <a:t>• Zero 1:05 PM crowd screaming chaos.</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40% more daily order processing volume.</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100% fraud-proof, guaranteed UPI payments.</a:t>
            </a:r>
            <a:endParaRPr lang="en-US" sz="1100" dirty="0"/>
          </a:p>
        </p:txBody>
      </p:sp>
      <p:sp>
        <p:nvSpPr>
          <p:cNvPr id="17" name="Shape 15"/>
          <p:cNvSpPr/>
          <p:nvPr/>
        </p:nvSpPr>
        <p:spPr>
          <a:xfrm>
            <a:off x="8046720" y="1737360"/>
            <a:ext cx="3383280" cy="2560320"/>
          </a:xfrm>
          <a:prstGeom prst="roundRect">
            <a:avLst>
              <a:gd name="adj" fmla="val 4286"/>
            </a:avLst>
          </a:prstGeom>
          <a:solidFill>
            <a:srgbClr val="FFFFFF"/>
          </a:solidFill>
          <a:ln w="19050">
            <a:solidFill>
              <a:srgbClr val="FDE68A"/>
            </a:solidFill>
            <a:prstDash val="solid"/>
          </a:ln>
        </p:spPr>
      </p:sp>
      <p:sp>
        <p:nvSpPr>
          <p:cNvPr id="18" name="Shape 16"/>
          <p:cNvSpPr/>
          <p:nvPr/>
        </p:nvSpPr>
        <p:spPr>
          <a:xfrm>
            <a:off x="8321040" y="1920240"/>
            <a:ext cx="2011680" cy="274320"/>
          </a:xfrm>
          <a:prstGeom prst="roundRect">
            <a:avLst>
              <a:gd name="adj" fmla="val 26667"/>
            </a:avLst>
          </a:prstGeom>
          <a:solidFill>
            <a:srgbClr val="FFFBEB"/>
          </a:solidFill>
          <a:ln w="12700">
            <a:solidFill>
              <a:srgbClr val="FDE68A"/>
            </a:solidFill>
            <a:prstDash val="solid"/>
          </a:ln>
        </p:spPr>
      </p:sp>
      <p:sp>
        <p:nvSpPr>
          <p:cNvPr id="19" name="Text 17"/>
          <p:cNvSpPr/>
          <p:nvPr/>
        </p:nvSpPr>
        <p:spPr>
          <a:xfrm>
            <a:off x="8321040" y="1920240"/>
            <a:ext cx="2011680" cy="274320"/>
          </a:xfrm>
          <a:prstGeom prst="rect">
            <a:avLst/>
          </a:prstGeom>
          <a:noFill/>
          <a:ln/>
        </p:spPr>
        <p:txBody>
          <a:bodyPr wrap="square" rtlCol="0" anchor="ctr"/>
          <a:lstStyle/>
          <a:p>
            <a:pPr algn="ctr" indent="0" marL="0">
              <a:buNone/>
            </a:pPr>
            <a:r>
              <a:rPr lang="en-US" sz="900" b="1" dirty="0">
                <a:solidFill>
                  <a:srgbClr val="D97706"/>
                </a:solidFill>
                <a:latin typeface="Arial" pitchFamily="34" charset="0"/>
                <a:ea typeface="Arial" pitchFamily="34" charset="-122"/>
                <a:cs typeface="Arial" pitchFamily="34" charset="-120"/>
              </a:rPr>
              <a:t>FOR INVESTORS</a:t>
            </a:r>
            <a:endParaRPr lang="en-US" sz="900" dirty="0"/>
          </a:p>
        </p:txBody>
      </p:sp>
      <p:sp>
        <p:nvSpPr>
          <p:cNvPr id="20" name="Text 18"/>
          <p:cNvSpPr/>
          <p:nvPr/>
        </p:nvSpPr>
        <p:spPr>
          <a:xfrm>
            <a:off x="8321040" y="2286000"/>
            <a:ext cx="2834640" cy="32004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High-Margin Scale Rail</a:t>
            </a:r>
            <a:endParaRPr lang="en-US" sz="1600" dirty="0"/>
          </a:p>
        </p:txBody>
      </p:sp>
      <p:sp>
        <p:nvSpPr>
          <p:cNvPr id="21" name="Text 19"/>
          <p:cNvSpPr/>
          <p:nvPr/>
        </p:nvSpPr>
        <p:spPr>
          <a:xfrm>
            <a:off x="8321040" y="2697480"/>
            <a:ext cx="2834640" cy="1463040"/>
          </a:xfrm>
          <a:prstGeom prst="rect">
            <a:avLst/>
          </a:prstGeom>
          <a:noFill/>
          <a:ln/>
        </p:spPr>
        <p:txBody>
          <a:bodyPr wrap="square" rtlCol="0" anchor="ctr"/>
          <a:lstStyle/>
          <a:p>
            <a:pPr indent="0" marL="0">
              <a:lnSpc>
                <a:spcPct val="115000"/>
              </a:lnSpc>
              <a:buNone/>
            </a:pPr>
            <a:r>
              <a:rPr lang="en-US" sz="1100" dirty="0">
                <a:solidFill>
                  <a:srgbClr val="334155"/>
                </a:solidFill>
                <a:latin typeface="Arial" pitchFamily="34" charset="0"/>
                <a:ea typeface="Arial" pitchFamily="34" charset="-122"/>
                <a:cs typeface="Arial" pitchFamily="34" charset="-120"/>
              </a:rPr>
              <a:t>• 100% Asset-light, zero delivery fleet overhead.</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Captive audience with high daily repeat usage.</a:t>
            </a:r>
            <a:endParaRPr lang="en-US" sz="1100" dirty="0"/>
          </a:p>
          <a:p>
            <a:pPr indent="0" marL="0">
              <a:lnSpc>
                <a:spcPct val="115000"/>
              </a:lnSpc>
              <a:buNone/>
            </a:pPr>
            <a:endParaRPr lang="en-US" sz="1100" dirty="0"/>
          </a:p>
          <a:p>
            <a:pPr indent="0" marL="0">
              <a:lnSpc>
                <a:spcPct val="115000"/>
              </a:lnSpc>
              <a:buNone/>
            </a:pPr>
            <a:r>
              <a:rPr lang="en-US" sz="1100" dirty="0">
                <a:solidFill>
                  <a:srgbClr val="334155"/>
                </a:solidFill>
                <a:latin typeface="Arial" pitchFamily="34" charset="0"/>
                <a:ea typeface="Arial" pitchFamily="34" charset="-122"/>
                <a:cs typeface="Arial" pitchFamily="34" charset="-120"/>
              </a:rPr>
              <a:t>• Ready to replicate across 500+ college campuses.</a:t>
            </a:r>
            <a:endParaRPr lang="en-US" sz="1100" dirty="0"/>
          </a:p>
        </p:txBody>
      </p:sp>
      <p:sp>
        <p:nvSpPr>
          <p:cNvPr id="22" name="Shape 20"/>
          <p:cNvSpPr/>
          <p:nvPr/>
        </p:nvSpPr>
        <p:spPr>
          <a:xfrm>
            <a:off x="731520" y="4480560"/>
            <a:ext cx="10698480" cy="1783080"/>
          </a:xfrm>
          <a:prstGeom prst="roundRect">
            <a:avLst>
              <a:gd name="adj" fmla="val 7692"/>
            </a:avLst>
          </a:prstGeom>
          <a:solidFill>
            <a:srgbClr val="ECFDF5"/>
          </a:solidFill>
          <a:ln w="25400">
            <a:solidFill>
              <a:srgbClr val="059669"/>
            </a:solidFill>
            <a:prstDash val="solid"/>
          </a:ln>
        </p:spPr>
      </p:sp>
      <p:sp>
        <p:nvSpPr>
          <p:cNvPr id="23" name="Shape 21"/>
          <p:cNvSpPr/>
          <p:nvPr/>
        </p:nvSpPr>
        <p:spPr>
          <a:xfrm>
            <a:off x="1005840" y="4663440"/>
            <a:ext cx="3200400" cy="292608"/>
          </a:xfrm>
          <a:prstGeom prst="roundRect">
            <a:avLst>
              <a:gd name="adj" fmla="val 25000"/>
            </a:avLst>
          </a:prstGeom>
          <a:solidFill>
            <a:srgbClr val="FFFFFF"/>
          </a:solidFill>
          <a:ln w="12700">
            <a:solidFill>
              <a:srgbClr val="A7F3D0"/>
            </a:solidFill>
            <a:prstDash val="solid"/>
          </a:ln>
        </p:spPr>
      </p:sp>
      <p:sp>
        <p:nvSpPr>
          <p:cNvPr id="24" name="Text 22"/>
          <p:cNvSpPr/>
          <p:nvPr/>
        </p:nvSpPr>
        <p:spPr>
          <a:xfrm>
            <a:off x="1005840" y="4663440"/>
            <a:ext cx="3200400" cy="292608"/>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PILOT LAUNCH: SANJIVANI UNIVERSITY</a:t>
            </a:r>
            <a:endParaRPr lang="en-US" sz="1000" dirty="0"/>
          </a:p>
        </p:txBody>
      </p:sp>
      <p:sp>
        <p:nvSpPr>
          <p:cNvPr id="25" name="Text 23"/>
          <p:cNvSpPr/>
          <p:nvPr/>
        </p:nvSpPr>
        <p:spPr>
          <a:xfrm>
            <a:off x="1005840" y="5029200"/>
            <a:ext cx="10149840" cy="32004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Pilot Launch Outlet: Cafe @7 (Engineering &amp; MBA Campus)</a:t>
            </a:r>
            <a:endParaRPr lang="en-US" sz="1800" dirty="0"/>
          </a:p>
        </p:txBody>
      </p:sp>
      <p:sp>
        <p:nvSpPr>
          <p:cNvPr id="26" name="Text 24"/>
          <p:cNvSpPr/>
          <p:nvPr/>
        </p:nvSpPr>
        <p:spPr>
          <a:xfrm>
            <a:off x="1005840" y="5394960"/>
            <a:ext cx="10149840" cy="27432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Target: 1,500+ Daily Express Meals • 10-Minute Canteen Staff Onboarding • Immediate Positive Unit Cashflow</a:t>
            </a:r>
            <a:endParaRPr lang="en-US" sz="1200" dirty="0"/>
          </a:p>
        </p:txBody>
      </p:sp>
      <p:sp>
        <p:nvSpPr>
          <p:cNvPr id="27" name="Shape 25"/>
          <p:cNvSpPr/>
          <p:nvPr/>
        </p:nvSpPr>
        <p:spPr>
          <a:xfrm>
            <a:off x="1005840" y="5760720"/>
            <a:ext cx="5029200" cy="411480"/>
          </a:xfrm>
          <a:prstGeom prst="roundRect">
            <a:avLst>
              <a:gd name="adj" fmla="val 17778"/>
            </a:avLst>
          </a:prstGeom>
          <a:solidFill>
            <a:srgbClr val="059669"/>
          </a:solidFill>
          <a:ln w="12700">
            <a:solidFill>
              <a:srgbClr val="059669"/>
            </a:solidFill>
            <a:prstDash val="solid"/>
          </a:ln>
        </p:spPr>
      </p:sp>
      <p:sp>
        <p:nvSpPr>
          <p:cNvPr id="28" name="Text 26"/>
          <p:cNvSpPr/>
          <p:nvPr/>
        </p:nvSpPr>
        <p:spPr>
          <a:xfrm>
            <a:off x="1005840" y="5760720"/>
            <a:ext cx="502920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Let's Power the Future of Campus Dining Together</a:t>
            </a:r>
            <a:endParaRPr lang="en-US" sz="1200" dirty="0"/>
          </a:p>
        </p:txBody>
      </p:sp>
      <p:sp>
        <p:nvSpPr>
          <p:cNvPr id="29" name="Text 27"/>
          <p:cNvSpPr/>
          <p:nvPr/>
        </p:nvSpPr>
        <p:spPr>
          <a:xfrm>
            <a:off x="6217920" y="5806440"/>
            <a:ext cx="4937760" cy="320040"/>
          </a:xfrm>
          <a:prstGeom prst="rect">
            <a:avLst/>
          </a:prstGeom>
          <a:noFill/>
          <a:ln/>
        </p:spPr>
        <p:txBody>
          <a:bodyPr wrap="square" rtlCol="0" anchor="ctr"/>
          <a:lstStyle/>
          <a:p>
            <a:pPr algn="r" indent="0" marL="0">
              <a:buNone/>
            </a:pPr>
            <a:r>
              <a:rPr lang="en-US" sz="1100" b="1" dirty="0">
                <a:solidFill>
                  <a:srgbClr val="059669"/>
                </a:solidFill>
                <a:latin typeface="Arial" pitchFamily="34" charset="0"/>
                <a:ea typeface="Arial" pitchFamily="34" charset="-122"/>
                <a:cs typeface="Arial" pitchFamily="34" charset="-120"/>
              </a:rPr>
              <a:t>Contact: Shivam &amp; FoodLine Core Team • foodlinecampus@gmail.com</a:t>
            </a:r>
            <a:endParaRPr lang="en-US" sz="1100" dirty="0"/>
          </a:p>
        </p:txBody>
      </p:sp>
      <p:sp>
        <p:nvSpPr>
          <p:cNvPr id="30" name="Text 28"/>
          <p:cNvSpPr/>
          <p:nvPr/>
        </p:nvSpPr>
        <p:spPr>
          <a:xfrm>
            <a:off x="731520" y="6446520"/>
            <a:ext cx="5486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FoodLine Campus • Master Pitch Deck 2026</a:t>
            </a:r>
            <a:endParaRPr lang="en-US" sz="900" dirty="0"/>
          </a:p>
        </p:txBody>
      </p:sp>
      <p:sp>
        <p:nvSpPr>
          <p:cNvPr id="31" name="Text 29"/>
          <p:cNvSpPr/>
          <p:nvPr/>
        </p:nvSpPr>
        <p:spPr>
          <a:xfrm>
            <a:off x="9144000" y="64465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2026-09-18T18:25:21Z</dcterms:created>
  <dcterms:modified xsi:type="dcterms:W3CDTF">2026-09-18T18:25:21Z</dcterms:modified>
</cp:coreProperties>
</file>