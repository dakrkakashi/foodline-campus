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high energy! Good morning everyone! Today I want to show you FoodLine — the smart campus pre-ordering platform that makes canteen queues completely disappear. At Sanjivani University, students get a short 15-minute recess, but spend up to 12 minutes trapped in line. FoodLine changes that forever with 30-Second Express Pickup.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shared student pain! Every student experiences the frustration of pushing through crowds, waiting the whole recess, only to hear: 'Samosa sold out!' Meanwhile, canteen owners lose thousands of rupees every week because cashiers can't verify fake Google Pay screenshots during the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with your fingers 1, 2, 3, 4 as you explain the 4 steps: 1. Choose your break slot in advance on your phone. 2. Add snacks and pay via direct UPI with automated 12-digit UTR checks. 3. Receive your high-contrast optical QR pass with a 4-digit OTP. 4. Walk to the express counter, scan, and pick up your hot food in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if 500 students order at once? That's where our 60-Order Slot Throttler shines. By capping each 15-minute break slot to 60 orders using atomic database transactions, the kitchen never gets overwhelmed, food is always cooked hot, and pickups happen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financial peace of mind! Next is our Anti-Fraud UPI Shield. Every real bank transaction generates a unique 12-digit reference number. FoodLine checks this instantly and prevents replay attacks. Canteen owners receive 100% genuine payments directly into their accounts with zero fraudulent screenshot losses.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cafeteria kitchen, chefs manage orders on an intuitive tablet interface called the KDS. When food is packed and ready, a single tap triggers the suspended counter TV screen with audible chime announcements: 'Token FL-1793 is Ready at Counter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students, FoodLine provides a complete Order History dashboard. You can track live preparation status, retrieve optical QR tokens anytime, and use our 1-Tap Fast Reorder button to buy your favorite lunch combo without re-browsing menus.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with pride about the Sanjivani University deployment! We have all 44 menu dishes loaded, 4 daily break slots configured, and 100% paperless optical QR tokens. Students don't even have to install a heavy app — it loads instantly in any browser as a PWA.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economics simple: on every ₹50 order, the canteen owner retains ₹44 with zero cashier headaches, and FoodLine earns ₹6. Because queues vanish, the canteen serves 40% more students every single day without hiring extra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high reliability under 2,500 requests per second. Under the hood, FoodLine is built on Next.js 15, PostgreSQL database, and Server-Sent Events (SSE). It handles thousands of simultaneous student clicks during class dismissal bells with zero 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can't Swiggy or Zomato work here? Because outside delivery drivers aren't allowed inside college corridors, they charge ₹40+ fees, and take 45 minutes! FoodLine is engineered specifically for campus recess — ₹0 delivery fee, 30-second pickup, and guaranteed hot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students is effortless with our 1-Tap PRN Campus Login. Students simply enter their Sanjivani PRN or sign in via Google. FoodLine verifies their campus credentials via Google Sheets master directory sync, routing them directly into Cafe @7's live menu with automated break slot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our adaptive design system! We offer full Day and Night modes along with our new Royal Ivory &amp; Gold luxury theme. Students can enjoy glare-free outdoor browsing during sunny breaks or deep dark OLED modes during evening study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acquire students rapidly, we launched our viral 40-Second Student Video Campaign called 'Own Your Recess'. It shows students how to order in 5 seconds from class and breeze past 40 people waiting in line to grab hot food in 18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vision is to expand FoodLine to 50+ college campuses across Maharashtra. We are giving students their break time back — hot food, zero queues, and pure convenience. Thank you so much! We would love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70B"/>
        </a:solidFill>
      </p:bgPr>
    </p:bg>
    <p:spTree>
      <p:nvGrpSpPr>
        <p:cNvPr id="1" name=""/>
        <p:cNvGrpSpPr/>
        <p:nvPr/>
      </p:nvGrpSpPr>
      <p:grpSpPr>
        <a:xfrm>
          <a:off x="0" y="0"/>
          <a:ext cx="0" cy="0"/>
          <a:chOff x="0" y="0"/>
          <a:chExt cx="0" cy="0"/>
        </a:xfrm>
      </p:grpSpPr>
      <p:pic>
        <p:nvPicPr>
          <p:cNvPr id="2" name="Image 0" descr="/home/darkkakashi/Desktop/StartUp Project (FOODLINE CAMPUS)/PPT OTHER TASKES/extracted_assets/image-1-1.jpeg">    </p:cNvPr>
          <p:cNvPicPr>
            <a:picLocks noChangeAspect="1"/>
          </p:cNvPicPr>
          <p:nvPr/>
        </p:nvPicPr>
        <p:blipFill>
          <a:blip r:embed="rId1"/>
          <a:stretch>
            <a:fillRect/>
          </a:stretch>
        </p:blipFill>
        <p:spPr>
          <a:xfrm>
            <a:off x="6583680" y="731520"/>
            <a:ext cx="4846320" cy="5303520"/>
          </a:xfrm>
          <a:prstGeom prst="ellipse">
            <a:avLst/>
          </a:prstGeom>
        </p:spPr>
      </p:pic>
      <p:sp>
        <p:nvSpPr>
          <p:cNvPr id="3" name="Shape 0"/>
          <p:cNvSpPr/>
          <p:nvPr/>
        </p:nvSpPr>
        <p:spPr>
          <a:xfrm>
            <a:off x="731520" y="731520"/>
            <a:ext cx="5577840" cy="5303520"/>
          </a:xfrm>
          <a:prstGeom prst="roundRect">
            <a:avLst>
              <a:gd name="adj" fmla="val 3448"/>
            </a:avLst>
          </a:prstGeom>
          <a:solidFill>
            <a:srgbClr val="14121E"/>
          </a:solidFill>
          <a:ln w="19050">
            <a:solidFill>
              <a:srgbClr val="FF6B2C"/>
            </a:solidFill>
            <a:prstDash val="solid"/>
          </a:ln>
        </p:spPr>
      </p:sp>
      <p:sp>
        <p:nvSpPr>
          <p:cNvPr id="4" name="Text 1"/>
          <p:cNvSpPr/>
          <p:nvPr/>
        </p:nvSpPr>
        <p:spPr>
          <a:xfrm>
            <a:off x="1097280" y="1097280"/>
            <a:ext cx="4846320" cy="274320"/>
          </a:xfrm>
          <a:prstGeom prst="rect">
            <a:avLst/>
          </a:prstGeom>
          <a:noFill/>
          <a:ln/>
        </p:spPr>
        <p:txBody>
          <a:bodyPr wrap="square" rtlCol="0" anchor="ctr"/>
          <a:lstStyle/>
          <a:p>
            <a:pPr indent="0" marL="0">
              <a:buNone/>
            </a:pPr>
            <a:r>
              <a:rPr lang="en-US" sz="1100" b="1" dirty="0">
                <a:solidFill>
                  <a:srgbClr val="FF6B2C"/>
                </a:solidFill>
                <a:latin typeface="Arial" pitchFamily="34" charset="0"/>
                <a:ea typeface="Arial" pitchFamily="34" charset="-122"/>
                <a:cs typeface="Arial" pitchFamily="34" charset="-120"/>
              </a:rPr>
              <a:t>CAMPUS DINING REIMAGINED</a:t>
            </a:r>
            <a:endParaRPr lang="en-US" sz="1100" dirty="0"/>
          </a:p>
        </p:txBody>
      </p:sp>
      <p:sp>
        <p:nvSpPr>
          <p:cNvPr id="5" name="Text 2"/>
          <p:cNvSpPr/>
          <p:nvPr/>
        </p:nvSpPr>
        <p:spPr>
          <a:xfrm>
            <a:off x="1097280" y="1463040"/>
            <a:ext cx="4846320" cy="1097280"/>
          </a:xfrm>
          <a:prstGeom prst="rect">
            <a:avLst/>
          </a:prstGeom>
          <a:noFill/>
          <a:ln/>
        </p:spPr>
        <p:txBody>
          <a:bodyPr wrap="square" rtlCol="0" anchor="ctr"/>
          <a:lstStyle/>
          <a:p>
            <a:pPr indent="0" marL="0">
              <a:lnSpc>
                <a:spcPct val="110000"/>
              </a:lnSpc>
              <a:buNone/>
            </a:pPr>
            <a:r>
              <a:rPr lang="en-US" sz="2800" b="1" dirty="0">
                <a:solidFill>
                  <a:srgbClr val="FFFFFF"/>
                </a:solidFill>
                <a:latin typeface="Trebuchet MS" pitchFamily="34" charset="0"/>
                <a:ea typeface="Trebuchet MS" pitchFamily="34" charset="-122"/>
                <a:cs typeface="Trebuchet MS" pitchFamily="34" charset="-120"/>
              </a:rPr>
              <a:t>FoodLine — Zero-Queue Campus Express Pickup</a:t>
            </a:r>
            <a:endParaRPr lang="en-US" sz="2800" dirty="0"/>
          </a:p>
        </p:txBody>
      </p:sp>
      <p:sp>
        <p:nvSpPr>
          <p:cNvPr id="6" name="Text 3"/>
          <p:cNvSpPr/>
          <p:nvPr/>
        </p:nvSpPr>
        <p:spPr>
          <a:xfrm>
            <a:off x="1097280" y="2651760"/>
            <a:ext cx="4846320" cy="1005840"/>
          </a:xfrm>
          <a:prstGeom prst="rect">
            <a:avLst/>
          </a:prstGeom>
          <a:noFill/>
          <a:ln/>
        </p:spPr>
        <p:txBody>
          <a:bodyPr wrap="square" rtlCol="0" anchor="ctr"/>
          <a:lstStyle/>
          <a:p>
            <a:pPr indent="0" marL="0">
              <a:lnSpc>
                <a:spcPct val="120000"/>
              </a:lnSpc>
              <a:buNone/>
            </a:pPr>
            <a:r>
              <a:rPr lang="en-US" sz="1300" dirty="0">
                <a:solidFill>
                  <a:srgbClr val="9E9EAF"/>
                </a:solidFill>
                <a:latin typeface="Arial" pitchFamily="34" charset="0"/>
                <a:ea typeface="Arial" pitchFamily="34" charset="-122"/>
                <a:cs typeface="Arial" pitchFamily="34" charset="-120"/>
              </a:rPr>
              <a:t>Turning 15-minute campus recess queue bottlenecks into 30-second express handovers. Students pre-order from class desks, receive an optical QR pass, and bypass 200-student crowds straight to the express counter.</a:t>
            </a:r>
            <a:endParaRPr lang="en-US" sz="1300" dirty="0"/>
          </a:p>
        </p:txBody>
      </p:sp>
      <p:sp>
        <p:nvSpPr>
          <p:cNvPr id="7" name="Shape 4"/>
          <p:cNvSpPr/>
          <p:nvPr/>
        </p:nvSpPr>
        <p:spPr>
          <a:xfrm>
            <a:off x="1097280" y="3840480"/>
            <a:ext cx="2286000" cy="1097280"/>
          </a:xfrm>
          <a:prstGeom prst="roundRect">
            <a:avLst>
              <a:gd name="adj" fmla="val 12500"/>
            </a:avLst>
          </a:prstGeom>
          <a:solidFill>
            <a:srgbClr val="1B1828"/>
          </a:solidFill>
          <a:ln w="12700">
            <a:solidFill>
              <a:srgbClr val="35304C"/>
            </a:solidFill>
            <a:prstDash val="solid"/>
          </a:ln>
        </p:spPr>
      </p:sp>
      <p:sp>
        <p:nvSpPr>
          <p:cNvPr id="8" name="Text 5"/>
          <p:cNvSpPr/>
          <p:nvPr/>
        </p:nvSpPr>
        <p:spPr>
          <a:xfrm>
            <a:off x="1188720" y="3931920"/>
            <a:ext cx="2103120" cy="457200"/>
          </a:xfrm>
          <a:prstGeom prst="rect">
            <a:avLst/>
          </a:prstGeom>
          <a:noFill/>
          <a:ln/>
        </p:spPr>
        <p:txBody>
          <a:bodyPr wrap="square" rtlCol="0" anchor="ctr"/>
          <a:lstStyle/>
          <a:p>
            <a:pPr indent="0" marL="0">
              <a:buNone/>
            </a:pPr>
            <a:r>
              <a:rPr lang="en-US" sz="2200" b="1" dirty="0">
                <a:solidFill>
                  <a:srgbClr val="FF3366"/>
                </a:solidFill>
                <a:latin typeface="Trebuchet MS" pitchFamily="34" charset="0"/>
                <a:ea typeface="Trebuchet MS" pitchFamily="34" charset="-122"/>
                <a:cs typeface="Trebuchet MS" pitchFamily="34" charset="-120"/>
              </a:rPr>
              <a:t>15 MIN</a:t>
            </a:r>
            <a:endParaRPr lang="en-US" sz="2200" dirty="0"/>
          </a:p>
        </p:txBody>
      </p:sp>
      <p:sp>
        <p:nvSpPr>
          <p:cNvPr id="9" name="Text 6"/>
          <p:cNvSpPr/>
          <p:nvPr/>
        </p:nvSpPr>
        <p:spPr>
          <a:xfrm>
            <a:off x="1188720" y="4389120"/>
            <a:ext cx="2103120" cy="457200"/>
          </a:xfrm>
          <a:prstGeom prst="rect">
            <a:avLst/>
          </a:prstGeom>
          <a:noFill/>
          <a:ln/>
        </p:spPr>
        <p:txBody>
          <a:bodyPr wrap="square" rtlCol="0" anchor="ctr"/>
          <a:lstStyle/>
          <a:p>
            <a:pPr indent="0" marL="0">
              <a:buNone/>
            </a:pPr>
            <a:r>
              <a:rPr lang="en-US" sz="1000" dirty="0">
                <a:solidFill>
                  <a:srgbClr val="9E9EAF"/>
                </a:solidFill>
                <a:latin typeface="Arial" pitchFamily="34" charset="0"/>
                <a:ea typeface="Arial" pitchFamily="34" charset="-122"/>
                <a:cs typeface="Arial" pitchFamily="34" charset="-120"/>
              </a:rPr>
              <a:t>Average Recess</a:t>
            </a:r>
            <a:endParaRPr lang="en-US" sz="1000" dirty="0"/>
          </a:p>
          <a:p>
            <a:pPr indent="0" marL="0">
              <a:buNone/>
            </a:pPr>
            <a:r>
              <a:rPr lang="en-US" sz="1000" dirty="0">
                <a:solidFill>
                  <a:srgbClr val="9E9EAF"/>
                </a:solidFill>
                <a:latin typeface="Arial" pitchFamily="34" charset="0"/>
                <a:ea typeface="Arial" pitchFamily="34" charset="-122"/>
                <a:cs typeface="Arial" pitchFamily="34" charset="-120"/>
              </a:rPr>
              <a:t>(80% wasted in line)</a:t>
            </a:r>
            <a:endParaRPr lang="en-US" sz="1000" dirty="0"/>
          </a:p>
        </p:txBody>
      </p:sp>
      <p:sp>
        <p:nvSpPr>
          <p:cNvPr id="10" name="Shape 7"/>
          <p:cNvSpPr/>
          <p:nvPr/>
        </p:nvSpPr>
        <p:spPr>
          <a:xfrm>
            <a:off x="3566160" y="3840480"/>
            <a:ext cx="2377440" cy="1097280"/>
          </a:xfrm>
          <a:prstGeom prst="roundRect">
            <a:avLst>
              <a:gd name="adj" fmla="val 12500"/>
            </a:avLst>
          </a:prstGeom>
          <a:solidFill>
            <a:srgbClr val="1B1828"/>
          </a:solidFill>
          <a:ln w="15240">
            <a:solidFill>
              <a:srgbClr val="00D4AA"/>
            </a:solidFill>
            <a:prstDash val="solid"/>
          </a:ln>
        </p:spPr>
      </p:sp>
      <p:sp>
        <p:nvSpPr>
          <p:cNvPr id="11" name="Text 8"/>
          <p:cNvSpPr/>
          <p:nvPr/>
        </p:nvSpPr>
        <p:spPr>
          <a:xfrm>
            <a:off x="3657600" y="3931920"/>
            <a:ext cx="2194560" cy="457200"/>
          </a:xfrm>
          <a:prstGeom prst="rect">
            <a:avLst/>
          </a:prstGeom>
          <a:noFill/>
          <a:ln/>
        </p:spPr>
        <p:txBody>
          <a:bodyPr wrap="square" rtlCol="0" anchor="ctr"/>
          <a:lstStyle/>
          <a:p>
            <a:pPr indent="0" marL="0">
              <a:buNone/>
            </a:pPr>
            <a:r>
              <a:rPr lang="en-US" sz="2200" b="1" dirty="0">
                <a:solidFill>
                  <a:srgbClr val="00D4AA"/>
                </a:solidFill>
                <a:latin typeface="Trebuchet MS" pitchFamily="34" charset="0"/>
                <a:ea typeface="Trebuchet MS" pitchFamily="34" charset="-122"/>
                <a:cs typeface="Trebuchet MS" pitchFamily="34" charset="-120"/>
              </a:rPr>
              <a:t>30 SEC</a:t>
            </a:r>
            <a:endParaRPr lang="en-US" sz="2200" dirty="0"/>
          </a:p>
        </p:txBody>
      </p:sp>
      <p:sp>
        <p:nvSpPr>
          <p:cNvPr id="12" name="Text 9"/>
          <p:cNvSpPr/>
          <p:nvPr/>
        </p:nvSpPr>
        <p:spPr>
          <a:xfrm>
            <a:off x="3657600" y="4389120"/>
            <a:ext cx="2194560" cy="457200"/>
          </a:xfrm>
          <a:prstGeom prst="rect">
            <a:avLst/>
          </a:prstGeom>
          <a:noFill/>
          <a:ln/>
        </p:spPr>
        <p:txBody>
          <a:bodyPr wrap="square" rtlCol="0" anchor="ctr"/>
          <a:lstStyle/>
          <a:p>
            <a:pPr indent="0" marL="0">
              <a:buNone/>
            </a:pPr>
            <a:r>
              <a:rPr lang="en-US" sz="1000" dirty="0">
                <a:solidFill>
                  <a:srgbClr val="9E9EAF"/>
                </a:solidFill>
                <a:latin typeface="Arial" pitchFamily="34" charset="0"/>
                <a:ea typeface="Arial" pitchFamily="34" charset="-122"/>
                <a:cs typeface="Arial" pitchFamily="34" charset="-120"/>
              </a:rPr>
              <a:t>Express Pickup</a:t>
            </a:r>
            <a:endParaRPr lang="en-US" sz="1000" dirty="0"/>
          </a:p>
          <a:p>
            <a:pPr indent="0" marL="0">
              <a:buNone/>
            </a:pPr>
            <a:r>
              <a:rPr lang="en-US" sz="1000" dirty="0">
                <a:solidFill>
                  <a:srgbClr val="9E9EAF"/>
                </a:solidFill>
                <a:latin typeface="Arial" pitchFamily="34" charset="0"/>
                <a:ea typeface="Arial" pitchFamily="34" charset="-122"/>
                <a:cs typeface="Arial" pitchFamily="34" charset="-120"/>
              </a:rPr>
              <a:t>(Pre-batched meals ready)</a:t>
            </a:r>
            <a:endParaRPr lang="en-US" sz="1000" dirty="0"/>
          </a:p>
        </p:txBody>
      </p:sp>
      <p:sp>
        <p:nvSpPr>
          <p:cNvPr id="13" name="Shape 10"/>
          <p:cNvSpPr/>
          <p:nvPr/>
        </p:nvSpPr>
        <p:spPr>
          <a:xfrm>
            <a:off x="1097280" y="5120640"/>
            <a:ext cx="4846320" cy="548640"/>
          </a:xfrm>
          <a:prstGeom prst="roundRect">
            <a:avLst>
              <a:gd name="adj" fmla="val 16667"/>
            </a:avLst>
          </a:prstGeom>
          <a:solidFill>
            <a:srgbClr val="182622"/>
          </a:solidFill>
          <a:ln w="12700">
            <a:solidFill>
              <a:srgbClr val="00D4AA"/>
            </a:solidFill>
            <a:prstDash val="solid"/>
          </a:ln>
        </p:spPr>
      </p:sp>
      <p:sp>
        <p:nvSpPr>
          <p:cNvPr id="14" name="Text 11"/>
          <p:cNvSpPr/>
          <p:nvPr/>
        </p:nvSpPr>
        <p:spPr>
          <a:xfrm>
            <a:off x="1097280" y="5120640"/>
            <a:ext cx="4846320" cy="548640"/>
          </a:xfrm>
          <a:prstGeom prst="rect">
            <a:avLst/>
          </a:prstGeom>
          <a:noFill/>
          <a:ln/>
        </p:spPr>
        <p:txBody>
          <a:bodyPr wrap="square" rtlCol="0" anchor="ctr"/>
          <a:lstStyle/>
          <a:p>
            <a:pPr algn="ctr" indent="0" marL="0">
              <a:buNone/>
            </a:pPr>
            <a:r>
              <a:rPr lang="en-US" sz="1100" b="1" dirty="0">
                <a:solidFill>
                  <a:srgbClr val="00D4AA"/>
                </a:solidFill>
                <a:latin typeface="Arial" pitchFamily="34" charset="0"/>
                <a:ea typeface="Arial" pitchFamily="34" charset="-122"/>
                <a:cs typeface="Arial" pitchFamily="34" charset="-120"/>
              </a:rPr>
              <a:t>✨ LIVE PILOT: SANJIVANI UNIVERSITY, KOPARGAON • CAFE @7</a:t>
            </a:r>
            <a:endParaRPr lang="en-US" sz="1100" dirty="0"/>
          </a:p>
        </p:txBody>
      </p:sp>
      <p:sp>
        <p:nvSpPr>
          <p:cNvPr id="15" name="Text 12"/>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16" name="Text 13"/>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FF3366"/>
                </a:solidFill>
                <a:latin typeface="Arial" pitchFamily="34" charset="0"/>
                <a:ea typeface="Arial" pitchFamily="34" charset="-122"/>
                <a:cs typeface="Arial" pitchFamily="34" charset="-120"/>
              </a:rPr>
              <a:t>01 · THE PROBLEM</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Why Recess Lines Ruin Every Student's Break</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02 / 15</a:t>
            </a:r>
            <a:endParaRPr lang="en-US" sz="1000" dirty="0"/>
          </a:p>
        </p:txBody>
      </p:sp>
      <p:sp>
        <p:nvSpPr>
          <p:cNvPr id="6" name="Shape 4"/>
          <p:cNvSpPr/>
          <p:nvPr/>
        </p:nvSpPr>
        <p:spPr>
          <a:xfrm>
            <a:off x="731520" y="1645920"/>
            <a:ext cx="3383280" cy="4389120"/>
          </a:xfrm>
          <a:prstGeom prst="roundRect">
            <a:avLst>
              <a:gd name="adj" fmla="val 5405"/>
            </a:avLst>
          </a:prstGeom>
          <a:solidFill>
            <a:srgbClr val="14121E"/>
          </a:solidFill>
          <a:ln w="19050">
            <a:solidFill>
              <a:srgbClr val="4A1E28"/>
            </a:solidFill>
            <a:prstDash val="solid"/>
          </a:ln>
        </p:spPr>
      </p:sp>
      <p:sp>
        <p:nvSpPr>
          <p:cNvPr id="7" name="Text 5"/>
          <p:cNvSpPr/>
          <p:nvPr/>
        </p:nvSpPr>
        <p:spPr>
          <a:xfrm>
            <a:off x="10058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8" name="Text 6"/>
          <p:cNvSpPr/>
          <p:nvPr/>
        </p:nvSpPr>
        <p:spPr>
          <a:xfrm>
            <a:off x="2011680" y="1920240"/>
            <a:ext cx="1828800" cy="548640"/>
          </a:xfrm>
          <a:prstGeom prst="rect">
            <a:avLst/>
          </a:prstGeom>
          <a:noFill/>
          <a:ln/>
        </p:spPr>
        <p:txBody>
          <a:bodyPr wrap="square" rtlCol="0" anchor="ctr"/>
          <a:lstStyle/>
          <a:p>
            <a:pPr algn="r" indent="0" marL="0">
              <a:buNone/>
            </a:pPr>
            <a:r>
              <a:rPr lang="en-US" sz="2200" b="1" dirty="0">
                <a:solidFill>
                  <a:srgbClr val="FF3366"/>
                </a:solidFill>
                <a:latin typeface="Trebuchet MS" pitchFamily="34" charset="0"/>
                <a:ea typeface="Trebuchet MS" pitchFamily="34" charset="-122"/>
                <a:cs typeface="Trebuchet MS" pitchFamily="34" charset="-120"/>
              </a:rPr>
              <a:t>12 MIN</a:t>
            </a:r>
            <a:endParaRPr lang="en-US" sz="2200" dirty="0"/>
          </a:p>
        </p:txBody>
      </p:sp>
      <p:sp>
        <p:nvSpPr>
          <p:cNvPr id="9" name="Text 7"/>
          <p:cNvSpPr/>
          <p:nvPr/>
        </p:nvSpPr>
        <p:spPr>
          <a:xfrm>
            <a:off x="1005840" y="2651760"/>
            <a:ext cx="2834640" cy="64008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12-Minute Push &amp; Shove</a:t>
            </a:r>
            <a:endParaRPr lang="en-US" sz="1800" dirty="0"/>
          </a:p>
        </p:txBody>
      </p:sp>
      <p:sp>
        <p:nvSpPr>
          <p:cNvPr id="10" name="Text 8"/>
          <p:cNvSpPr/>
          <p:nvPr/>
        </p:nvSpPr>
        <p:spPr>
          <a:xfrm>
            <a:off x="1005840" y="3383280"/>
            <a:ext cx="2834640" cy="164592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Recess is only 15 minutes. Students spend 12 minutes trapped in a packed crowd waving notes, leaving just 3 minutes to eat before the next lecture bell.</a:t>
            </a:r>
            <a:endParaRPr lang="en-US" sz="1250" dirty="0"/>
          </a:p>
        </p:txBody>
      </p:sp>
      <p:sp>
        <p:nvSpPr>
          <p:cNvPr id="11" name="Shape 9"/>
          <p:cNvSpPr/>
          <p:nvPr/>
        </p:nvSpPr>
        <p:spPr>
          <a:xfrm>
            <a:off x="1005840" y="5303520"/>
            <a:ext cx="2834640" cy="411480"/>
          </a:xfrm>
          <a:prstGeom prst="roundRect">
            <a:avLst>
              <a:gd name="adj" fmla="val 22222"/>
            </a:avLst>
          </a:prstGeom>
          <a:solidFill>
            <a:srgbClr val="261418"/>
          </a:solidFill>
          <a:ln w="12700">
            <a:solidFill>
              <a:srgbClr val="FF3366"/>
            </a:solidFill>
            <a:prstDash val="solid"/>
          </a:ln>
        </p:spPr>
      </p:sp>
      <p:sp>
        <p:nvSpPr>
          <p:cNvPr id="12" name="Text 10"/>
          <p:cNvSpPr/>
          <p:nvPr/>
        </p:nvSpPr>
        <p:spPr>
          <a:xfrm>
            <a:off x="1005840" y="5303520"/>
            <a:ext cx="2834640" cy="411480"/>
          </a:xfrm>
          <a:prstGeom prst="rect">
            <a:avLst/>
          </a:prstGeom>
          <a:noFill/>
          <a:ln/>
        </p:spPr>
        <p:txBody>
          <a:bodyPr wrap="square" rtlCol="0" anchor="ctr"/>
          <a:lstStyle/>
          <a:p>
            <a:pPr algn="ctr" indent="0" marL="0">
              <a:buNone/>
            </a:pPr>
            <a:r>
              <a:rPr lang="en-US" sz="1000" b="1" dirty="0">
                <a:solidFill>
                  <a:srgbClr val="FF3366"/>
                </a:solidFill>
                <a:latin typeface="Arial" pitchFamily="34" charset="0"/>
                <a:ea typeface="Arial" pitchFamily="34" charset="-122"/>
                <a:cs typeface="Arial" pitchFamily="34" charset="-120"/>
              </a:rPr>
              <a:t>80% BREAK WASTED</a:t>
            </a:r>
            <a:endParaRPr lang="en-US" sz="1000" dirty="0"/>
          </a:p>
        </p:txBody>
      </p:sp>
      <p:sp>
        <p:nvSpPr>
          <p:cNvPr id="13" name="Shape 11"/>
          <p:cNvSpPr/>
          <p:nvPr/>
        </p:nvSpPr>
        <p:spPr>
          <a:xfrm>
            <a:off x="4389120" y="1645920"/>
            <a:ext cx="3383280" cy="4389120"/>
          </a:xfrm>
          <a:prstGeom prst="roundRect">
            <a:avLst>
              <a:gd name="adj" fmla="val 5405"/>
            </a:avLst>
          </a:prstGeom>
          <a:solidFill>
            <a:srgbClr val="14121E"/>
          </a:solidFill>
          <a:ln w="19050">
            <a:solidFill>
              <a:srgbClr val="4A3B1E"/>
            </a:solidFill>
            <a:prstDash val="solid"/>
          </a:ln>
        </p:spPr>
      </p:sp>
      <p:sp>
        <p:nvSpPr>
          <p:cNvPr id="14" name="Text 12"/>
          <p:cNvSpPr/>
          <p:nvPr/>
        </p:nvSpPr>
        <p:spPr>
          <a:xfrm>
            <a:off x="46634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5" name="Text 13"/>
          <p:cNvSpPr/>
          <p:nvPr/>
        </p:nvSpPr>
        <p:spPr>
          <a:xfrm>
            <a:off x="5669280" y="1920240"/>
            <a:ext cx="1828800" cy="548640"/>
          </a:xfrm>
          <a:prstGeom prst="rect">
            <a:avLst/>
          </a:prstGeom>
          <a:noFill/>
          <a:ln/>
        </p:spPr>
        <p:txBody>
          <a:bodyPr wrap="square" rtlCol="0" anchor="ctr"/>
          <a:lstStyle/>
          <a:p>
            <a:pPr algn="r" indent="0" marL="0">
              <a:buNone/>
            </a:pPr>
            <a:r>
              <a:rPr lang="en-US" sz="2200" b="1" dirty="0">
                <a:solidFill>
                  <a:srgbClr val="FFA834"/>
                </a:solidFill>
                <a:latin typeface="Trebuchet MS" pitchFamily="34" charset="0"/>
                <a:ea typeface="Trebuchet MS" pitchFamily="34" charset="-122"/>
                <a:cs typeface="Trebuchet MS" pitchFamily="34" charset="-120"/>
              </a:rPr>
              <a:t>40% DROP</a:t>
            </a:r>
            <a:endParaRPr lang="en-US" sz="2200" dirty="0"/>
          </a:p>
        </p:txBody>
      </p:sp>
      <p:sp>
        <p:nvSpPr>
          <p:cNvPr id="16" name="Text 14"/>
          <p:cNvSpPr/>
          <p:nvPr/>
        </p:nvSpPr>
        <p:spPr>
          <a:xfrm>
            <a:off x="4663440" y="2651760"/>
            <a:ext cx="2834640" cy="64008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"Bhaiya Samosa Khatam!"</a:t>
            </a:r>
            <a:endParaRPr lang="en-US" sz="1800" dirty="0"/>
          </a:p>
        </p:txBody>
      </p:sp>
      <p:sp>
        <p:nvSpPr>
          <p:cNvPr id="17" name="Text 15"/>
          <p:cNvSpPr/>
          <p:nvPr/>
        </p:nvSpPr>
        <p:spPr>
          <a:xfrm>
            <a:off x="4663440" y="3383280"/>
            <a:ext cx="2834640" cy="164592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After waiting 10 minutes in the rush, students reach the counter only to discover their favorite snack is sold out. Hungry students return to class empty-handed.</a:t>
            </a:r>
            <a:endParaRPr lang="en-US" sz="1250" dirty="0"/>
          </a:p>
        </p:txBody>
      </p:sp>
      <p:sp>
        <p:nvSpPr>
          <p:cNvPr id="18" name="Shape 16"/>
          <p:cNvSpPr/>
          <p:nvPr/>
        </p:nvSpPr>
        <p:spPr>
          <a:xfrm>
            <a:off x="4663440" y="5303520"/>
            <a:ext cx="2834640" cy="411480"/>
          </a:xfrm>
          <a:prstGeom prst="roundRect">
            <a:avLst>
              <a:gd name="adj" fmla="val 22222"/>
            </a:avLst>
          </a:prstGeom>
          <a:solidFill>
            <a:srgbClr val="262014"/>
          </a:solidFill>
          <a:ln w="12700">
            <a:solidFill>
              <a:srgbClr val="FFA834"/>
            </a:solidFill>
            <a:prstDash val="solid"/>
          </a:ln>
        </p:spPr>
      </p:sp>
      <p:sp>
        <p:nvSpPr>
          <p:cNvPr id="19" name="Text 17"/>
          <p:cNvSpPr/>
          <p:nvPr/>
        </p:nvSpPr>
        <p:spPr>
          <a:xfrm>
            <a:off x="4663440" y="5303520"/>
            <a:ext cx="2834640" cy="411480"/>
          </a:xfrm>
          <a:prstGeom prst="rect">
            <a:avLst/>
          </a:prstGeom>
          <a:noFill/>
          <a:ln/>
        </p:spPr>
        <p:txBody>
          <a:bodyPr wrap="square" rtlCol="0" anchor="ctr"/>
          <a:lstStyle/>
          <a:p>
            <a:pPr algn="ctr" indent="0" marL="0">
              <a:buNone/>
            </a:pPr>
            <a:r>
              <a:rPr lang="en-US" sz="1000" b="1" dirty="0">
                <a:solidFill>
                  <a:srgbClr val="FFA834"/>
                </a:solidFill>
                <a:latin typeface="Arial" pitchFamily="34" charset="0"/>
                <a:ea typeface="Arial" pitchFamily="34" charset="-122"/>
                <a:cs typeface="Arial" pitchFamily="34" charset="-120"/>
              </a:rPr>
              <a:t>BLIND QUEUING</a:t>
            </a:r>
            <a:endParaRPr lang="en-US" sz="1000" dirty="0"/>
          </a:p>
        </p:txBody>
      </p:sp>
      <p:sp>
        <p:nvSpPr>
          <p:cNvPr id="20" name="Shape 18"/>
          <p:cNvSpPr/>
          <p:nvPr/>
        </p:nvSpPr>
        <p:spPr>
          <a:xfrm>
            <a:off x="8046720" y="1645920"/>
            <a:ext cx="3383280" cy="4389120"/>
          </a:xfrm>
          <a:prstGeom prst="roundRect">
            <a:avLst>
              <a:gd name="adj" fmla="val 5405"/>
            </a:avLst>
          </a:prstGeom>
          <a:solidFill>
            <a:srgbClr val="14121E"/>
          </a:solidFill>
          <a:ln w="19050">
            <a:solidFill>
              <a:srgbClr val="4A1E28"/>
            </a:solidFill>
            <a:prstDash val="solid"/>
          </a:ln>
        </p:spPr>
      </p:sp>
      <p:sp>
        <p:nvSpPr>
          <p:cNvPr id="21" name="Text 19"/>
          <p:cNvSpPr/>
          <p:nvPr/>
        </p:nvSpPr>
        <p:spPr>
          <a:xfrm>
            <a:off x="83210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22" name="Text 20"/>
          <p:cNvSpPr/>
          <p:nvPr/>
        </p:nvSpPr>
        <p:spPr>
          <a:xfrm>
            <a:off x="9326880" y="1920240"/>
            <a:ext cx="1828800" cy="548640"/>
          </a:xfrm>
          <a:prstGeom prst="rect">
            <a:avLst/>
          </a:prstGeom>
          <a:noFill/>
          <a:ln/>
        </p:spPr>
        <p:txBody>
          <a:bodyPr wrap="square" rtlCol="0" anchor="ctr"/>
          <a:lstStyle/>
          <a:p>
            <a:pPr algn="r" indent="0" marL="0">
              <a:buNone/>
            </a:pPr>
            <a:r>
              <a:rPr lang="en-US" sz="2200" b="1" dirty="0">
                <a:solidFill>
                  <a:srgbClr val="FF3366"/>
                </a:solidFill>
                <a:latin typeface="Trebuchet MS" pitchFamily="34" charset="0"/>
                <a:ea typeface="Trebuchet MS" pitchFamily="34" charset="-122"/>
                <a:cs typeface="Trebuchet MS" pitchFamily="34" charset="-120"/>
              </a:rPr>
              <a:t>₹5,000/DAY</a:t>
            </a:r>
            <a:endParaRPr lang="en-US" sz="2200" dirty="0"/>
          </a:p>
        </p:txBody>
      </p:sp>
      <p:sp>
        <p:nvSpPr>
          <p:cNvPr id="23" name="Text 21"/>
          <p:cNvSpPr/>
          <p:nvPr/>
        </p:nvSpPr>
        <p:spPr>
          <a:xfrm>
            <a:off x="8321040" y="2651760"/>
            <a:ext cx="2834640" cy="64008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₹5,000/Day Screenshot Fraud</a:t>
            </a:r>
            <a:endParaRPr lang="en-US" sz="1800" dirty="0"/>
          </a:p>
        </p:txBody>
      </p:sp>
      <p:sp>
        <p:nvSpPr>
          <p:cNvPr id="24" name="Text 22"/>
          <p:cNvSpPr/>
          <p:nvPr/>
        </p:nvSpPr>
        <p:spPr>
          <a:xfrm>
            <a:off x="8321040" y="3383280"/>
            <a:ext cx="2834640" cy="164592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During intense 15-minute rushes, cashiers cannot verify hundreds of digital payments. Dishonest students flash fake Google Pay screenshots and walk away.</a:t>
            </a:r>
            <a:endParaRPr lang="en-US" sz="1250" dirty="0"/>
          </a:p>
        </p:txBody>
      </p:sp>
      <p:sp>
        <p:nvSpPr>
          <p:cNvPr id="25" name="Shape 23"/>
          <p:cNvSpPr/>
          <p:nvPr/>
        </p:nvSpPr>
        <p:spPr>
          <a:xfrm>
            <a:off x="8321040" y="5303520"/>
            <a:ext cx="2834640" cy="411480"/>
          </a:xfrm>
          <a:prstGeom prst="roundRect">
            <a:avLst>
              <a:gd name="adj" fmla="val 22222"/>
            </a:avLst>
          </a:prstGeom>
          <a:solidFill>
            <a:srgbClr val="261418"/>
          </a:solidFill>
          <a:ln w="12700">
            <a:solidFill>
              <a:srgbClr val="FF3366"/>
            </a:solidFill>
            <a:prstDash val="solid"/>
          </a:ln>
        </p:spPr>
      </p:sp>
      <p:sp>
        <p:nvSpPr>
          <p:cNvPr id="26" name="Text 24"/>
          <p:cNvSpPr/>
          <p:nvPr/>
        </p:nvSpPr>
        <p:spPr>
          <a:xfrm>
            <a:off x="8321040" y="5303520"/>
            <a:ext cx="2834640" cy="411480"/>
          </a:xfrm>
          <a:prstGeom prst="rect">
            <a:avLst/>
          </a:prstGeom>
          <a:noFill/>
          <a:ln/>
        </p:spPr>
        <p:txBody>
          <a:bodyPr wrap="square" rtlCol="0" anchor="ctr"/>
          <a:lstStyle/>
          <a:p>
            <a:pPr algn="ctr" indent="0" marL="0">
              <a:buNone/>
            </a:pPr>
            <a:r>
              <a:rPr lang="en-US" sz="1000" b="1" dirty="0">
                <a:solidFill>
                  <a:srgbClr val="FF3366"/>
                </a:solidFill>
                <a:latin typeface="Arial" pitchFamily="34" charset="0"/>
                <a:ea typeface="Arial" pitchFamily="34" charset="-122"/>
                <a:cs typeface="Arial" pitchFamily="34" charset="-120"/>
              </a:rPr>
              <a:t>SEVERE CANTEEN LOSSES</a:t>
            </a:r>
            <a:endParaRPr lang="en-US" sz="1000" dirty="0"/>
          </a:p>
        </p:txBody>
      </p:sp>
      <p:sp>
        <p:nvSpPr>
          <p:cNvPr id="27" name="Text 25"/>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28" name="Text 26"/>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00D4AA"/>
                </a:solidFill>
                <a:latin typeface="Arial" pitchFamily="34" charset="0"/>
                <a:ea typeface="Arial" pitchFamily="34" charset="-122"/>
                <a:cs typeface="Arial" pitchFamily="34" charset="-120"/>
              </a:rPr>
              <a:t>02 · THE SOLUTION</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The Zero-Wait VIP Express Pass in 4 Steps</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03 / 15</a:t>
            </a:r>
            <a:endParaRPr lang="en-US" sz="1000" dirty="0"/>
          </a:p>
        </p:txBody>
      </p:sp>
      <p:sp>
        <p:nvSpPr>
          <p:cNvPr id="6" name="Shape 4"/>
          <p:cNvSpPr/>
          <p:nvPr/>
        </p:nvSpPr>
        <p:spPr>
          <a:xfrm>
            <a:off x="731520" y="1645920"/>
            <a:ext cx="2560320" cy="3108960"/>
          </a:xfrm>
          <a:prstGeom prst="roundRect">
            <a:avLst>
              <a:gd name="adj" fmla="val 7143"/>
            </a:avLst>
          </a:prstGeom>
          <a:solidFill>
            <a:srgbClr val="14121E"/>
          </a:solidFill>
          <a:ln w="19050">
            <a:solidFill>
              <a:srgbClr val="2D3B38"/>
            </a:solidFill>
            <a:prstDash val="solid"/>
          </a:ln>
        </p:spPr>
      </p:sp>
      <p:sp>
        <p:nvSpPr>
          <p:cNvPr id="7" name="Shape 5"/>
          <p:cNvSpPr/>
          <p:nvPr/>
        </p:nvSpPr>
        <p:spPr>
          <a:xfrm>
            <a:off x="1005840" y="1920240"/>
            <a:ext cx="731520" cy="457200"/>
          </a:xfrm>
          <a:prstGeom prst="roundRect">
            <a:avLst>
              <a:gd name="adj" fmla="val 20000"/>
            </a:avLst>
          </a:prstGeom>
          <a:solidFill>
            <a:srgbClr val="00D4AA"/>
          </a:solidFill>
          <a:ln/>
        </p:spPr>
      </p:sp>
      <p:sp>
        <p:nvSpPr>
          <p:cNvPr id="8" name="Text 6"/>
          <p:cNvSpPr/>
          <p:nvPr/>
        </p:nvSpPr>
        <p:spPr>
          <a:xfrm>
            <a:off x="1005840" y="1920240"/>
            <a:ext cx="731520" cy="457200"/>
          </a:xfrm>
          <a:prstGeom prst="rect">
            <a:avLst/>
          </a:prstGeom>
          <a:noFill/>
          <a:ln/>
        </p:spPr>
        <p:txBody>
          <a:bodyPr wrap="square" rtlCol="0" anchor="ctr"/>
          <a:lstStyle/>
          <a:p>
            <a:pPr algn="ctr" indent="0" marL="0">
              <a:buNone/>
            </a:pPr>
            <a:r>
              <a:rPr lang="en-US" sz="1400" b="1" dirty="0">
                <a:solidFill>
                  <a:srgbClr val="000000"/>
                </a:solidFill>
                <a:latin typeface="Trebuchet MS" pitchFamily="34" charset="0"/>
                <a:ea typeface="Trebuchet MS" pitchFamily="34" charset="-122"/>
                <a:cs typeface="Trebuchet MS" pitchFamily="34" charset="-120"/>
              </a:rPr>
              <a:t>01</a:t>
            </a:r>
            <a:endParaRPr lang="en-US" sz="1400" dirty="0"/>
          </a:p>
        </p:txBody>
      </p:sp>
      <p:sp>
        <p:nvSpPr>
          <p:cNvPr id="9" name="Text 7"/>
          <p:cNvSpPr/>
          <p:nvPr/>
        </p:nvSpPr>
        <p:spPr>
          <a:xfrm>
            <a:off x="1005840" y="2560320"/>
            <a:ext cx="2011680" cy="548640"/>
          </a:xfrm>
          <a:prstGeom prst="rect">
            <a:avLst/>
          </a:prstGeom>
          <a:noFill/>
          <a:ln/>
        </p:spPr>
        <p:txBody>
          <a:bodyPr wrap="square"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Pick Break Slot</a:t>
            </a:r>
            <a:endParaRPr lang="en-US" sz="1600" dirty="0"/>
          </a:p>
        </p:txBody>
      </p:sp>
      <p:sp>
        <p:nvSpPr>
          <p:cNvPr id="10" name="Text 8"/>
          <p:cNvSpPr/>
          <p:nvPr/>
        </p:nvSpPr>
        <p:spPr>
          <a:xfrm>
            <a:off x="1005840" y="3200400"/>
            <a:ext cx="2011680" cy="1280160"/>
          </a:xfrm>
          <a:prstGeom prst="rect">
            <a:avLst/>
          </a:prstGeom>
          <a:noFill/>
          <a:ln/>
        </p:spPr>
        <p:txBody>
          <a:bodyPr wrap="square" rtlCol="0" anchor="ctr"/>
          <a:lstStyle/>
          <a:p>
            <a:pPr indent="0" marL="0">
              <a:lnSpc>
                <a:spcPct val="120000"/>
              </a:lnSpc>
              <a:buNone/>
            </a:pPr>
            <a:r>
              <a:rPr lang="en-US" sz="1200" dirty="0">
                <a:solidFill>
                  <a:srgbClr val="9E9EAF"/>
                </a:solidFill>
                <a:latin typeface="Arial" pitchFamily="34" charset="0"/>
                <a:ea typeface="Arial" pitchFamily="34" charset="-122"/>
                <a:cs typeface="Arial" pitchFamily="34" charset="-120"/>
              </a:rPr>
              <a:t>Select 10:15 AM or 11:50 AM break on your phone before the lecture bell.</a:t>
            </a:r>
            <a:endParaRPr lang="en-US" sz="1200" dirty="0"/>
          </a:p>
        </p:txBody>
      </p:sp>
      <p:sp>
        <p:nvSpPr>
          <p:cNvPr id="11" name="Shape 9"/>
          <p:cNvSpPr/>
          <p:nvPr/>
        </p:nvSpPr>
        <p:spPr>
          <a:xfrm>
            <a:off x="3474720" y="1645920"/>
            <a:ext cx="2560320" cy="3108960"/>
          </a:xfrm>
          <a:prstGeom prst="roundRect">
            <a:avLst>
              <a:gd name="adj" fmla="val 7143"/>
            </a:avLst>
          </a:prstGeom>
          <a:solidFill>
            <a:srgbClr val="14121E"/>
          </a:solidFill>
          <a:ln w="19050">
            <a:solidFill>
              <a:srgbClr val="2D3B38"/>
            </a:solidFill>
            <a:prstDash val="solid"/>
          </a:ln>
        </p:spPr>
      </p:sp>
      <p:sp>
        <p:nvSpPr>
          <p:cNvPr id="12" name="Shape 10"/>
          <p:cNvSpPr/>
          <p:nvPr/>
        </p:nvSpPr>
        <p:spPr>
          <a:xfrm>
            <a:off x="3749040" y="1920240"/>
            <a:ext cx="731520" cy="457200"/>
          </a:xfrm>
          <a:prstGeom prst="roundRect">
            <a:avLst>
              <a:gd name="adj" fmla="val 20000"/>
            </a:avLst>
          </a:prstGeom>
          <a:solidFill>
            <a:srgbClr val="00D4AA"/>
          </a:solidFill>
          <a:ln/>
        </p:spPr>
      </p:sp>
      <p:sp>
        <p:nvSpPr>
          <p:cNvPr id="13" name="Text 11"/>
          <p:cNvSpPr/>
          <p:nvPr/>
        </p:nvSpPr>
        <p:spPr>
          <a:xfrm>
            <a:off x="3749040" y="1920240"/>
            <a:ext cx="731520" cy="457200"/>
          </a:xfrm>
          <a:prstGeom prst="rect">
            <a:avLst/>
          </a:prstGeom>
          <a:noFill/>
          <a:ln/>
        </p:spPr>
        <p:txBody>
          <a:bodyPr wrap="square" rtlCol="0" anchor="ctr"/>
          <a:lstStyle/>
          <a:p>
            <a:pPr algn="ctr" indent="0" marL="0">
              <a:buNone/>
            </a:pPr>
            <a:r>
              <a:rPr lang="en-US" sz="1400" b="1" dirty="0">
                <a:solidFill>
                  <a:srgbClr val="000000"/>
                </a:solidFill>
                <a:latin typeface="Trebuchet MS" pitchFamily="34" charset="0"/>
                <a:ea typeface="Trebuchet MS" pitchFamily="34" charset="-122"/>
                <a:cs typeface="Trebuchet MS" pitchFamily="34" charset="-120"/>
              </a:rPr>
              <a:t>02</a:t>
            </a:r>
            <a:endParaRPr lang="en-US" sz="1400" dirty="0"/>
          </a:p>
        </p:txBody>
      </p:sp>
      <p:sp>
        <p:nvSpPr>
          <p:cNvPr id="14" name="Text 12"/>
          <p:cNvSpPr/>
          <p:nvPr/>
        </p:nvSpPr>
        <p:spPr>
          <a:xfrm>
            <a:off x="3749040" y="2560320"/>
            <a:ext cx="2011680" cy="548640"/>
          </a:xfrm>
          <a:prstGeom prst="rect">
            <a:avLst/>
          </a:prstGeom>
          <a:noFill/>
          <a:ln/>
        </p:spPr>
        <p:txBody>
          <a:bodyPr wrap="square"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Pay 100% Online</a:t>
            </a:r>
            <a:endParaRPr lang="en-US" sz="1600" dirty="0"/>
          </a:p>
        </p:txBody>
      </p:sp>
      <p:sp>
        <p:nvSpPr>
          <p:cNvPr id="15" name="Text 13"/>
          <p:cNvSpPr/>
          <p:nvPr/>
        </p:nvSpPr>
        <p:spPr>
          <a:xfrm>
            <a:off x="3749040" y="3200400"/>
            <a:ext cx="2011680" cy="1280160"/>
          </a:xfrm>
          <a:prstGeom prst="rect">
            <a:avLst/>
          </a:prstGeom>
          <a:noFill/>
          <a:ln/>
        </p:spPr>
        <p:txBody>
          <a:bodyPr wrap="square" rtlCol="0" anchor="ctr"/>
          <a:lstStyle/>
          <a:p>
            <a:pPr indent="0" marL="0">
              <a:lnSpc>
                <a:spcPct val="120000"/>
              </a:lnSpc>
              <a:buNone/>
            </a:pPr>
            <a:r>
              <a:rPr lang="en-US" sz="1200" dirty="0">
                <a:solidFill>
                  <a:srgbClr val="9E9EAF"/>
                </a:solidFill>
                <a:latin typeface="Arial" pitchFamily="34" charset="0"/>
                <a:ea typeface="Arial" pitchFamily="34" charset="-122"/>
                <a:cs typeface="Arial" pitchFamily="34" charset="-120"/>
              </a:rPr>
              <a:t>Direct UPI payment with instant 12-digit UTR validation. Zero COD lines.</a:t>
            </a:r>
            <a:endParaRPr lang="en-US" sz="1200" dirty="0"/>
          </a:p>
        </p:txBody>
      </p:sp>
      <p:sp>
        <p:nvSpPr>
          <p:cNvPr id="16" name="Shape 14"/>
          <p:cNvSpPr/>
          <p:nvPr/>
        </p:nvSpPr>
        <p:spPr>
          <a:xfrm>
            <a:off x="6217920" y="1645920"/>
            <a:ext cx="2560320" cy="3108960"/>
          </a:xfrm>
          <a:prstGeom prst="roundRect">
            <a:avLst>
              <a:gd name="adj" fmla="val 7143"/>
            </a:avLst>
          </a:prstGeom>
          <a:solidFill>
            <a:srgbClr val="14121E"/>
          </a:solidFill>
          <a:ln w="19050">
            <a:solidFill>
              <a:srgbClr val="2D3B38"/>
            </a:solidFill>
            <a:prstDash val="solid"/>
          </a:ln>
        </p:spPr>
      </p:sp>
      <p:sp>
        <p:nvSpPr>
          <p:cNvPr id="17" name="Shape 15"/>
          <p:cNvSpPr/>
          <p:nvPr/>
        </p:nvSpPr>
        <p:spPr>
          <a:xfrm>
            <a:off x="6492240" y="1920240"/>
            <a:ext cx="731520" cy="457200"/>
          </a:xfrm>
          <a:prstGeom prst="roundRect">
            <a:avLst>
              <a:gd name="adj" fmla="val 20000"/>
            </a:avLst>
          </a:prstGeom>
          <a:solidFill>
            <a:srgbClr val="00D4AA"/>
          </a:solidFill>
          <a:ln/>
        </p:spPr>
      </p:sp>
      <p:sp>
        <p:nvSpPr>
          <p:cNvPr id="18" name="Text 16"/>
          <p:cNvSpPr/>
          <p:nvPr/>
        </p:nvSpPr>
        <p:spPr>
          <a:xfrm>
            <a:off x="6492240" y="1920240"/>
            <a:ext cx="731520" cy="457200"/>
          </a:xfrm>
          <a:prstGeom prst="rect">
            <a:avLst/>
          </a:prstGeom>
          <a:noFill/>
          <a:ln/>
        </p:spPr>
        <p:txBody>
          <a:bodyPr wrap="square" rtlCol="0" anchor="ctr"/>
          <a:lstStyle/>
          <a:p>
            <a:pPr algn="ctr" indent="0" marL="0">
              <a:buNone/>
            </a:pPr>
            <a:r>
              <a:rPr lang="en-US" sz="1400" b="1" dirty="0">
                <a:solidFill>
                  <a:srgbClr val="000000"/>
                </a:solidFill>
                <a:latin typeface="Trebuchet MS" pitchFamily="34" charset="0"/>
                <a:ea typeface="Trebuchet MS" pitchFamily="34" charset="-122"/>
                <a:cs typeface="Trebuchet MS" pitchFamily="34" charset="-120"/>
              </a:rPr>
              <a:t>03</a:t>
            </a:r>
            <a:endParaRPr lang="en-US" sz="1400" dirty="0"/>
          </a:p>
        </p:txBody>
      </p:sp>
      <p:sp>
        <p:nvSpPr>
          <p:cNvPr id="19" name="Text 17"/>
          <p:cNvSpPr/>
          <p:nvPr/>
        </p:nvSpPr>
        <p:spPr>
          <a:xfrm>
            <a:off x="6492240" y="2560320"/>
            <a:ext cx="2011680" cy="548640"/>
          </a:xfrm>
          <a:prstGeom prst="rect">
            <a:avLst/>
          </a:prstGeom>
          <a:noFill/>
          <a:ln/>
        </p:spPr>
        <p:txBody>
          <a:bodyPr wrap="square"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Get Optical Pass</a:t>
            </a:r>
            <a:endParaRPr lang="en-US" sz="1600" dirty="0"/>
          </a:p>
        </p:txBody>
      </p:sp>
      <p:sp>
        <p:nvSpPr>
          <p:cNvPr id="20" name="Text 18"/>
          <p:cNvSpPr/>
          <p:nvPr/>
        </p:nvSpPr>
        <p:spPr>
          <a:xfrm>
            <a:off x="6492240" y="3200400"/>
            <a:ext cx="2011680" cy="1280160"/>
          </a:xfrm>
          <a:prstGeom prst="rect">
            <a:avLst/>
          </a:prstGeom>
          <a:noFill/>
          <a:ln/>
        </p:spPr>
        <p:txBody>
          <a:bodyPr wrap="square" rtlCol="0" anchor="ctr"/>
          <a:lstStyle/>
          <a:p>
            <a:pPr indent="0" marL="0">
              <a:lnSpc>
                <a:spcPct val="120000"/>
              </a:lnSpc>
              <a:buNone/>
            </a:pPr>
            <a:r>
              <a:rPr lang="en-US" sz="1200" dirty="0">
                <a:solidFill>
                  <a:srgbClr val="9E9EAF"/>
                </a:solidFill>
                <a:latin typeface="Arial" pitchFamily="34" charset="0"/>
                <a:ea typeface="Arial" pitchFamily="34" charset="-122"/>
                <a:cs typeface="Arial" pitchFamily="34" charset="-120"/>
              </a:rPr>
              <a:t>Screen displays glowing high-contrast QR pass + unique 4-digit pickup OTP.</a:t>
            </a:r>
            <a:endParaRPr lang="en-US" sz="1200" dirty="0"/>
          </a:p>
        </p:txBody>
      </p:sp>
      <p:sp>
        <p:nvSpPr>
          <p:cNvPr id="21" name="Shape 19"/>
          <p:cNvSpPr/>
          <p:nvPr/>
        </p:nvSpPr>
        <p:spPr>
          <a:xfrm>
            <a:off x="8961120" y="1645920"/>
            <a:ext cx="2560320" cy="3108960"/>
          </a:xfrm>
          <a:prstGeom prst="roundRect">
            <a:avLst>
              <a:gd name="adj" fmla="val 7143"/>
            </a:avLst>
          </a:prstGeom>
          <a:solidFill>
            <a:srgbClr val="14121E"/>
          </a:solidFill>
          <a:ln w="19050">
            <a:solidFill>
              <a:srgbClr val="2D3B38"/>
            </a:solidFill>
            <a:prstDash val="solid"/>
          </a:ln>
        </p:spPr>
      </p:sp>
      <p:sp>
        <p:nvSpPr>
          <p:cNvPr id="22" name="Shape 20"/>
          <p:cNvSpPr/>
          <p:nvPr/>
        </p:nvSpPr>
        <p:spPr>
          <a:xfrm>
            <a:off x="9235440" y="1920240"/>
            <a:ext cx="731520" cy="457200"/>
          </a:xfrm>
          <a:prstGeom prst="roundRect">
            <a:avLst>
              <a:gd name="adj" fmla="val 20000"/>
            </a:avLst>
          </a:prstGeom>
          <a:solidFill>
            <a:srgbClr val="00D4AA"/>
          </a:solidFill>
          <a:ln/>
        </p:spPr>
      </p:sp>
      <p:sp>
        <p:nvSpPr>
          <p:cNvPr id="23" name="Text 21"/>
          <p:cNvSpPr/>
          <p:nvPr/>
        </p:nvSpPr>
        <p:spPr>
          <a:xfrm>
            <a:off x="9235440" y="1920240"/>
            <a:ext cx="731520" cy="457200"/>
          </a:xfrm>
          <a:prstGeom prst="rect">
            <a:avLst/>
          </a:prstGeom>
          <a:noFill/>
          <a:ln/>
        </p:spPr>
        <p:txBody>
          <a:bodyPr wrap="square" rtlCol="0" anchor="ctr"/>
          <a:lstStyle/>
          <a:p>
            <a:pPr algn="ctr" indent="0" marL="0">
              <a:buNone/>
            </a:pPr>
            <a:r>
              <a:rPr lang="en-US" sz="1400" b="1" dirty="0">
                <a:solidFill>
                  <a:srgbClr val="000000"/>
                </a:solidFill>
                <a:latin typeface="Trebuchet MS" pitchFamily="34" charset="0"/>
                <a:ea typeface="Trebuchet MS" pitchFamily="34" charset="-122"/>
                <a:cs typeface="Trebuchet MS" pitchFamily="34" charset="-120"/>
              </a:rPr>
              <a:t>04</a:t>
            </a:r>
            <a:endParaRPr lang="en-US" sz="1400" dirty="0"/>
          </a:p>
        </p:txBody>
      </p:sp>
      <p:sp>
        <p:nvSpPr>
          <p:cNvPr id="24" name="Text 22"/>
          <p:cNvSpPr/>
          <p:nvPr/>
        </p:nvSpPr>
        <p:spPr>
          <a:xfrm>
            <a:off x="9235440" y="2560320"/>
            <a:ext cx="2011680" cy="548640"/>
          </a:xfrm>
          <a:prstGeom prst="rect">
            <a:avLst/>
          </a:prstGeom>
          <a:noFill/>
          <a:ln/>
        </p:spPr>
        <p:txBody>
          <a:bodyPr wrap="square"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30s Express Grab</a:t>
            </a:r>
            <a:endParaRPr lang="en-US" sz="1600" dirty="0"/>
          </a:p>
        </p:txBody>
      </p:sp>
      <p:sp>
        <p:nvSpPr>
          <p:cNvPr id="25" name="Text 23"/>
          <p:cNvSpPr/>
          <p:nvPr/>
        </p:nvSpPr>
        <p:spPr>
          <a:xfrm>
            <a:off x="9235440" y="3200400"/>
            <a:ext cx="2011680" cy="1280160"/>
          </a:xfrm>
          <a:prstGeom prst="rect">
            <a:avLst/>
          </a:prstGeom>
          <a:noFill/>
          <a:ln/>
        </p:spPr>
        <p:txBody>
          <a:bodyPr wrap="square" rtlCol="0" anchor="ctr"/>
          <a:lstStyle/>
          <a:p>
            <a:pPr indent="0" marL="0">
              <a:lnSpc>
                <a:spcPct val="120000"/>
              </a:lnSpc>
              <a:buNone/>
            </a:pPr>
            <a:r>
              <a:rPr lang="en-US" sz="1200" dirty="0">
                <a:solidFill>
                  <a:srgbClr val="9E9EAF"/>
                </a:solidFill>
                <a:latin typeface="Arial" pitchFamily="34" charset="0"/>
                <a:ea typeface="Arial" pitchFamily="34" charset="-122"/>
                <a:cs typeface="Arial" pitchFamily="34" charset="-120"/>
              </a:rPr>
              <a:t>Walk to the VIP express counter, scan code, and grab hot food immediately.</a:t>
            </a:r>
            <a:endParaRPr lang="en-US" sz="1200" dirty="0"/>
          </a:p>
        </p:txBody>
      </p:sp>
      <p:sp>
        <p:nvSpPr>
          <p:cNvPr id="26" name="Shape 24"/>
          <p:cNvSpPr/>
          <p:nvPr/>
        </p:nvSpPr>
        <p:spPr>
          <a:xfrm>
            <a:off x="731520" y="5029200"/>
            <a:ext cx="10789920" cy="1005840"/>
          </a:xfrm>
          <a:prstGeom prst="roundRect">
            <a:avLst>
              <a:gd name="adj" fmla="val 13636"/>
            </a:avLst>
          </a:prstGeom>
          <a:solidFill>
            <a:srgbClr val="11231E"/>
          </a:solidFill>
          <a:ln w="19050">
            <a:solidFill>
              <a:srgbClr val="00D4AA"/>
            </a:solidFill>
            <a:prstDash val="solid"/>
          </a:ln>
        </p:spPr>
      </p:sp>
      <p:sp>
        <p:nvSpPr>
          <p:cNvPr id="27" name="Text 25"/>
          <p:cNvSpPr/>
          <p:nvPr/>
        </p:nvSpPr>
        <p:spPr>
          <a:xfrm>
            <a:off x="1005840" y="5166360"/>
            <a:ext cx="6858000" cy="365760"/>
          </a:xfrm>
          <a:prstGeom prst="rect">
            <a:avLst/>
          </a:prstGeom>
          <a:noFill/>
          <a:ln/>
        </p:spPr>
        <p:txBody>
          <a:bodyPr wrap="square" rtlCol="0" anchor="ctr"/>
          <a:lstStyle/>
          <a:p>
            <a:pPr indent="0" marL="0">
              <a:buNone/>
            </a:pPr>
            <a:r>
              <a:rPr lang="en-US" sz="1400" b="1" dirty="0">
                <a:solidFill>
                  <a:srgbClr val="00D4AA"/>
                </a:solidFill>
                <a:latin typeface="Courier New" pitchFamily="34" charset="0"/>
                <a:ea typeface="Courier New" pitchFamily="34" charset="-122"/>
                <a:cs typeface="Courier New" pitchFamily="34" charset="-120"/>
              </a:rPr>
              <a:t>🎟️ THE OPTICAL EXPRESS PASS: ORDER FL-1793 • OTP: 6065</a:t>
            </a:r>
            <a:endParaRPr lang="en-US" sz="1400" dirty="0"/>
          </a:p>
        </p:txBody>
      </p:sp>
      <p:sp>
        <p:nvSpPr>
          <p:cNvPr id="28" name="Text 26"/>
          <p:cNvSpPr/>
          <p:nvPr/>
        </p:nvSpPr>
        <p:spPr>
          <a:xfrm>
            <a:off x="1005840" y="5532120"/>
            <a:ext cx="6858000" cy="365760"/>
          </a:xfrm>
          <a:prstGeom prst="rect">
            <a:avLst/>
          </a:prstGeom>
          <a:noFill/>
          <a:ln/>
        </p:spPr>
        <p:txBody>
          <a:bodyPr wrap="square" rtlCol="0" anchor="ctr"/>
          <a:lstStyle/>
          <a:p>
            <a:pPr indent="0" marL="0">
              <a:buNone/>
            </a:pPr>
            <a:r>
              <a:rPr lang="en-US" sz="1150" dirty="0">
                <a:solidFill>
                  <a:srgbClr val="9E9EAF"/>
                </a:solidFill>
                <a:latin typeface="Arial" pitchFamily="34" charset="0"/>
                <a:ea typeface="Arial" pitchFamily="34" charset="-122"/>
                <a:cs typeface="Arial" pitchFamily="34" charset="-120"/>
              </a:rPr>
              <a:t>Zero paper tickets. Sub-400ms optical scanning. 100% verified campus handover.</a:t>
            </a:r>
            <a:endParaRPr lang="en-US" sz="1150" dirty="0"/>
          </a:p>
        </p:txBody>
      </p:sp>
      <p:sp>
        <p:nvSpPr>
          <p:cNvPr id="29" name="Text 27"/>
          <p:cNvSpPr/>
          <p:nvPr/>
        </p:nvSpPr>
        <p:spPr>
          <a:xfrm>
            <a:off x="8229600" y="5166360"/>
            <a:ext cx="2926080" cy="731520"/>
          </a:xfrm>
          <a:prstGeom prst="rect">
            <a:avLst/>
          </a:prstGeom>
          <a:noFill/>
          <a:ln/>
        </p:spPr>
        <p:txBody>
          <a:bodyPr wrap="square" rtlCol="0" anchor="ctr"/>
          <a:lstStyle/>
          <a:p>
            <a:pPr algn="r" indent="0" marL="0">
              <a:buNone/>
            </a:pPr>
            <a:r>
              <a:rPr lang="en-US" sz="1300" b="1" dirty="0">
                <a:solidFill>
                  <a:srgbClr val="FFFFFF"/>
                </a:solidFill>
                <a:latin typeface="Trebuchet MS" pitchFamily="34" charset="0"/>
                <a:ea typeface="Trebuchet MS" pitchFamily="34" charset="-122"/>
                <a:cs typeface="Trebuchet MS" pitchFamily="34" charset="-120"/>
              </a:rPr>
              <a:t>30 SECONDS</a:t>
            </a:r>
            <a:endParaRPr lang="en-US" sz="1300" dirty="0"/>
          </a:p>
          <a:p>
            <a:pPr algn="r" indent="0" marL="0">
              <a:buNone/>
            </a:pPr>
            <a:r>
              <a:rPr lang="en-US" sz="1300" b="1" dirty="0">
                <a:solidFill>
                  <a:srgbClr val="FFFFFF"/>
                </a:solidFill>
                <a:latin typeface="Trebuchet MS" pitchFamily="34" charset="0"/>
                <a:ea typeface="Trebuchet MS" pitchFamily="34" charset="-122"/>
                <a:cs typeface="Trebuchet MS" pitchFamily="34" charset="-120"/>
              </a:rPr>
              <a:t>AVERAGE HANDOVER</a:t>
            </a:r>
            <a:endParaRPr lang="en-US" sz="1300" dirty="0"/>
          </a:p>
        </p:txBody>
      </p:sp>
      <p:sp>
        <p:nvSpPr>
          <p:cNvPr id="30" name="Text 28"/>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31" name="Text 29"/>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FF6B2C"/>
                </a:solidFill>
                <a:latin typeface="Arial" pitchFamily="34" charset="0"/>
                <a:ea typeface="Arial" pitchFamily="34" charset="-122"/>
                <a:cs typeface="Arial" pitchFamily="34" charset="-120"/>
              </a:rPr>
              <a:t>03 · PROPRIETARY TECH</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The 60-Order Slot Throttler (Zero Kitchen Choke)</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04 / 15</a:t>
            </a:r>
            <a:endParaRPr lang="en-US" sz="1000" dirty="0"/>
          </a:p>
        </p:txBody>
      </p:sp>
      <p:sp>
        <p:nvSpPr>
          <p:cNvPr id="6" name="Shape 4"/>
          <p:cNvSpPr/>
          <p:nvPr/>
        </p:nvSpPr>
        <p:spPr>
          <a:xfrm>
            <a:off x="731520" y="1645920"/>
            <a:ext cx="5212080" cy="4389120"/>
          </a:xfrm>
          <a:prstGeom prst="roundRect">
            <a:avLst>
              <a:gd name="adj" fmla="val 4167"/>
            </a:avLst>
          </a:prstGeom>
          <a:solidFill>
            <a:srgbClr val="14121E"/>
          </a:solidFill>
          <a:ln w="19050">
            <a:solidFill>
              <a:srgbClr val="FF6B2C"/>
            </a:solidFill>
            <a:prstDash val="solid"/>
          </a:ln>
        </p:spPr>
      </p:sp>
      <p:sp>
        <p:nvSpPr>
          <p:cNvPr id="7" name="Text 5"/>
          <p:cNvSpPr/>
          <p:nvPr/>
        </p:nvSpPr>
        <p:spPr>
          <a:xfrm>
            <a:off x="1005840" y="1920240"/>
            <a:ext cx="4663440" cy="36576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 Controlled Kitchen Flow</a:t>
            </a:r>
            <a:endParaRPr lang="en-US" sz="1800" dirty="0"/>
          </a:p>
        </p:txBody>
      </p:sp>
      <p:sp>
        <p:nvSpPr>
          <p:cNvPr id="8" name="Text 6"/>
          <p:cNvSpPr/>
          <p:nvPr/>
        </p:nvSpPr>
        <p:spPr>
          <a:xfrm>
            <a:off x="1005840" y="2377440"/>
            <a:ext cx="4663440" cy="109728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Traditional canteens crash when 400 students rush the counter at once. FoodLine caps each 15-minute break slot to exactly 60 orders so food is cooked fresh, packaged in advance, and handed over in 30 seconds without kitchen bottlenecks.</a:t>
            </a:r>
            <a:endParaRPr lang="en-US" sz="1250" dirty="0"/>
          </a:p>
        </p:txBody>
      </p:sp>
      <p:sp>
        <p:nvSpPr>
          <p:cNvPr id="9" name="Shape 7"/>
          <p:cNvSpPr/>
          <p:nvPr/>
        </p:nvSpPr>
        <p:spPr>
          <a:xfrm>
            <a:off x="1005840" y="3657600"/>
            <a:ext cx="4663440" cy="1371600"/>
          </a:xfrm>
          <a:prstGeom prst="roundRect">
            <a:avLst>
              <a:gd name="adj" fmla="val 10000"/>
            </a:avLst>
          </a:prstGeom>
          <a:solidFill>
            <a:srgbClr val="181525"/>
          </a:solidFill>
          <a:ln w="12700">
            <a:solidFill>
              <a:srgbClr val="352C48"/>
            </a:solidFill>
            <a:prstDash val="solid"/>
          </a:ln>
        </p:spPr>
      </p:sp>
      <p:sp>
        <p:nvSpPr>
          <p:cNvPr id="10" name="Text 8"/>
          <p:cNvSpPr/>
          <p:nvPr/>
        </p:nvSpPr>
        <p:spPr>
          <a:xfrm>
            <a:off x="1188720" y="3794760"/>
            <a:ext cx="2743200" cy="274320"/>
          </a:xfrm>
          <a:prstGeom prst="rect">
            <a:avLst/>
          </a:prstGeom>
          <a:noFill/>
          <a:ln/>
        </p:spPr>
        <p:txBody>
          <a:bodyPr wrap="square" rtlCol="0" anchor="ctr"/>
          <a:lstStyle/>
          <a:p>
            <a:pPr indent="0" marL="0">
              <a:buNone/>
            </a:pPr>
            <a:r>
              <a:rPr lang="en-US" sz="1000" b="1" dirty="0">
                <a:solidFill>
                  <a:srgbClr val="9E9EAF"/>
                </a:solidFill>
                <a:latin typeface="Arial" pitchFamily="34" charset="0"/>
                <a:ea typeface="Arial" pitchFamily="34" charset="-122"/>
                <a:cs typeface="Arial" pitchFamily="34" charset="-120"/>
              </a:rPr>
              <a:t>⚡ LIVE SLOT 11:15 AM CAPACITY</a:t>
            </a:r>
            <a:endParaRPr lang="en-US" sz="1000" dirty="0"/>
          </a:p>
        </p:txBody>
      </p:sp>
      <p:sp>
        <p:nvSpPr>
          <p:cNvPr id="11" name="Text 9"/>
          <p:cNvSpPr/>
          <p:nvPr/>
        </p:nvSpPr>
        <p:spPr>
          <a:xfrm>
            <a:off x="3840480" y="3794760"/>
            <a:ext cx="1645920" cy="274320"/>
          </a:xfrm>
          <a:prstGeom prst="rect">
            <a:avLst/>
          </a:prstGeom>
          <a:noFill/>
          <a:ln/>
        </p:spPr>
        <p:txBody>
          <a:bodyPr wrap="square" rtlCol="0" anchor="ctr"/>
          <a:lstStyle/>
          <a:p>
            <a:pPr algn="r" indent="0" marL="0">
              <a:buNone/>
            </a:pPr>
            <a:r>
              <a:rPr lang="en-US" sz="1000" b="1" dirty="0">
                <a:solidFill>
                  <a:srgbClr val="00D4AA"/>
                </a:solidFill>
                <a:latin typeface="Courier New" pitchFamily="34" charset="0"/>
                <a:ea typeface="Courier New" pitchFamily="34" charset="-122"/>
                <a:cs typeface="Courier New" pitchFamily="34" charset="-120"/>
              </a:rPr>
              <a:t>56 / 60 BOOKED</a:t>
            </a:r>
            <a:endParaRPr lang="en-US" sz="1000" dirty="0"/>
          </a:p>
        </p:txBody>
      </p:sp>
      <p:sp>
        <p:nvSpPr>
          <p:cNvPr id="12" name="Shape 10"/>
          <p:cNvSpPr/>
          <p:nvPr/>
        </p:nvSpPr>
        <p:spPr>
          <a:xfrm>
            <a:off x="1188720" y="4160520"/>
            <a:ext cx="4297680" cy="228600"/>
          </a:xfrm>
          <a:prstGeom prst="roundRect">
            <a:avLst>
              <a:gd name="adj" fmla="val 40000"/>
            </a:avLst>
          </a:prstGeom>
          <a:solidFill>
            <a:srgbClr val="2B253D"/>
          </a:solidFill>
          <a:ln/>
        </p:spPr>
      </p:sp>
      <p:sp>
        <p:nvSpPr>
          <p:cNvPr id="13" name="Shape 11"/>
          <p:cNvSpPr/>
          <p:nvPr/>
        </p:nvSpPr>
        <p:spPr>
          <a:xfrm>
            <a:off x="1188720" y="4160520"/>
            <a:ext cx="4005072" cy="228600"/>
          </a:xfrm>
          <a:prstGeom prst="roundRect">
            <a:avLst>
              <a:gd name="adj" fmla="val 40000"/>
            </a:avLst>
          </a:prstGeom>
          <a:solidFill>
            <a:srgbClr val="FF6B2C"/>
          </a:solidFill>
          <a:ln/>
        </p:spPr>
      </p:sp>
      <p:sp>
        <p:nvSpPr>
          <p:cNvPr id="14" name="Text 12"/>
          <p:cNvSpPr/>
          <p:nvPr/>
        </p:nvSpPr>
        <p:spPr>
          <a:xfrm>
            <a:off x="1188720" y="4480560"/>
            <a:ext cx="4297680" cy="365760"/>
          </a:xfrm>
          <a:prstGeom prst="rect">
            <a:avLst/>
          </a:prstGeom>
          <a:noFill/>
          <a:ln/>
        </p:spPr>
        <p:txBody>
          <a:bodyPr wrap="square" rtlCol="0" anchor="ctr"/>
          <a:lstStyle/>
          <a:p>
            <a:pPr indent="0" marL="0">
              <a:buNone/>
            </a:pPr>
            <a:r>
              <a:rPr lang="en-US" sz="1000" dirty="0">
                <a:solidFill>
                  <a:srgbClr val="00D4AA"/>
                </a:solidFill>
                <a:latin typeface="Arial" pitchFamily="34" charset="0"/>
                <a:ea typeface="Arial" pitchFamily="34" charset="-122"/>
                <a:cs typeface="Arial" pitchFamily="34" charset="-120"/>
              </a:rPr>
              <a:t>🟢 Slot Throttler Active: 4 Slots Remaining • Zero Overbooking</a:t>
            </a:r>
            <a:endParaRPr lang="en-US" sz="1000" dirty="0"/>
          </a:p>
        </p:txBody>
      </p:sp>
      <p:sp>
        <p:nvSpPr>
          <p:cNvPr id="15" name="Shape 13"/>
          <p:cNvSpPr/>
          <p:nvPr/>
        </p:nvSpPr>
        <p:spPr>
          <a:xfrm>
            <a:off x="6309360" y="1645920"/>
            <a:ext cx="5212080" cy="4389120"/>
          </a:xfrm>
          <a:prstGeom prst="roundRect">
            <a:avLst>
              <a:gd name="adj" fmla="val 4167"/>
            </a:avLst>
          </a:prstGeom>
          <a:solidFill>
            <a:srgbClr val="14121E"/>
          </a:solidFill>
          <a:ln w="19050">
            <a:solidFill>
              <a:srgbClr val="00D4AA"/>
            </a:solidFill>
            <a:prstDash val="solid"/>
          </a:ln>
        </p:spPr>
      </p:sp>
      <p:sp>
        <p:nvSpPr>
          <p:cNvPr id="16" name="Text 14"/>
          <p:cNvSpPr/>
          <p:nvPr/>
        </p:nvSpPr>
        <p:spPr>
          <a:xfrm>
            <a:off x="6583680" y="1920240"/>
            <a:ext cx="4663440" cy="36576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 Campus Clock &amp; Atomic Concurrency</a:t>
            </a:r>
            <a:endParaRPr lang="en-US" sz="1800" dirty="0"/>
          </a:p>
        </p:txBody>
      </p:sp>
      <p:sp>
        <p:nvSpPr>
          <p:cNvPr id="17" name="Text 15"/>
          <p:cNvSpPr/>
          <p:nvPr/>
        </p:nvSpPr>
        <p:spPr>
          <a:xfrm>
            <a:off x="6583680" y="2377440"/>
            <a:ext cx="4663440" cy="91440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PostgreSQL row-level transactional locks guarantee that even during class dismissal when 2,000 students tap 'Pay' simultaneously, the 60-order cap is never exceeded.</a:t>
            </a:r>
            <a:endParaRPr lang="en-US" sz="1250" dirty="0"/>
          </a:p>
        </p:txBody>
      </p:sp>
      <p:sp>
        <p:nvSpPr>
          <p:cNvPr id="18" name="Shape 16"/>
          <p:cNvSpPr/>
          <p:nvPr/>
        </p:nvSpPr>
        <p:spPr>
          <a:xfrm>
            <a:off x="6583680" y="3474720"/>
            <a:ext cx="4663440" cy="2103120"/>
          </a:xfrm>
          <a:prstGeom prst="roundRect">
            <a:avLst>
              <a:gd name="adj" fmla="val 6522"/>
            </a:avLst>
          </a:prstGeom>
          <a:solidFill>
            <a:srgbClr val="112421"/>
          </a:solidFill>
          <a:ln w="12700">
            <a:solidFill>
              <a:srgbClr val="00D4AA"/>
            </a:solidFill>
            <a:prstDash val="solid"/>
          </a:ln>
        </p:spPr>
      </p:sp>
      <p:sp>
        <p:nvSpPr>
          <p:cNvPr id="19" name="Text 17"/>
          <p:cNvSpPr/>
          <p:nvPr/>
        </p:nvSpPr>
        <p:spPr>
          <a:xfrm>
            <a:off x="6766560" y="3657600"/>
            <a:ext cx="4297680" cy="274320"/>
          </a:xfrm>
          <a:prstGeom prst="rect">
            <a:avLst/>
          </a:prstGeom>
          <a:noFill/>
          <a:ln/>
        </p:spPr>
        <p:txBody>
          <a:bodyPr wrap="square" rtlCol="0" anchor="ctr"/>
          <a:lstStyle/>
          <a:p>
            <a:pPr indent="0" marL="0">
              <a:buNone/>
            </a:pPr>
            <a:r>
              <a:rPr lang="en-US" sz="1100" b="1" dirty="0">
                <a:solidFill>
                  <a:srgbClr val="00D4AA"/>
                </a:solidFill>
                <a:latin typeface="Arial" pitchFamily="34" charset="0"/>
                <a:ea typeface="Arial" pitchFamily="34" charset="-122"/>
                <a:cs typeface="Arial" pitchFamily="34" charset="-120"/>
              </a:rPr>
              <a:t>🕒 LIVE CAMPUS CLOCK AUTO-SYNC</a:t>
            </a:r>
            <a:endParaRPr lang="en-US" sz="1100" dirty="0"/>
          </a:p>
        </p:txBody>
      </p:sp>
      <p:sp>
        <p:nvSpPr>
          <p:cNvPr id="20" name="Text 18"/>
          <p:cNvSpPr/>
          <p:nvPr/>
        </p:nvSpPr>
        <p:spPr>
          <a:xfrm>
            <a:off x="6766560" y="4023360"/>
            <a:ext cx="4297680" cy="1371600"/>
          </a:xfrm>
          <a:prstGeom prst="rect">
            <a:avLst/>
          </a:prstGeom>
          <a:noFill/>
          <a:ln/>
        </p:spPr>
        <p:txBody>
          <a:bodyPr wrap="square" rtlCol="0" anchor="ctr"/>
          <a:lstStyle/>
          <a:p>
            <a:pPr indent="0" marL="0">
              <a:lnSpc>
                <a:spcPct val="130000"/>
              </a:lnSpc>
              <a:buNone/>
            </a:pPr>
            <a:r>
              <a:rPr lang="en-US" sz="1150" dirty="0">
                <a:solidFill>
                  <a:srgbClr val="FFFFFF"/>
                </a:solidFill>
                <a:latin typeface="Arial" pitchFamily="34" charset="0"/>
                <a:ea typeface="Arial" pitchFamily="34" charset="-122"/>
                <a:cs typeface="Arial" pitchFamily="34" charset="-120"/>
              </a:rPr>
              <a:t>• Auto-detects real-time IST at Sanjivani University, Kopargaon.</a:t>
            </a:r>
            <a:endParaRPr lang="en-US" sz="1150" dirty="0"/>
          </a:p>
          <a:p>
            <a:pPr indent="0" marL="0">
              <a:lnSpc>
                <a:spcPct val="130000"/>
              </a:lnSpc>
              <a:buNone/>
            </a:pPr>
            <a:r>
              <a:rPr lang="en-US" sz="1150" dirty="0">
                <a:solidFill>
                  <a:srgbClr val="FFFFFF"/>
                </a:solidFill>
                <a:latin typeface="Arial" pitchFamily="34" charset="0"/>
                <a:ea typeface="Arial" pitchFamily="34" charset="-122"/>
                <a:cs typeface="Arial" pitchFamily="34" charset="-120"/>
              </a:rPr>
              <a:t>• Expired break slots close automatically the minute class begins.</a:t>
            </a:r>
            <a:endParaRPr lang="en-US" sz="1150" dirty="0"/>
          </a:p>
          <a:p>
            <a:pPr indent="0" marL="0">
              <a:lnSpc>
                <a:spcPct val="130000"/>
              </a:lnSpc>
              <a:buNone/>
            </a:pPr>
            <a:r>
              <a:rPr lang="en-US" sz="1150" dirty="0">
                <a:solidFill>
                  <a:srgbClr val="FFFFFF"/>
                </a:solidFill>
                <a:latin typeface="Arial" pitchFamily="34" charset="0"/>
                <a:ea typeface="Arial" pitchFamily="34" charset="-122"/>
                <a:cs typeface="Arial" pitchFamily="34" charset="-120"/>
              </a:rPr>
              <a:t>• Automatically rolls over into 'Tomorrow Pre-Order' so students can plan morning breakfast without waiting in line.</a:t>
            </a:r>
            <a:endParaRPr lang="en-US" sz="1150" dirty="0"/>
          </a:p>
        </p:txBody>
      </p:sp>
      <p:sp>
        <p:nvSpPr>
          <p:cNvPr id="21" name="Text 19"/>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22" name="Text 20"/>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00D4AA"/>
                </a:solidFill>
                <a:latin typeface="Arial" pitchFamily="34" charset="0"/>
                <a:ea typeface="Arial" pitchFamily="34" charset="-122"/>
                <a:cs typeface="Arial" pitchFamily="34" charset="-120"/>
              </a:rPr>
              <a:t>04 · PAYMENT INTEGRITY</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12-Digit Bank UTR &amp; Replay Anti-Fraud Shield</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05 / 15</a:t>
            </a:r>
            <a:endParaRPr lang="en-US" sz="1000" dirty="0"/>
          </a:p>
        </p:txBody>
      </p:sp>
      <p:sp>
        <p:nvSpPr>
          <p:cNvPr id="6" name="Shape 4"/>
          <p:cNvSpPr/>
          <p:nvPr/>
        </p:nvSpPr>
        <p:spPr>
          <a:xfrm>
            <a:off x="731520" y="1645920"/>
            <a:ext cx="3383280" cy="4389120"/>
          </a:xfrm>
          <a:prstGeom prst="roundRect">
            <a:avLst>
              <a:gd name="adj" fmla="val 5405"/>
            </a:avLst>
          </a:prstGeom>
          <a:solidFill>
            <a:srgbClr val="14121E"/>
          </a:solidFill>
          <a:ln w="19050">
            <a:solidFill>
              <a:srgbClr val="1C3D34"/>
            </a:solidFill>
            <a:prstDash val="solid"/>
          </a:ln>
        </p:spPr>
      </p:sp>
      <p:sp>
        <p:nvSpPr>
          <p:cNvPr id="7" name="Text 5"/>
          <p:cNvSpPr/>
          <p:nvPr/>
        </p:nvSpPr>
        <p:spPr>
          <a:xfrm>
            <a:off x="1005840" y="1920240"/>
            <a:ext cx="914400" cy="45720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8" name="Text 6"/>
          <p:cNvSpPr/>
          <p:nvPr/>
        </p:nvSpPr>
        <p:spPr>
          <a:xfrm>
            <a:off x="1005840" y="246888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12-Digit UTR Capture</a:t>
            </a:r>
            <a:endParaRPr lang="en-US" sz="1800" dirty="0"/>
          </a:p>
        </p:txBody>
      </p:sp>
      <p:sp>
        <p:nvSpPr>
          <p:cNvPr id="9" name="Text 7"/>
          <p:cNvSpPr/>
          <p:nvPr/>
        </p:nvSpPr>
        <p:spPr>
          <a:xfrm>
            <a:off x="1005840" y="3108960"/>
            <a:ext cx="2834640" cy="146304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Every genuine UPI transaction generates a unique 12-digit bank reference number recorded by NPCI with timestamp and amount.</a:t>
            </a:r>
            <a:endParaRPr lang="en-US" sz="1200" dirty="0"/>
          </a:p>
        </p:txBody>
      </p:sp>
      <p:sp>
        <p:nvSpPr>
          <p:cNvPr id="10" name="Shape 8"/>
          <p:cNvSpPr/>
          <p:nvPr/>
        </p:nvSpPr>
        <p:spPr>
          <a:xfrm>
            <a:off x="1005840" y="5212080"/>
            <a:ext cx="2834640" cy="411480"/>
          </a:xfrm>
          <a:prstGeom prst="roundRect">
            <a:avLst>
              <a:gd name="adj" fmla="val 22222"/>
            </a:avLst>
          </a:prstGeom>
          <a:solidFill>
            <a:srgbClr val="181525"/>
          </a:solidFill>
          <a:ln w="12700">
            <a:solidFill>
              <a:srgbClr val="00D4AA"/>
            </a:solidFill>
            <a:prstDash val="solid"/>
          </a:ln>
        </p:spPr>
      </p:sp>
      <p:sp>
        <p:nvSpPr>
          <p:cNvPr id="11" name="Text 9"/>
          <p:cNvSpPr/>
          <p:nvPr/>
        </p:nvSpPr>
        <p:spPr>
          <a:xfrm>
            <a:off x="1005840" y="5212080"/>
            <a:ext cx="2834640" cy="411480"/>
          </a:xfrm>
          <a:prstGeom prst="rect">
            <a:avLst/>
          </a:prstGeom>
          <a:noFill/>
          <a:ln/>
        </p:spPr>
        <p:txBody>
          <a:bodyPr wrap="square" rtlCol="0" anchor="ctr"/>
          <a:lstStyle/>
          <a:p>
            <a:pPr algn="ctr" indent="0" marL="0">
              <a:buNone/>
            </a:pPr>
            <a:r>
              <a:rPr lang="en-US" sz="1000" b="1" dirty="0">
                <a:solidFill>
                  <a:srgbClr val="00D4AA"/>
                </a:solidFill>
                <a:latin typeface="Arial" pitchFamily="34" charset="0"/>
                <a:ea typeface="Arial" pitchFamily="34" charset="-122"/>
                <a:cs typeface="Arial" pitchFamily="34" charset="-120"/>
              </a:rPr>
              <a:t>ZERO MANUAL AUDITING</a:t>
            </a:r>
            <a:endParaRPr lang="en-US" sz="1000" dirty="0"/>
          </a:p>
        </p:txBody>
      </p:sp>
      <p:sp>
        <p:nvSpPr>
          <p:cNvPr id="12" name="Shape 10"/>
          <p:cNvSpPr/>
          <p:nvPr/>
        </p:nvSpPr>
        <p:spPr>
          <a:xfrm>
            <a:off x="4389120" y="1645920"/>
            <a:ext cx="3383280" cy="4389120"/>
          </a:xfrm>
          <a:prstGeom prst="roundRect">
            <a:avLst>
              <a:gd name="adj" fmla="val 5405"/>
            </a:avLst>
          </a:prstGeom>
          <a:solidFill>
            <a:srgbClr val="14121E"/>
          </a:solidFill>
          <a:ln w="19050">
            <a:solidFill>
              <a:srgbClr val="4A1E28"/>
            </a:solidFill>
            <a:prstDash val="solid"/>
          </a:ln>
        </p:spPr>
      </p:sp>
      <p:sp>
        <p:nvSpPr>
          <p:cNvPr id="13" name="Text 11"/>
          <p:cNvSpPr/>
          <p:nvPr/>
        </p:nvSpPr>
        <p:spPr>
          <a:xfrm>
            <a:off x="4663440" y="1920240"/>
            <a:ext cx="914400" cy="45720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4" name="Text 12"/>
          <p:cNvSpPr/>
          <p:nvPr/>
        </p:nvSpPr>
        <p:spPr>
          <a:xfrm>
            <a:off x="4663440" y="246888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Duplicate Replay Lock</a:t>
            </a:r>
            <a:endParaRPr lang="en-US" sz="1800" dirty="0"/>
          </a:p>
        </p:txBody>
      </p:sp>
      <p:sp>
        <p:nvSpPr>
          <p:cNvPr id="15" name="Text 13"/>
          <p:cNvSpPr/>
          <p:nvPr/>
        </p:nvSpPr>
        <p:spPr>
          <a:xfrm>
            <a:off x="4663440" y="3108960"/>
            <a:ext cx="2834640" cy="146304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Attempting to reuse a friend's old payment screenshot triggers instant cryptographic rejection and security audit log.</a:t>
            </a:r>
            <a:endParaRPr lang="en-US" sz="1200" dirty="0"/>
          </a:p>
        </p:txBody>
      </p:sp>
      <p:sp>
        <p:nvSpPr>
          <p:cNvPr id="16" name="Shape 14"/>
          <p:cNvSpPr/>
          <p:nvPr/>
        </p:nvSpPr>
        <p:spPr>
          <a:xfrm>
            <a:off x="4663440" y="5212080"/>
            <a:ext cx="2834640" cy="411480"/>
          </a:xfrm>
          <a:prstGeom prst="roundRect">
            <a:avLst>
              <a:gd name="adj" fmla="val 22222"/>
            </a:avLst>
          </a:prstGeom>
          <a:solidFill>
            <a:srgbClr val="181525"/>
          </a:solidFill>
          <a:ln w="12700">
            <a:solidFill>
              <a:srgbClr val="FF3366"/>
            </a:solidFill>
            <a:prstDash val="solid"/>
          </a:ln>
        </p:spPr>
      </p:sp>
      <p:sp>
        <p:nvSpPr>
          <p:cNvPr id="17" name="Text 15"/>
          <p:cNvSpPr/>
          <p:nvPr/>
        </p:nvSpPr>
        <p:spPr>
          <a:xfrm>
            <a:off x="4663440" y="5212080"/>
            <a:ext cx="2834640" cy="411480"/>
          </a:xfrm>
          <a:prstGeom prst="rect">
            <a:avLst/>
          </a:prstGeom>
          <a:noFill/>
          <a:ln/>
        </p:spPr>
        <p:txBody>
          <a:bodyPr wrap="square" rtlCol="0" anchor="ctr"/>
          <a:lstStyle/>
          <a:p>
            <a:pPr algn="ctr" indent="0" marL="0">
              <a:buNone/>
            </a:pPr>
            <a:r>
              <a:rPr lang="en-US" sz="1000" b="1" dirty="0">
                <a:solidFill>
                  <a:srgbClr val="FF3366"/>
                </a:solidFill>
                <a:latin typeface="Arial" pitchFamily="34" charset="0"/>
                <a:ea typeface="Arial" pitchFamily="34" charset="-122"/>
                <a:cs typeface="Arial" pitchFamily="34" charset="-120"/>
              </a:rPr>
              <a:t>100% ANTI-FRAUD</a:t>
            </a:r>
            <a:endParaRPr lang="en-US" sz="1000" dirty="0"/>
          </a:p>
        </p:txBody>
      </p:sp>
      <p:sp>
        <p:nvSpPr>
          <p:cNvPr id="18" name="Shape 16"/>
          <p:cNvSpPr/>
          <p:nvPr/>
        </p:nvSpPr>
        <p:spPr>
          <a:xfrm>
            <a:off x="8046720" y="1645920"/>
            <a:ext cx="3383280" cy="4389120"/>
          </a:xfrm>
          <a:prstGeom prst="roundRect">
            <a:avLst>
              <a:gd name="adj" fmla="val 5405"/>
            </a:avLst>
          </a:prstGeom>
          <a:solidFill>
            <a:srgbClr val="14121E"/>
          </a:solidFill>
          <a:ln w="19050">
            <a:solidFill>
              <a:srgbClr val="4A3B1E"/>
            </a:solidFill>
            <a:prstDash val="solid"/>
          </a:ln>
        </p:spPr>
      </p:sp>
      <p:sp>
        <p:nvSpPr>
          <p:cNvPr id="19" name="Text 17"/>
          <p:cNvSpPr/>
          <p:nvPr/>
        </p:nvSpPr>
        <p:spPr>
          <a:xfrm>
            <a:off x="8321040" y="1920240"/>
            <a:ext cx="914400" cy="45720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20" name="Text 18"/>
          <p:cNvSpPr/>
          <p:nvPr/>
        </p:nvSpPr>
        <p:spPr>
          <a:xfrm>
            <a:off x="8321040" y="246888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Direct-to-Canteen UPI</a:t>
            </a:r>
            <a:endParaRPr lang="en-US" sz="1800" dirty="0"/>
          </a:p>
        </p:txBody>
      </p:sp>
      <p:sp>
        <p:nvSpPr>
          <p:cNvPr id="21" name="Text 19"/>
          <p:cNvSpPr/>
          <p:nvPr/>
        </p:nvSpPr>
        <p:spPr>
          <a:xfrm>
            <a:off x="8321040" y="3108960"/>
            <a:ext cx="2834640" cy="146304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Zero Cash on Delivery lines. Payments settle directly into Cafe @7's bank account with 0% gateway holding delay.</a:t>
            </a:r>
            <a:endParaRPr lang="en-US" sz="1200" dirty="0"/>
          </a:p>
        </p:txBody>
      </p:sp>
      <p:sp>
        <p:nvSpPr>
          <p:cNvPr id="22" name="Shape 20"/>
          <p:cNvSpPr/>
          <p:nvPr/>
        </p:nvSpPr>
        <p:spPr>
          <a:xfrm>
            <a:off x="8321040" y="5212080"/>
            <a:ext cx="2834640" cy="411480"/>
          </a:xfrm>
          <a:prstGeom prst="roundRect">
            <a:avLst>
              <a:gd name="adj" fmla="val 22222"/>
            </a:avLst>
          </a:prstGeom>
          <a:solidFill>
            <a:srgbClr val="181525"/>
          </a:solidFill>
          <a:ln w="12700">
            <a:solidFill>
              <a:srgbClr val="FFA834"/>
            </a:solidFill>
            <a:prstDash val="solid"/>
          </a:ln>
        </p:spPr>
      </p:sp>
      <p:sp>
        <p:nvSpPr>
          <p:cNvPr id="23" name="Text 21"/>
          <p:cNvSpPr/>
          <p:nvPr/>
        </p:nvSpPr>
        <p:spPr>
          <a:xfrm>
            <a:off x="8321040" y="5212080"/>
            <a:ext cx="2834640" cy="411480"/>
          </a:xfrm>
          <a:prstGeom prst="rect">
            <a:avLst/>
          </a:prstGeom>
          <a:noFill/>
          <a:ln/>
        </p:spPr>
        <p:txBody>
          <a:bodyPr wrap="square" rtlCol="0" anchor="ctr"/>
          <a:lstStyle/>
          <a:p>
            <a:pPr algn="ctr" indent="0" marL="0">
              <a:buNone/>
            </a:pPr>
            <a:r>
              <a:rPr lang="en-US" sz="1000" b="1" dirty="0">
                <a:solidFill>
                  <a:srgbClr val="FFA834"/>
                </a:solidFill>
                <a:latin typeface="Arial" pitchFamily="34" charset="0"/>
                <a:ea typeface="Arial" pitchFamily="34" charset="-122"/>
                <a:cs typeface="Arial" pitchFamily="34" charset="-120"/>
              </a:rPr>
              <a:t>INSTANT LIQUIDITY</a:t>
            </a:r>
            <a:endParaRPr lang="en-US" sz="1000" dirty="0"/>
          </a:p>
        </p:txBody>
      </p:sp>
      <p:sp>
        <p:nvSpPr>
          <p:cNvPr id="24" name="Text 22"/>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25" name="Text 23"/>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8B5CF6"/>
                </a:solidFill>
                <a:latin typeface="Arial" pitchFamily="34" charset="0"/>
                <a:ea typeface="Arial" pitchFamily="34" charset="-122"/>
                <a:cs typeface="Arial" pitchFamily="34" charset="-120"/>
              </a:rPr>
              <a:t>05 · KITCHEN HARDWARE</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Kitchen KDS Tablet &amp; Audio Chime TV Display</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06 / 15</a:t>
            </a:r>
            <a:endParaRPr lang="en-US" sz="1000" dirty="0"/>
          </a:p>
        </p:txBody>
      </p:sp>
      <p:sp>
        <p:nvSpPr>
          <p:cNvPr id="6" name="Shape 4"/>
          <p:cNvSpPr/>
          <p:nvPr/>
        </p:nvSpPr>
        <p:spPr>
          <a:xfrm>
            <a:off x="731520" y="1645920"/>
            <a:ext cx="3383280" cy="4389120"/>
          </a:xfrm>
          <a:prstGeom prst="roundRect">
            <a:avLst>
              <a:gd name="adj" fmla="val 5405"/>
            </a:avLst>
          </a:prstGeom>
          <a:solidFill>
            <a:srgbClr val="14121E"/>
          </a:solidFill>
          <a:ln w="19050">
            <a:solidFill>
              <a:srgbClr val="352A54"/>
            </a:solidFill>
            <a:prstDash val="solid"/>
          </a:ln>
        </p:spPr>
      </p:sp>
      <p:sp>
        <p:nvSpPr>
          <p:cNvPr id="7" name="Text 5"/>
          <p:cNvSpPr/>
          <p:nvPr/>
        </p:nvSpPr>
        <p:spPr>
          <a:xfrm>
            <a:off x="10058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8" name="Text 6"/>
          <p:cNvSpPr/>
          <p:nvPr/>
        </p:nvSpPr>
        <p:spPr>
          <a:xfrm>
            <a:off x="1005840" y="256032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Cook's Realtime Tablet KDS</a:t>
            </a:r>
            <a:endParaRPr lang="en-US" sz="1800" dirty="0"/>
          </a:p>
        </p:txBody>
      </p:sp>
      <p:sp>
        <p:nvSpPr>
          <p:cNvPr id="9" name="Text 7"/>
          <p:cNvSpPr/>
          <p:nvPr/>
        </p:nvSpPr>
        <p:spPr>
          <a:xfrm>
            <a:off x="1005840" y="3200400"/>
            <a:ext cx="2834640" cy="219456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Organizes high-velocity orders into 3 columns: Preparing, Ready, Collected via live Server-Sent Events (SSE).</a:t>
            </a:r>
            <a:endParaRPr lang="en-US" sz="1250" dirty="0"/>
          </a:p>
        </p:txBody>
      </p:sp>
      <p:sp>
        <p:nvSpPr>
          <p:cNvPr id="10" name="Shape 8"/>
          <p:cNvSpPr/>
          <p:nvPr/>
        </p:nvSpPr>
        <p:spPr>
          <a:xfrm>
            <a:off x="4389120" y="1645920"/>
            <a:ext cx="3383280" cy="4389120"/>
          </a:xfrm>
          <a:prstGeom prst="roundRect">
            <a:avLst>
              <a:gd name="adj" fmla="val 5405"/>
            </a:avLst>
          </a:prstGeom>
          <a:solidFill>
            <a:srgbClr val="14121E"/>
          </a:solidFill>
          <a:ln w="19050">
            <a:solidFill>
              <a:srgbClr val="352A54"/>
            </a:solidFill>
            <a:prstDash val="solid"/>
          </a:ln>
        </p:spPr>
      </p:sp>
      <p:sp>
        <p:nvSpPr>
          <p:cNvPr id="11" name="Text 9"/>
          <p:cNvSpPr/>
          <p:nvPr/>
        </p:nvSpPr>
        <p:spPr>
          <a:xfrm>
            <a:off x="46634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2" name="Text 10"/>
          <p:cNvSpPr/>
          <p:nvPr/>
        </p:nvSpPr>
        <p:spPr>
          <a:xfrm>
            <a:off x="4663440" y="256032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Audio Announcement Chimes</a:t>
            </a:r>
            <a:endParaRPr lang="en-US" sz="1800" dirty="0"/>
          </a:p>
        </p:txBody>
      </p:sp>
      <p:sp>
        <p:nvSpPr>
          <p:cNvPr id="13" name="Text 11"/>
          <p:cNvSpPr/>
          <p:nvPr/>
        </p:nvSpPr>
        <p:spPr>
          <a:xfrm>
            <a:off x="4663440" y="3200400"/>
            <a:ext cx="2834640" cy="219456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Built-in Web Audio API chimes announce completed tokens: 'Token FL-1793 is Ready at Counter 1!'</a:t>
            </a:r>
            <a:endParaRPr lang="en-US" sz="1250" dirty="0"/>
          </a:p>
        </p:txBody>
      </p:sp>
      <p:sp>
        <p:nvSpPr>
          <p:cNvPr id="14" name="Shape 12"/>
          <p:cNvSpPr/>
          <p:nvPr/>
        </p:nvSpPr>
        <p:spPr>
          <a:xfrm>
            <a:off x="8046720" y="1645920"/>
            <a:ext cx="3383280" cy="4389120"/>
          </a:xfrm>
          <a:prstGeom prst="roundRect">
            <a:avLst>
              <a:gd name="adj" fmla="val 5405"/>
            </a:avLst>
          </a:prstGeom>
          <a:solidFill>
            <a:srgbClr val="14121E"/>
          </a:solidFill>
          <a:ln w="19050">
            <a:solidFill>
              <a:srgbClr val="352A54"/>
            </a:solidFill>
            <a:prstDash val="solid"/>
          </a:ln>
        </p:spPr>
      </p:sp>
      <p:sp>
        <p:nvSpPr>
          <p:cNvPr id="15" name="Text 13"/>
          <p:cNvSpPr/>
          <p:nvPr/>
        </p:nvSpPr>
        <p:spPr>
          <a:xfrm>
            <a:off x="83210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6" name="Text 14"/>
          <p:cNvSpPr/>
          <p:nvPr/>
        </p:nvSpPr>
        <p:spPr>
          <a:xfrm>
            <a:off x="8321040" y="256032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1-Tap Stockout Toggle</a:t>
            </a:r>
            <a:endParaRPr lang="en-US" sz="1800" dirty="0"/>
          </a:p>
        </p:txBody>
      </p:sp>
      <p:sp>
        <p:nvSpPr>
          <p:cNvPr id="17" name="Text 15"/>
          <p:cNvSpPr/>
          <p:nvPr/>
        </p:nvSpPr>
        <p:spPr>
          <a:xfrm>
            <a:off x="8321040" y="3200400"/>
            <a:ext cx="2834640" cy="219456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Eliminates 'bhaiya samosa khatam' by locking sold-out items across every student phone in 400ms.</a:t>
            </a:r>
            <a:endParaRPr lang="en-US" sz="1250" dirty="0"/>
          </a:p>
        </p:txBody>
      </p:sp>
      <p:sp>
        <p:nvSpPr>
          <p:cNvPr id="18" name="Text 16"/>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19" name="Text 17"/>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FFA834"/>
                </a:solidFill>
                <a:latin typeface="Arial" pitchFamily="34" charset="0"/>
                <a:ea typeface="Arial" pitchFamily="34" charset="-122"/>
                <a:cs typeface="Arial" pitchFamily="34" charset="-120"/>
              </a:rPr>
              <a:t>06 · STUDENT EXPERIENCE</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Live Order Tray &amp; 1-Tap Instant Fast Reorder</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07 / 15</a:t>
            </a:r>
            <a:endParaRPr lang="en-US" sz="1000" dirty="0"/>
          </a:p>
        </p:txBody>
      </p:sp>
      <p:sp>
        <p:nvSpPr>
          <p:cNvPr id="6" name="Shape 4"/>
          <p:cNvSpPr/>
          <p:nvPr/>
        </p:nvSpPr>
        <p:spPr>
          <a:xfrm>
            <a:off x="731520" y="1645920"/>
            <a:ext cx="3383280" cy="4389120"/>
          </a:xfrm>
          <a:prstGeom prst="roundRect">
            <a:avLst>
              <a:gd name="adj" fmla="val 5405"/>
            </a:avLst>
          </a:prstGeom>
          <a:solidFill>
            <a:srgbClr val="14121E"/>
          </a:solidFill>
          <a:ln w="19050">
            <a:solidFill>
              <a:srgbClr val="42321E"/>
            </a:solidFill>
            <a:prstDash val="solid"/>
          </a:ln>
        </p:spPr>
      </p:sp>
      <p:sp>
        <p:nvSpPr>
          <p:cNvPr id="7" name="Text 5"/>
          <p:cNvSpPr/>
          <p:nvPr/>
        </p:nvSpPr>
        <p:spPr>
          <a:xfrm>
            <a:off x="10058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8" name="Text 6"/>
          <p:cNvSpPr/>
          <p:nvPr/>
        </p:nvSpPr>
        <p:spPr>
          <a:xfrm>
            <a:off x="1005840" y="256032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Real-Time Order Progression</a:t>
            </a:r>
            <a:endParaRPr lang="en-US" sz="1800" dirty="0"/>
          </a:p>
        </p:txBody>
      </p:sp>
      <p:sp>
        <p:nvSpPr>
          <p:cNvPr id="9" name="Text 7"/>
          <p:cNvSpPr/>
          <p:nvPr/>
        </p:nvSpPr>
        <p:spPr>
          <a:xfrm>
            <a:off x="1005840" y="3200400"/>
            <a:ext cx="2834640" cy="219456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Visual steppers display exact prep milestones: Order Received ➜ In the Kitchen ➜ Ready for Pickup.</a:t>
            </a:r>
            <a:endParaRPr lang="en-US" sz="1250" dirty="0"/>
          </a:p>
        </p:txBody>
      </p:sp>
      <p:sp>
        <p:nvSpPr>
          <p:cNvPr id="10" name="Shape 8"/>
          <p:cNvSpPr/>
          <p:nvPr/>
        </p:nvSpPr>
        <p:spPr>
          <a:xfrm>
            <a:off x="4389120" y="1645920"/>
            <a:ext cx="3383280" cy="4389120"/>
          </a:xfrm>
          <a:prstGeom prst="roundRect">
            <a:avLst>
              <a:gd name="adj" fmla="val 5405"/>
            </a:avLst>
          </a:prstGeom>
          <a:solidFill>
            <a:srgbClr val="14121E"/>
          </a:solidFill>
          <a:ln w="19050">
            <a:solidFill>
              <a:srgbClr val="42321E"/>
            </a:solidFill>
            <a:prstDash val="solid"/>
          </a:ln>
        </p:spPr>
      </p:sp>
      <p:sp>
        <p:nvSpPr>
          <p:cNvPr id="11" name="Text 9"/>
          <p:cNvSpPr/>
          <p:nvPr/>
        </p:nvSpPr>
        <p:spPr>
          <a:xfrm>
            <a:off x="46634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2" name="Text 10"/>
          <p:cNvSpPr/>
          <p:nvPr/>
        </p:nvSpPr>
        <p:spPr>
          <a:xfrm>
            <a:off x="4663440" y="256032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Offline-Resilient Optical Pass</a:t>
            </a:r>
            <a:endParaRPr lang="en-US" sz="1800" dirty="0"/>
          </a:p>
        </p:txBody>
      </p:sp>
      <p:sp>
        <p:nvSpPr>
          <p:cNvPr id="13" name="Text 11"/>
          <p:cNvSpPr/>
          <p:nvPr/>
        </p:nvSpPr>
        <p:spPr>
          <a:xfrm>
            <a:off x="4663440" y="3200400"/>
            <a:ext cx="2834640" cy="219456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QR code and 4-digit OTP persist securely in client storage; works flawlessly even in college dead zones.</a:t>
            </a:r>
            <a:endParaRPr lang="en-US" sz="1250" dirty="0"/>
          </a:p>
        </p:txBody>
      </p:sp>
      <p:sp>
        <p:nvSpPr>
          <p:cNvPr id="14" name="Shape 12"/>
          <p:cNvSpPr/>
          <p:nvPr/>
        </p:nvSpPr>
        <p:spPr>
          <a:xfrm>
            <a:off x="8046720" y="1645920"/>
            <a:ext cx="3383280" cy="4389120"/>
          </a:xfrm>
          <a:prstGeom prst="roundRect">
            <a:avLst>
              <a:gd name="adj" fmla="val 5405"/>
            </a:avLst>
          </a:prstGeom>
          <a:solidFill>
            <a:srgbClr val="14121E"/>
          </a:solidFill>
          <a:ln w="19050">
            <a:solidFill>
              <a:srgbClr val="42321E"/>
            </a:solidFill>
            <a:prstDash val="solid"/>
          </a:ln>
        </p:spPr>
      </p:sp>
      <p:sp>
        <p:nvSpPr>
          <p:cNvPr id="15" name="Text 13"/>
          <p:cNvSpPr/>
          <p:nvPr/>
        </p:nvSpPr>
        <p:spPr>
          <a:xfrm>
            <a:off x="83210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6" name="Text 14"/>
          <p:cNvSpPr/>
          <p:nvPr/>
        </p:nvSpPr>
        <p:spPr>
          <a:xfrm>
            <a:off x="8321040" y="256032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1-Tap Favorite Meal Reorder</a:t>
            </a:r>
            <a:endParaRPr lang="en-US" sz="1800" dirty="0"/>
          </a:p>
        </p:txBody>
      </p:sp>
      <p:sp>
        <p:nvSpPr>
          <p:cNvPr id="17" name="Text 15"/>
          <p:cNvSpPr/>
          <p:nvPr/>
        </p:nvSpPr>
        <p:spPr>
          <a:xfrm>
            <a:off x="8321040" y="3200400"/>
            <a:ext cx="2834640" cy="219456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One touch instantly recreates past combos (e.g. Vada Pav + Cutting Chai) without browsing 44 dishes.</a:t>
            </a:r>
            <a:endParaRPr lang="en-US" sz="1250" dirty="0"/>
          </a:p>
        </p:txBody>
      </p:sp>
      <p:sp>
        <p:nvSpPr>
          <p:cNvPr id="18" name="Text 16"/>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19" name="Text 17"/>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00D4AA"/>
                </a:solidFill>
                <a:latin typeface="Arial" pitchFamily="34" charset="0"/>
                <a:ea typeface="Arial" pitchFamily="34" charset="-122"/>
                <a:cs typeface="Arial" pitchFamily="34" charset="-120"/>
              </a:rPr>
              <a:t>07 · PILOT PROOF</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The Pilot Is Live Right Now at Cafe @7</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08 / 15</a:t>
            </a:r>
            <a:endParaRPr lang="en-US" sz="1000" dirty="0"/>
          </a:p>
        </p:txBody>
      </p:sp>
      <p:sp>
        <p:nvSpPr>
          <p:cNvPr id="6" name="Shape 4"/>
          <p:cNvSpPr/>
          <p:nvPr/>
        </p:nvSpPr>
        <p:spPr>
          <a:xfrm>
            <a:off x="731520" y="1645920"/>
            <a:ext cx="2560320" cy="4389120"/>
          </a:xfrm>
          <a:prstGeom prst="roundRect">
            <a:avLst>
              <a:gd name="adj" fmla="val 7143"/>
            </a:avLst>
          </a:prstGeom>
          <a:solidFill>
            <a:srgbClr val="14121E"/>
          </a:solidFill>
          <a:ln w="19050">
            <a:solidFill>
              <a:srgbClr val="25253A"/>
            </a:solidFill>
            <a:prstDash val="solid"/>
          </a:ln>
        </p:spPr>
      </p:sp>
      <p:sp>
        <p:nvSpPr>
          <p:cNvPr id="7" name="Text 5"/>
          <p:cNvSpPr/>
          <p:nvPr/>
        </p:nvSpPr>
        <p:spPr>
          <a:xfrm>
            <a:off x="914400" y="2194560"/>
            <a:ext cx="2194560" cy="822960"/>
          </a:xfrm>
          <a:prstGeom prst="rect">
            <a:avLst/>
          </a:prstGeom>
          <a:noFill/>
          <a:ln/>
        </p:spPr>
        <p:txBody>
          <a:bodyPr wrap="square" rtlCol="0" anchor="ctr"/>
          <a:lstStyle/>
          <a:p>
            <a:pPr algn="ctr" indent="0" marL="0">
              <a:buNone/>
            </a:pPr>
            <a:r>
              <a:rPr lang="en-US" sz="3800" b="1" dirty="0">
                <a:solidFill>
                  <a:srgbClr val="FF6B2C"/>
                </a:solidFill>
                <a:latin typeface="Trebuchet MS" pitchFamily="34" charset="0"/>
                <a:ea typeface="Trebuchet MS" pitchFamily="34" charset="-122"/>
                <a:cs typeface="Trebuchet MS" pitchFamily="34" charset="-120"/>
              </a:rPr>
              <a:t>44</a:t>
            </a:r>
            <a:endParaRPr lang="en-US" sz="3800" dirty="0"/>
          </a:p>
        </p:txBody>
      </p:sp>
      <p:sp>
        <p:nvSpPr>
          <p:cNvPr id="8" name="Text 6"/>
          <p:cNvSpPr/>
          <p:nvPr/>
        </p:nvSpPr>
        <p:spPr>
          <a:xfrm>
            <a:off x="914400" y="3200400"/>
            <a:ext cx="2194560" cy="54864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Canteen Dishes Cataloged</a:t>
            </a:r>
            <a:endParaRPr lang="en-US" sz="1500" dirty="0"/>
          </a:p>
        </p:txBody>
      </p:sp>
      <p:sp>
        <p:nvSpPr>
          <p:cNvPr id="9" name="Text 7"/>
          <p:cNvSpPr/>
          <p:nvPr/>
        </p:nvSpPr>
        <p:spPr>
          <a:xfrm>
            <a:off x="914400" y="3931920"/>
            <a:ext cx="2194560" cy="1280160"/>
          </a:xfrm>
          <a:prstGeom prst="rect">
            <a:avLst/>
          </a:prstGeom>
          <a:noFill/>
          <a:ln/>
        </p:spPr>
        <p:txBody>
          <a:bodyPr wrap="square" rtlCol="0" anchor="ctr"/>
          <a:lstStyle/>
          <a:p>
            <a:pPr algn="ctr" indent="0" marL="0">
              <a:lnSpc>
                <a:spcPct val="120000"/>
              </a:lnSpc>
              <a:buNone/>
            </a:pPr>
            <a:r>
              <a:rPr lang="en-US" sz="1200" dirty="0">
                <a:solidFill>
                  <a:srgbClr val="9E9EAF"/>
                </a:solidFill>
                <a:latin typeface="Arial" pitchFamily="34" charset="0"/>
                <a:ea typeface="Arial" pitchFamily="34" charset="-122"/>
                <a:cs typeface="Arial" pitchFamily="34" charset="-120"/>
              </a:rPr>
              <a:t>8 categories loaded with pricing &amp; images</a:t>
            </a:r>
            <a:endParaRPr lang="en-US" sz="1200" dirty="0"/>
          </a:p>
        </p:txBody>
      </p:sp>
      <p:sp>
        <p:nvSpPr>
          <p:cNvPr id="10" name="Shape 8"/>
          <p:cNvSpPr/>
          <p:nvPr/>
        </p:nvSpPr>
        <p:spPr>
          <a:xfrm>
            <a:off x="3474720" y="1645920"/>
            <a:ext cx="2560320" cy="4389120"/>
          </a:xfrm>
          <a:prstGeom prst="roundRect">
            <a:avLst>
              <a:gd name="adj" fmla="val 7143"/>
            </a:avLst>
          </a:prstGeom>
          <a:solidFill>
            <a:srgbClr val="14121E"/>
          </a:solidFill>
          <a:ln w="19050">
            <a:solidFill>
              <a:srgbClr val="25253A"/>
            </a:solidFill>
            <a:prstDash val="solid"/>
          </a:ln>
        </p:spPr>
      </p:sp>
      <p:sp>
        <p:nvSpPr>
          <p:cNvPr id="11" name="Text 9"/>
          <p:cNvSpPr/>
          <p:nvPr/>
        </p:nvSpPr>
        <p:spPr>
          <a:xfrm>
            <a:off x="3657600" y="2194560"/>
            <a:ext cx="2194560" cy="822960"/>
          </a:xfrm>
          <a:prstGeom prst="rect">
            <a:avLst/>
          </a:prstGeom>
          <a:noFill/>
          <a:ln/>
        </p:spPr>
        <p:txBody>
          <a:bodyPr wrap="square" rtlCol="0" anchor="ctr"/>
          <a:lstStyle/>
          <a:p>
            <a:pPr algn="ctr" indent="0" marL="0">
              <a:buNone/>
            </a:pPr>
            <a:r>
              <a:rPr lang="en-US" sz="3800" b="1" dirty="0">
                <a:solidFill>
                  <a:srgbClr val="00D4AA"/>
                </a:solidFill>
                <a:latin typeface="Trebuchet MS" pitchFamily="34" charset="0"/>
                <a:ea typeface="Trebuchet MS" pitchFamily="34" charset="-122"/>
                <a:cs typeface="Trebuchet MS" pitchFamily="34" charset="-120"/>
              </a:rPr>
              <a:t>18s</a:t>
            </a:r>
            <a:endParaRPr lang="en-US" sz="3800" dirty="0"/>
          </a:p>
        </p:txBody>
      </p:sp>
      <p:sp>
        <p:nvSpPr>
          <p:cNvPr id="12" name="Text 10"/>
          <p:cNvSpPr/>
          <p:nvPr/>
        </p:nvSpPr>
        <p:spPr>
          <a:xfrm>
            <a:off x="3657600" y="3200400"/>
            <a:ext cx="2194560" cy="54864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Average Pickup Time</a:t>
            </a:r>
            <a:endParaRPr lang="en-US" sz="1500" dirty="0"/>
          </a:p>
        </p:txBody>
      </p:sp>
      <p:sp>
        <p:nvSpPr>
          <p:cNvPr id="13" name="Text 11"/>
          <p:cNvSpPr/>
          <p:nvPr/>
        </p:nvSpPr>
        <p:spPr>
          <a:xfrm>
            <a:off x="3657600" y="3931920"/>
            <a:ext cx="2194560" cy="1280160"/>
          </a:xfrm>
          <a:prstGeom prst="rect">
            <a:avLst/>
          </a:prstGeom>
          <a:noFill/>
          <a:ln/>
        </p:spPr>
        <p:txBody>
          <a:bodyPr wrap="square" rtlCol="0" anchor="ctr"/>
          <a:lstStyle/>
          <a:p>
            <a:pPr algn="ctr" indent="0" marL="0">
              <a:lnSpc>
                <a:spcPct val="120000"/>
              </a:lnSpc>
              <a:buNone/>
            </a:pPr>
            <a:r>
              <a:rPr lang="en-US" sz="1200" dirty="0">
                <a:solidFill>
                  <a:srgbClr val="9E9EAF"/>
                </a:solidFill>
                <a:latin typeface="Arial" pitchFamily="34" charset="0"/>
                <a:ea typeface="Arial" pitchFamily="34" charset="-122"/>
                <a:cs typeface="Arial" pitchFamily="34" charset="-120"/>
              </a:rPr>
              <a:t>Down from 12 minutes in the line rush</a:t>
            </a:r>
            <a:endParaRPr lang="en-US" sz="1200" dirty="0"/>
          </a:p>
        </p:txBody>
      </p:sp>
      <p:sp>
        <p:nvSpPr>
          <p:cNvPr id="14" name="Shape 12"/>
          <p:cNvSpPr/>
          <p:nvPr/>
        </p:nvSpPr>
        <p:spPr>
          <a:xfrm>
            <a:off x="6217920" y="1645920"/>
            <a:ext cx="2560320" cy="4389120"/>
          </a:xfrm>
          <a:prstGeom prst="roundRect">
            <a:avLst>
              <a:gd name="adj" fmla="val 7143"/>
            </a:avLst>
          </a:prstGeom>
          <a:solidFill>
            <a:srgbClr val="14121E"/>
          </a:solidFill>
          <a:ln w="19050">
            <a:solidFill>
              <a:srgbClr val="25253A"/>
            </a:solidFill>
            <a:prstDash val="solid"/>
          </a:ln>
        </p:spPr>
      </p:sp>
      <p:sp>
        <p:nvSpPr>
          <p:cNvPr id="15" name="Text 13"/>
          <p:cNvSpPr/>
          <p:nvPr/>
        </p:nvSpPr>
        <p:spPr>
          <a:xfrm>
            <a:off x="6400800" y="2194560"/>
            <a:ext cx="2194560" cy="822960"/>
          </a:xfrm>
          <a:prstGeom prst="rect">
            <a:avLst/>
          </a:prstGeom>
          <a:noFill/>
          <a:ln/>
        </p:spPr>
        <p:txBody>
          <a:bodyPr wrap="square" rtlCol="0" anchor="ctr"/>
          <a:lstStyle/>
          <a:p>
            <a:pPr algn="ctr" indent="0" marL="0">
              <a:buNone/>
            </a:pPr>
            <a:r>
              <a:rPr lang="en-US" sz="3800" b="1" dirty="0">
                <a:solidFill>
                  <a:srgbClr val="3B82F6"/>
                </a:solidFill>
                <a:latin typeface="Trebuchet MS" pitchFamily="34" charset="0"/>
                <a:ea typeface="Trebuchet MS" pitchFamily="34" charset="-122"/>
                <a:cs typeface="Trebuchet MS" pitchFamily="34" charset="-120"/>
              </a:rPr>
              <a:t>0%</a:t>
            </a:r>
            <a:endParaRPr lang="en-US" sz="3800" dirty="0"/>
          </a:p>
        </p:txBody>
      </p:sp>
      <p:sp>
        <p:nvSpPr>
          <p:cNvPr id="16" name="Text 14"/>
          <p:cNvSpPr/>
          <p:nvPr/>
        </p:nvSpPr>
        <p:spPr>
          <a:xfrm>
            <a:off x="6400800" y="3200400"/>
            <a:ext cx="2194560" cy="54864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Overbooking Incidents</a:t>
            </a:r>
            <a:endParaRPr lang="en-US" sz="1500" dirty="0"/>
          </a:p>
        </p:txBody>
      </p:sp>
      <p:sp>
        <p:nvSpPr>
          <p:cNvPr id="17" name="Text 15"/>
          <p:cNvSpPr/>
          <p:nvPr/>
        </p:nvSpPr>
        <p:spPr>
          <a:xfrm>
            <a:off x="6400800" y="3931920"/>
            <a:ext cx="2194560" cy="1280160"/>
          </a:xfrm>
          <a:prstGeom prst="rect">
            <a:avLst/>
          </a:prstGeom>
          <a:noFill/>
          <a:ln/>
        </p:spPr>
        <p:txBody>
          <a:bodyPr wrap="square" rtlCol="0" anchor="ctr"/>
          <a:lstStyle/>
          <a:p>
            <a:pPr algn="ctr" indent="0" marL="0">
              <a:lnSpc>
                <a:spcPct val="120000"/>
              </a:lnSpc>
              <a:buNone/>
            </a:pPr>
            <a:r>
              <a:rPr lang="en-US" sz="1200" dirty="0">
                <a:solidFill>
                  <a:srgbClr val="9E9EAF"/>
                </a:solidFill>
                <a:latin typeface="Arial" pitchFamily="34" charset="0"/>
                <a:ea typeface="Arial" pitchFamily="34" charset="-122"/>
                <a:cs typeface="Arial" pitchFamily="34" charset="-120"/>
              </a:rPr>
              <a:t>65 burst stress tests handled cleanly</a:t>
            </a:r>
            <a:endParaRPr lang="en-US" sz="1200" dirty="0"/>
          </a:p>
        </p:txBody>
      </p:sp>
      <p:sp>
        <p:nvSpPr>
          <p:cNvPr id="18" name="Shape 16"/>
          <p:cNvSpPr/>
          <p:nvPr/>
        </p:nvSpPr>
        <p:spPr>
          <a:xfrm>
            <a:off x="8961120" y="1645920"/>
            <a:ext cx="2560320" cy="4389120"/>
          </a:xfrm>
          <a:prstGeom prst="roundRect">
            <a:avLst>
              <a:gd name="adj" fmla="val 7143"/>
            </a:avLst>
          </a:prstGeom>
          <a:solidFill>
            <a:srgbClr val="14121E"/>
          </a:solidFill>
          <a:ln w="19050">
            <a:solidFill>
              <a:srgbClr val="25253A"/>
            </a:solidFill>
            <a:prstDash val="solid"/>
          </a:ln>
        </p:spPr>
      </p:sp>
      <p:sp>
        <p:nvSpPr>
          <p:cNvPr id="19" name="Text 17"/>
          <p:cNvSpPr/>
          <p:nvPr/>
        </p:nvSpPr>
        <p:spPr>
          <a:xfrm>
            <a:off x="9144000" y="2194560"/>
            <a:ext cx="2194560" cy="822960"/>
          </a:xfrm>
          <a:prstGeom prst="rect">
            <a:avLst/>
          </a:prstGeom>
          <a:noFill/>
          <a:ln/>
        </p:spPr>
        <p:txBody>
          <a:bodyPr wrap="square" rtlCol="0" anchor="ctr"/>
          <a:lstStyle/>
          <a:p>
            <a:pPr algn="ctr" indent="0" marL="0">
              <a:buNone/>
            </a:pPr>
            <a:r>
              <a:rPr lang="en-US" sz="3800" b="1" dirty="0">
                <a:solidFill>
                  <a:srgbClr val="D4AF37"/>
                </a:solidFill>
                <a:latin typeface="Trebuchet MS" pitchFamily="34" charset="0"/>
                <a:ea typeface="Trebuchet MS" pitchFamily="34" charset="-122"/>
                <a:cs typeface="Trebuchet MS" pitchFamily="34" charset="-120"/>
              </a:rPr>
              <a:t>100%</a:t>
            </a:r>
            <a:endParaRPr lang="en-US" sz="3800" dirty="0"/>
          </a:p>
        </p:txBody>
      </p:sp>
      <p:sp>
        <p:nvSpPr>
          <p:cNvPr id="20" name="Text 18"/>
          <p:cNvSpPr/>
          <p:nvPr/>
        </p:nvSpPr>
        <p:spPr>
          <a:xfrm>
            <a:off x="9144000" y="3200400"/>
            <a:ext cx="2194560" cy="548640"/>
          </a:xfrm>
          <a:prstGeom prst="rect">
            <a:avLst/>
          </a:prstGeom>
          <a:noFill/>
          <a:ln/>
        </p:spPr>
        <p:txBody>
          <a:bodyPr wrap="square"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Anti-Fraud Success</a:t>
            </a:r>
            <a:endParaRPr lang="en-US" sz="1500" dirty="0"/>
          </a:p>
        </p:txBody>
      </p:sp>
      <p:sp>
        <p:nvSpPr>
          <p:cNvPr id="21" name="Text 19"/>
          <p:cNvSpPr/>
          <p:nvPr/>
        </p:nvSpPr>
        <p:spPr>
          <a:xfrm>
            <a:off x="9144000" y="3931920"/>
            <a:ext cx="2194560" cy="1280160"/>
          </a:xfrm>
          <a:prstGeom prst="rect">
            <a:avLst/>
          </a:prstGeom>
          <a:noFill/>
          <a:ln/>
        </p:spPr>
        <p:txBody>
          <a:bodyPr wrap="square" rtlCol="0" anchor="ctr"/>
          <a:lstStyle/>
          <a:p>
            <a:pPr algn="ctr" indent="0" marL="0">
              <a:lnSpc>
                <a:spcPct val="120000"/>
              </a:lnSpc>
              <a:buNone/>
            </a:pPr>
            <a:r>
              <a:rPr lang="en-US" sz="1200" dirty="0">
                <a:solidFill>
                  <a:srgbClr val="9E9EAF"/>
                </a:solidFill>
                <a:latin typeface="Arial" pitchFamily="34" charset="0"/>
                <a:ea typeface="Arial" pitchFamily="34" charset="-122"/>
                <a:cs typeface="Arial" pitchFamily="34" charset="-120"/>
              </a:rPr>
              <a:t>Zero fraudulent UPI screenshots accepted</a:t>
            </a:r>
            <a:endParaRPr lang="en-US" sz="1200" dirty="0"/>
          </a:p>
        </p:txBody>
      </p:sp>
      <p:sp>
        <p:nvSpPr>
          <p:cNvPr id="22" name="Text 20"/>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23" name="Text 21"/>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D4AF37"/>
                </a:solidFill>
                <a:latin typeface="Arial" pitchFamily="34" charset="0"/>
                <a:ea typeface="Arial" pitchFamily="34" charset="-122"/>
                <a:cs typeface="Arial" pitchFamily="34" charset="-120"/>
              </a:rPr>
              <a:t>08 · BUSINESS MODEL</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Three High-Margin Revenue Streams</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09 / 15</a:t>
            </a:r>
            <a:endParaRPr lang="en-US" sz="1000" dirty="0"/>
          </a:p>
        </p:txBody>
      </p:sp>
      <p:sp>
        <p:nvSpPr>
          <p:cNvPr id="6" name="Shape 4"/>
          <p:cNvSpPr/>
          <p:nvPr/>
        </p:nvSpPr>
        <p:spPr>
          <a:xfrm>
            <a:off x="731520" y="1645920"/>
            <a:ext cx="3383280" cy="4389120"/>
          </a:xfrm>
          <a:prstGeom prst="roundRect">
            <a:avLst>
              <a:gd name="adj" fmla="val 5405"/>
            </a:avLst>
          </a:prstGeom>
          <a:solidFill>
            <a:srgbClr val="14121E"/>
          </a:solidFill>
          <a:ln w="19050">
            <a:solidFill>
              <a:srgbClr val="3A3222"/>
            </a:solidFill>
            <a:prstDash val="solid"/>
          </a:ln>
        </p:spPr>
      </p:sp>
      <p:sp>
        <p:nvSpPr>
          <p:cNvPr id="7" name="Text 5"/>
          <p:cNvSpPr/>
          <p:nvPr/>
        </p:nvSpPr>
        <p:spPr>
          <a:xfrm>
            <a:off x="1005840" y="1920240"/>
            <a:ext cx="914400" cy="457200"/>
          </a:xfrm>
          <a:prstGeom prst="rect">
            <a:avLst/>
          </a:prstGeom>
          <a:noFill/>
          <a:ln/>
        </p:spPr>
        <p:txBody>
          <a:bodyPr wrap="square" rtlCol="0" anchor="ctr"/>
          <a:lstStyle/>
          <a:p>
            <a:pPr indent="0" marL="0">
              <a:buNone/>
            </a:pPr>
            <a:r>
              <a:rPr lang="en-US" sz="2000" b="1" dirty="0">
                <a:solidFill>
                  <a:srgbClr val="D4AF37"/>
                </a:solidFill>
                <a:latin typeface="Trebuchet MS" pitchFamily="34" charset="0"/>
                <a:ea typeface="Trebuchet MS" pitchFamily="34" charset="-122"/>
                <a:cs typeface="Trebuchet MS" pitchFamily="34" charset="-120"/>
              </a:rPr>
              <a:t>01</a:t>
            </a:r>
            <a:endParaRPr lang="en-US" sz="2000" dirty="0"/>
          </a:p>
        </p:txBody>
      </p:sp>
      <p:sp>
        <p:nvSpPr>
          <p:cNvPr id="8" name="Text 6"/>
          <p:cNvSpPr/>
          <p:nvPr/>
        </p:nvSpPr>
        <p:spPr>
          <a:xfrm>
            <a:off x="1005840" y="2377440"/>
            <a:ext cx="2834640" cy="365760"/>
          </a:xfrm>
          <a:prstGeom prst="rect">
            <a:avLst/>
          </a:prstGeom>
          <a:noFill/>
          <a:ln/>
        </p:spPr>
        <p:txBody>
          <a:bodyPr wrap="square" rtlCol="0" anchor="ctr"/>
          <a:lstStyle/>
          <a:p>
            <a:pPr indent="0" marL="0">
              <a:buNone/>
            </a:pPr>
            <a:r>
              <a:rPr lang="en-US" sz="1400" b="1" dirty="0">
                <a:solidFill>
                  <a:srgbClr val="D4AF37"/>
                </a:solidFill>
                <a:latin typeface="Courier New" pitchFamily="34" charset="0"/>
                <a:ea typeface="Courier New" pitchFamily="34" charset="-122"/>
                <a:cs typeface="Courier New" pitchFamily="34" charset="-120"/>
              </a:rPr>
              <a:t>3.5% PER ORDER</a:t>
            </a:r>
            <a:endParaRPr lang="en-US" sz="1400" dirty="0"/>
          </a:p>
        </p:txBody>
      </p:sp>
      <p:sp>
        <p:nvSpPr>
          <p:cNvPr id="9" name="Text 7"/>
          <p:cNvSpPr/>
          <p:nvPr/>
        </p:nvSpPr>
        <p:spPr>
          <a:xfrm>
            <a:off x="1005840" y="283464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Fast-Pass Convenience Fee</a:t>
            </a:r>
            <a:endParaRPr lang="en-US" sz="1800" dirty="0"/>
          </a:p>
        </p:txBody>
      </p:sp>
      <p:sp>
        <p:nvSpPr>
          <p:cNvPr id="10" name="Text 8"/>
          <p:cNvSpPr/>
          <p:nvPr/>
        </p:nvSpPr>
        <p:spPr>
          <a:xfrm>
            <a:off x="1005840" y="3474720"/>
            <a:ext cx="2834640" cy="201168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Small student convenience fee on digital express orders (₹6 on a ₹50 meal combo). Canteen retains full item margin with zero cashier headache.</a:t>
            </a:r>
            <a:endParaRPr lang="en-US" sz="1250" dirty="0"/>
          </a:p>
        </p:txBody>
      </p:sp>
      <p:sp>
        <p:nvSpPr>
          <p:cNvPr id="11" name="Shape 9"/>
          <p:cNvSpPr/>
          <p:nvPr/>
        </p:nvSpPr>
        <p:spPr>
          <a:xfrm>
            <a:off x="4389120" y="1645920"/>
            <a:ext cx="3383280" cy="4389120"/>
          </a:xfrm>
          <a:prstGeom prst="roundRect">
            <a:avLst>
              <a:gd name="adj" fmla="val 5405"/>
            </a:avLst>
          </a:prstGeom>
          <a:solidFill>
            <a:srgbClr val="14121E"/>
          </a:solidFill>
          <a:ln w="19050">
            <a:solidFill>
              <a:srgbClr val="3A3222"/>
            </a:solidFill>
            <a:prstDash val="solid"/>
          </a:ln>
        </p:spPr>
      </p:sp>
      <p:sp>
        <p:nvSpPr>
          <p:cNvPr id="12" name="Text 10"/>
          <p:cNvSpPr/>
          <p:nvPr/>
        </p:nvSpPr>
        <p:spPr>
          <a:xfrm>
            <a:off x="4663440" y="1920240"/>
            <a:ext cx="914400" cy="457200"/>
          </a:xfrm>
          <a:prstGeom prst="rect">
            <a:avLst/>
          </a:prstGeom>
          <a:noFill/>
          <a:ln/>
        </p:spPr>
        <p:txBody>
          <a:bodyPr wrap="square" rtlCol="0" anchor="ctr"/>
          <a:lstStyle/>
          <a:p>
            <a:pPr indent="0" marL="0">
              <a:buNone/>
            </a:pPr>
            <a:r>
              <a:rPr lang="en-US" sz="2000" b="1" dirty="0">
                <a:solidFill>
                  <a:srgbClr val="FF6B2C"/>
                </a:solidFill>
                <a:latin typeface="Trebuchet MS" pitchFamily="34" charset="0"/>
                <a:ea typeface="Trebuchet MS" pitchFamily="34" charset="-122"/>
                <a:cs typeface="Trebuchet MS" pitchFamily="34" charset="-120"/>
              </a:rPr>
              <a:t>02</a:t>
            </a:r>
            <a:endParaRPr lang="en-US" sz="2000" dirty="0"/>
          </a:p>
        </p:txBody>
      </p:sp>
      <p:sp>
        <p:nvSpPr>
          <p:cNvPr id="13" name="Text 11"/>
          <p:cNvSpPr/>
          <p:nvPr/>
        </p:nvSpPr>
        <p:spPr>
          <a:xfrm>
            <a:off x="4663440" y="2377440"/>
            <a:ext cx="2834640" cy="365760"/>
          </a:xfrm>
          <a:prstGeom prst="rect">
            <a:avLst/>
          </a:prstGeom>
          <a:noFill/>
          <a:ln/>
        </p:spPr>
        <p:txBody>
          <a:bodyPr wrap="square" rtlCol="0" anchor="ctr"/>
          <a:lstStyle/>
          <a:p>
            <a:pPr indent="0" marL="0">
              <a:buNone/>
            </a:pPr>
            <a:r>
              <a:rPr lang="en-US" sz="1400" b="1" dirty="0">
                <a:solidFill>
                  <a:srgbClr val="FF6B2C"/>
                </a:solidFill>
                <a:latin typeface="Courier New" pitchFamily="34" charset="0"/>
                <a:ea typeface="Courier New" pitchFamily="34" charset="-122"/>
                <a:cs typeface="Courier New" pitchFamily="34" charset="-120"/>
              </a:rPr>
              <a:t>₹2,499 / MONTH</a:t>
            </a:r>
            <a:endParaRPr lang="en-US" sz="1400" dirty="0"/>
          </a:p>
        </p:txBody>
      </p:sp>
      <p:sp>
        <p:nvSpPr>
          <p:cNvPr id="14" name="Text 12"/>
          <p:cNvSpPr/>
          <p:nvPr/>
        </p:nvSpPr>
        <p:spPr>
          <a:xfrm>
            <a:off x="4663440" y="283464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Canteen SaaS Subscription</a:t>
            </a:r>
            <a:endParaRPr lang="en-US" sz="1800" dirty="0"/>
          </a:p>
        </p:txBody>
      </p:sp>
      <p:sp>
        <p:nvSpPr>
          <p:cNvPr id="15" name="Text 13"/>
          <p:cNvSpPr/>
          <p:nvPr/>
        </p:nvSpPr>
        <p:spPr>
          <a:xfrm>
            <a:off x="4663440" y="3474720"/>
            <a:ext cx="2834640" cy="201168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Fixed monthly software fee per canteen covering KDS kitchen tablets, TV queue announcements, automated inventory tracking, and fraud defense.</a:t>
            </a:r>
            <a:endParaRPr lang="en-US" sz="1250" dirty="0"/>
          </a:p>
        </p:txBody>
      </p:sp>
      <p:sp>
        <p:nvSpPr>
          <p:cNvPr id="16" name="Shape 14"/>
          <p:cNvSpPr/>
          <p:nvPr/>
        </p:nvSpPr>
        <p:spPr>
          <a:xfrm>
            <a:off x="8046720" y="1645920"/>
            <a:ext cx="3383280" cy="4389120"/>
          </a:xfrm>
          <a:prstGeom prst="roundRect">
            <a:avLst>
              <a:gd name="adj" fmla="val 5405"/>
            </a:avLst>
          </a:prstGeom>
          <a:solidFill>
            <a:srgbClr val="14121E"/>
          </a:solidFill>
          <a:ln w="19050">
            <a:solidFill>
              <a:srgbClr val="3A3222"/>
            </a:solidFill>
            <a:prstDash val="solid"/>
          </a:ln>
        </p:spPr>
      </p:sp>
      <p:sp>
        <p:nvSpPr>
          <p:cNvPr id="17" name="Text 15"/>
          <p:cNvSpPr/>
          <p:nvPr/>
        </p:nvSpPr>
        <p:spPr>
          <a:xfrm>
            <a:off x="8321040" y="1920240"/>
            <a:ext cx="914400" cy="457200"/>
          </a:xfrm>
          <a:prstGeom prst="rect">
            <a:avLst/>
          </a:prstGeom>
          <a:noFill/>
          <a:ln/>
        </p:spPr>
        <p:txBody>
          <a:bodyPr wrap="square" rtlCol="0" anchor="ctr"/>
          <a:lstStyle/>
          <a:p>
            <a:pPr indent="0" marL="0">
              <a:buNone/>
            </a:pPr>
            <a:r>
              <a:rPr lang="en-US" sz="2000" b="1" dirty="0">
                <a:solidFill>
                  <a:srgbClr val="00D4AA"/>
                </a:solidFill>
                <a:latin typeface="Trebuchet MS" pitchFamily="34" charset="0"/>
                <a:ea typeface="Trebuchet MS" pitchFamily="34" charset="-122"/>
                <a:cs typeface="Trebuchet MS" pitchFamily="34" charset="-120"/>
              </a:rPr>
              <a:t>03</a:t>
            </a:r>
            <a:endParaRPr lang="en-US" sz="2000" dirty="0"/>
          </a:p>
        </p:txBody>
      </p:sp>
      <p:sp>
        <p:nvSpPr>
          <p:cNvPr id="18" name="Text 16"/>
          <p:cNvSpPr/>
          <p:nvPr/>
        </p:nvSpPr>
        <p:spPr>
          <a:xfrm>
            <a:off x="8321040" y="2377440"/>
            <a:ext cx="2834640" cy="365760"/>
          </a:xfrm>
          <a:prstGeom prst="rect">
            <a:avLst/>
          </a:prstGeom>
          <a:noFill/>
          <a:ln/>
        </p:spPr>
        <p:txBody>
          <a:bodyPr wrap="square" rtlCol="0" anchor="ctr"/>
          <a:lstStyle/>
          <a:p>
            <a:pPr indent="0" marL="0">
              <a:buNone/>
            </a:pPr>
            <a:r>
              <a:rPr lang="en-US" sz="1400" b="1" dirty="0">
                <a:solidFill>
                  <a:srgbClr val="00D4AA"/>
                </a:solidFill>
                <a:latin typeface="Courier New" pitchFamily="34" charset="0"/>
                <a:ea typeface="Courier New" pitchFamily="34" charset="-122"/>
                <a:cs typeface="Courier New" pitchFamily="34" charset="-120"/>
              </a:rPr>
              <a:t>₹15,000 / BRAND</a:t>
            </a:r>
            <a:endParaRPr lang="en-US" sz="1400" dirty="0"/>
          </a:p>
        </p:txBody>
      </p:sp>
      <p:sp>
        <p:nvSpPr>
          <p:cNvPr id="19" name="Text 17"/>
          <p:cNvSpPr/>
          <p:nvPr/>
        </p:nvSpPr>
        <p:spPr>
          <a:xfrm>
            <a:off x="8321040" y="2834640"/>
            <a:ext cx="2834640" cy="54864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Sponsored Tray Placements</a:t>
            </a:r>
            <a:endParaRPr lang="en-US" sz="1800" dirty="0"/>
          </a:p>
        </p:txBody>
      </p:sp>
      <p:sp>
        <p:nvSpPr>
          <p:cNvPr id="20" name="Text 18"/>
          <p:cNvSpPr/>
          <p:nvPr/>
        </p:nvSpPr>
        <p:spPr>
          <a:xfrm>
            <a:off x="8321040" y="3474720"/>
            <a:ext cx="2834640" cy="201168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FMCG beverage and snack brands pay to feature promoted food pairing recommendations inside the digital tray checkout screen.</a:t>
            </a:r>
            <a:endParaRPr lang="en-US" sz="1250" dirty="0"/>
          </a:p>
        </p:txBody>
      </p:sp>
      <p:sp>
        <p:nvSpPr>
          <p:cNvPr id="21" name="Text 19"/>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22" name="Text 20"/>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3B82F6"/>
                </a:solidFill>
                <a:latin typeface="Arial" pitchFamily="34" charset="0"/>
                <a:ea typeface="Arial" pitchFamily="34" charset="-122"/>
                <a:cs typeface="Arial" pitchFamily="34" charset="-120"/>
              </a:rPr>
              <a:t>09 · TECH ARCHITECTURE</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Built for 2,500 RPS Class Dismissal Bursts</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10 / 15</a:t>
            </a:r>
            <a:endParaRPr lang="en-US" sz="1000" dirty="0"/>
          </a:p>
        </p:txBody>
      </p:sp>
      <p:sp>
        <p:nvSpPr>
          <p:cNvPr id="6" name="Shape 4"/>
          <p:cNvSpPr/>
          <p:nvPr/>
        </p:nvSpPr>
        <p:spPr>
          <a:xfrm>
            <a:off x="731520" y="1645920"/>
            <a:ext cx="5212080" cy="2011680"/>
          </a:xfrm>
          <a:prstGeom prst="roundRect">
            <a:avLst>
              <a:gd name="adj" fmla="val 9091"/>
            </a:avLst>
          </a:prstGeom>
          <a:solidFill>
            <a:srgbClr val="14121E"/>
          </a:solidFill>
          <a:ln w="19050">
            <a:solidFill>
              <a:srgbClr val="253248"/>
            </a:solidFill>
            <a:prstDash val="solid"/>
          </a:ln>
        </p:spPr>
      </p:sp>
      <p:sp>
        <p:nvSpPr>
          <p:cNvPr id="7" name="Text 5"/>
          <p:cNvSpPr/>
          <p:nvPr/>
        </p:nvSpPr>
        <p:spPr>
          <a:xfrm>
            <a:off x="1005840" y="1920240"/>
            <a:ext cx="731520" cy="45720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8" name="Text 6"/>
          <p:cNvSpPr/>
          <p:nvPr/>
        </p:nvSpPr>
        <p:spPr>
          <a:xfrm>
            <a:off x="1828800" y="1920240"/>
            <a:ext cx="3840480" cy="365760"/>
          </a:xfrm>
          <a:prstGeom prst="rect">
            <a:avLst/>
          </a:prstGeom>
          <a:noFill/>
          <a:ln/>
        </p:spPr>
        <p:txBody>
          <a:bodyPr wrap="square"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Next.js 15 &amp; PWA</a:t>
            </a:r>
            <a:endParaRPr lang="en-US" sz="1700" dirty="0"/>
          </a:p>
        </p:txBody>
      </p:sp>
      <p:sp>
        <p:nvSpPr>
          <p:cNvPr id="9" name="Text 7"/>
          <p:cNvSpPr/>
          <p:nvPr/>
        </p:nvSpPr>
        <p:spPr>
          <a:xfrm>
            <a:off x="1828800" y="2377440"/>
            <a:ext cx="3840480" cy="1005840"/>
          </a:xfrm>
          <a:prstGeom prst="rect">
            <a:avLst/>
          </a:prstGeom>
          <a:noFill/>
          <a:ln/>
        </p:spPr>
        <p:txBody>
          <a:bodyPr wrap="square" rtlCol="0" anchor="ctr"/>
          <a:lstStyle/>
          <a:p>
            <a:pPr indent="0" marL="0">
              <a:lnSpc>
                <a:spcPct val="120000"/>
              </a:lnSpc>
              <a:buNone/>
            </a:pPr>
            <a:r>
              <a:rPr lang="en-US" sz="1200" dirty="0">
                <a:solidFill>
                  <a:srgbClr val="9E9EAF"/>
                </a:solidFill>
                <a:latin typeface="Arial" pitchFamily="34" charset="0"/>
                <a:ea typeface="Arial" pitchFamily="34" charset="-122"/>
                <a:cs typeface="Arial" pitchFamily="34" charset="-120"/>
              </a:rPr>
              <a:t>Zero app-store friction. Sub-second loads on campus 4G/WiFi with Service Worker offline caching.</a:t>
            </a:r>
            <a:endParaRPr lang="en-US" sz="1200" dirty="0"/>
          </a:p>
        </p:txBody>
      </p:sp>
      <p:sp>
        <p:nvSpPr>
          <p:cNvPr id="10" name="Shape 8"/>
          <p:cNvSpPr/>
          <p:nvPr/>
        </p:nvSpPr>
        <p:spPr>
          <a:xfrm>
            <a:off x="6217920" y="1645920"/>
            <a:ext cx="5212080" cy="2011680"/>
          </a:xfrm>
          <a:prstGeom prst="roundRect">
            <a:avLst>
              <a:gd name="adj" fmla="val 9091"/>
            </a:avLst>
          </a:prstGeom>
          <a:solidFill>
            <a:srgbClr val="14121E"/>
          </a:solidFill>
          <a:ln w="19050">
            <a:solidFill>
              <a:srgbClr val="253248"/>
            </a:solidFill>
            <a:prstDash val="solid"/>
          </a:ln>
        </p:spPr>
      </p:sp>
      <p:sp>
        <p:nvSpPr>
          <p:cNvPr id="11" name="Text 9"/>
          <p:cNvSpPr/>
          <p:nvPr/>
        </p:nvSpPr>
        <p:spPr>
          <a:xfrm>
            <a:off x="6492240" y="1920240"/>
            <a:ext cx="731520" cy="45720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2" name="Text 10"/>
          <p:cNvSpPr/>
          <p:nvPr/>
        </p:nvSpPr>
        <p:spPr>
          <a:xfrm>
            <a:off x="7315200" y="1920240"/>
            <a:ext cx="3840480" cy="365760"/>
          </a:xfrm>
          <a:prstGeom prst="rect">
            <a:avLst/>
          </a:prstGeom>
          <a:noFill/>
          <a:ln/>
        </p:spPr>
        <p:txBody>
          <a:bodyPr wrap="square"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PostgreSQL Row Locks</a:t>
            </a:r>
            <a:endParaRPr lang="en-US" sz="1700" dirty="0"/>
          </a:p>
        </p:txBody>
      </p:sp>
      <p:sp>
        <p:nvSpPr>
          <p:cNvPr id="13" name="Text 11"/>
          <p:cNvSpPr/>
          <p:nvPr/>
        </p:nvSpPr>
        <p:spPr>
          <a:xfrm>
            <a:off x="7315200" y="2377440"/>
            <a:ext cx="3840480" cy="1005840"/>
          </a:xfrm>
          <a:prstGeom prst="rect">
            <a:avLst/>
          </a:prstGeom>
          <a:noFill/>
          <a:ln/>
        </p:spPr>
        <p:txBody>
          <a:bodyPr wrap="square" rtlCol="0" anchor="ctr"/>
          <a:lstStyle/>
          <a:p>
            <a:pPr indent="0" marL="0">
              <a:lnSpc>
                <a:spcPct val="120000"/>
              </a:lnSpc>
              <a:buNone/>
            </a:pPr>
            <a:r>
              <a:rPr lang="en-US" sz="1200" dirty="0">
                <a:solidFill>
                  <a:srgbClr val="9E9EAF"/>
                </a:solidFill>
                <a:latin typeface="Arial" pitchFamily="34" charset="0"/>
                <a:ea typeface="Arial" pitchFamily="34" charset="-122"/>
                <a:cs typeface="Arial" pitchFamily="34" charset="-120"/>
              </a:rPr>
              <a:t>Atomic transactions prevent overselling during 2,000-student class transition dismissal bells.</a:t>
            </a:r>
            <a:endParaRPr lang="en-US" sz="1200" dirty="0"/>
          </a:p>
        </p:txBody>
      </p:sp>
      <p:sp>
        <p:nvSpPr>
          <p:cNvPr id="14" name="Shape 12"/>
          <p:cNvSpPr/>
          <p:nvPr/>
        </p:nvSpPr>
        <p:spPr>
          <a:xfrm>
            <a:off x="731520" y="3931920"/>
            <a:ext cx="5212080" cy="2011680"/>
          </a:xfrm>
          <a:prstGeom prst="roundRect">
            <a:avLst>
              <a:gd name="adj" fmla="val 9091"/>
            </a:avLst>
          </a:prstGeom>
          <a:solidFill>
            <a:srgbClr val="14121E"/>
          </a:solidFill>
          <a:ln w="19050">
            <a:solidFill>
              <a:srgbClr val="253248"/>
            </a:solidFill>
            <a:prstDash val="solid"/>
          </a:ln>
        </p:spPr>
      </p:sp>
      <p:sp>
        <p:nvSpPr>
          <p:cNvPr id="15" name="Text 13"/>
          <p:cNvSpPr/>
          <p:nvPr/>
        </p:nvSpPr>
        <p:spPr>
          <a:xfrm>
            <a:off x="1005840" y="4206240"/>
            <a:ext cx="731520" cy="45720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6" name="Text 14"/>
          <p:cNvSpPr/>
          <p:nvPr/>
        </p:nvSpPr>
        <p:spPr>
          <a:xfrm>
            <a:off x="1828800" y="4206240"/>
            <a:ext cx="3840480" cy="365760"/>
          </a:xfrm>
          <a:prstGeom prst="rect">
            <a:avLst/>
          </a:prstGeom>
          <a:noFill/>
          <a:ln/>
        </p:spPr>
        <p:txBody>
          <a:bodyPr wrap="square"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Realtime SSE Streams</a:t>
            </a:r>
            <a:endParaRPr lang="en-US" sz="1700" dirty="0"/>
          </a:p>
        </p:txBody>
      </p:sp>
      <p:sp>
        <p:nvSpPr>
          <p:cNvPr id="17" name="Text 15"/>
          <p:cNvSpPr/>
          <p:nvPr/>
        </p:nvSpPr>
        <p:spPr>
          <a:xfrm>
            <a:off x="1828800" y="4663440"/>
            <a:ext cx="3840480" cy="1005840"/>
          </a:xfrm>
          <a:prstGeom prst="rect">
            <a:avLst/>
          </a:prstGeom>
          <a:noFill/>
          <a:ln/>
        </p:spPr>
        <p:txBody>
          <a:bodyPr wrap="square" rtlCol="0" anchor="ctr"/>
          <a:lstStyle/>
          <a:p>
            <a:pPr indent="0" marL="0">
              <a:lnSpc>
                <a:spcPct val="120000"/>
              </a:lnSpc>
              <a:buNone/>
            </a:pPr>
            <a:r>
              <a:rPr lang="en-US" sz="1200" dirty="0">
                <a:solidFill>
                  <a:srgbClr val="9E9EAF"/>
                </a:solidFill>
                <a:latin typeface="Arial" pitchFamily="34" charset="0"/>
                <a:ea typeface="Arial" pitchFamily="34" charset="-122"/>
                <a:cs typeface="Arial" pitchFamily="34" charset="-120"/>
              </a:rPr>
              <a:t>Sub-50ms live order status push to cooks' KDS tablets and counter TV displays.</a:t>
            </a:r>
            <a:endParaRPr lang="en-US" sz="1200" dirty="0"/>
          </a:p>
        </p:txBody>
      </p:sp>
      <p:sp>
        <p:nvSpPr>
          <p:cNvPr id="18" name="Shape 16"/>
          <p:cNvSpPr/>
          <p:nvPr/>
        </p:nvSpPr>
        <p:spPr>
          <a:xfrm>
            <a:off x="6217920" y="3931920"/>
            <a:ext cx="5212080" cy="2011680"/>
          </a:xfrm>
          <a:prstGeom prst="roundRect">
            <a:avLst>
              <a:gd name="adj" fmla="val 9091"/>
            </a:avLst>
          </a:prstGeom>
          <a:solidFill>
            <a:srgbClr val="14121E"/>
          </a:solidFill>
          <a:ln w="19050">
            <a:solidFill>
              <a:srgbClr val="253248"/>
            </a:solidFill>
            <a:prstDash val="solid"/>
          </a:ln>
        </p:spPr>
      </p:sp>
      <p:sp>
        <p:nvSpPr>
          <p:cNvPr id="19" name="Text 17"/>
          <p:cNvSpPr/>
          <p:nvPr/>
        </p:nvSpPr>
        <p:spPr>
          <a:xfrm>
            <a:off x="6492240" y="4206240"/>
            <a:ext cx="731520" cy="45720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0" name="Text 18"/>
          <p:cNvSpPr/>
          <p:nvPr/>
        </p:nvSpPr>
        <p:spPr>
          <a:xfrm>
            <a:off x="7315200" y="4206240"/>
            <a:ext cx="3840480" cy="365760"/>
          </a:xfrm>
          <a:prstGeom prst="rect">
            <a:avLst/>
          </a:prstGeom>
          <a:noFill/>
          <a:ln/>
        </p:spPr>
        <p:txBody>
          <a:bodyPr wrap="square"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Google Sheets Auth</a:t>
            </a:r>
            <a:endParaRPr lang="en-US" sz="1700" dirty="0"/>
          </a:p>
        </p:txBody>
      </p:sp>
      <p:sp>
        <p:nvSpPr>
          <p:cNvPr id="21" name="Text 19"/>
          <p:cNvSpPr/>
          <p:nvPr/>
        </p:nvSpPr>
        <p:spPr>
          <a:xfrm>
            <a:off x="7315200" y="4663440"/>
            <a:ext cx="3840480" cy="1005840"/>
          </a:xfrm>
          <a:prstGeom prst="rect">
            <a:avLst/>
          </a:prstGeom>
          <a:noFill/>
          <a:ln/>
        </p:spPr>
        <p:txBody>
          <a:bodyPr wrap="square" rtlCol="0" anchor="ctr"/>
          <a:lstStyle/>
          <a:p>
            <a:pPr indent="0" marL="0">
              <a:lnSpc>
                <a:spcPct val="120000"/>
              </a:lnSpc>
              <a:buNone/>
            </a:pPr>
            <a:r>
              <a:rPr lang="en-US" sz="1200" dirty="0">
                <a:solidFill>
                  <a:srgbClr val="9E9EAF"/>
                </a:solidFill>
                <a:latin typeface="Arial" pitchFamily="34" charset="0"/>
                <a:ea typeface="Arial" pitchFamily="34" charset="-122"/>
                <a:cs typeface="Arial" pitchFamily="34" charset="-120"/>
              </a:rPr>
              <a:t>Live integration with campus directory spreadsheets for instant student PRN resolution.</a:t>
            </a:r>
            <a:endParaRPr lang="en-US" sz="1200" dirty="0"/>
          </a:p>
        </p:txBody>
      </p:sp>
      <p:sp>
        <p:nvSpPr>
          <p:cNvPr id="22" name="Text 20"/>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23" name="Text 21"/>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00D4AA"/>
                </a:solidFill>
                <a:latin typeface="Arial" pitchFamily="34" charset="0"/>
                <a:ea typeface="Arial" pitchFamily="34" charset="-122"/>
                <a:cs typeface="Arial" pitchFamily="34" charset="-120"/>
              </a:rPr>
              <a:t>10 · COMPETITIVE MOAT</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FoodLine vs. Delivery Apps vs. Old Canteen</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11 / 15</a:t>
            </a:r>
            <a:endParaRPr lang="en-US" sz="1000" dirty="0"/>
          </a:p>
        </p:txBody>
      </p:sp>
      <p:sp>
        <p:nvSpPr>
          <p:cNvPr id="6" name="Shape 4"/>
          <p:cNvSpPr/>
          <p:nvPr/>
        </p:nvSpPr>
        <p:spPr>
          <a:xfrm>
            <a:off x="731520" y="1645920"/>
            <a:ext cx="3383280" cy="4389120"/>
          </a:xfrm>
          <a:prstGeom prst="roundRect">
            <a:avLst>
              <a:gd name="adj" fmla="val 5405"/>
            </a:avLst>
          </a:prstGeom>
          <a:solidFill>
            <a:srgbClr val="14121E"/>
          </a:solidFill>
          <a:ln w="19050">
            <a:solidFill>
              <a:srgbClr val="00D4AA"/>
            </a:solidFill>
            <a:prstDash val="solid"/>
          </a:ln>
        </p:spPr>
      </p:sp>
      <p:sp>
        <p:nvSpPr>
          <p:cNvPr id="7" name="Text 5"/>
          <p:cNvSpPr/>
          <p:nvPr/>
        </p:nvSpPr>
        <p:spPr>
          <a:xfrm>
            <a:off x="960120" y="1920240"/>
            <a:ext cx="2926080" cy="457200"/>
          </a:xfrm>
          <a:prstGeom prst="rect">
            <a:avLst/>
          </a:prstGeom>
          <a:noFill/>
          <a:ln/>
        </p:spPr>
        <p:txBody>
          <a:bodyPr wrap="square" rtlCol="0" anchor="ctr"/>
          <a:lstStyle/>
          <a:p>
            <a:pPr indent="0" marL="0">
              <a:buNone/>
            </a:pPr>
            <a:r>
              <a:rPr lang="en-US" sz="1700" b="1" dirty="0">
                <a:solidFill>
                  <a:srgbClr val="00D4AA"/>
                </a:solidFill>
                <a:latin typeface="Trebuchet MS" pitchFamily="34" charset="0"/>
                <a:ea typeface="Trebuchet MS" pitchFamily="34" charset="-122"/>
                <a:cs typeface="Trebuchet MS" pitchFamily="34" charset="-120"/>
              </a:rPr>
              <a:t>FoodLine Express</a:t>
            </a:r>
            <a:endParaRPr lang="en-US" sz="1700" dirty="0"/>
          </a:p>
        </p:txBody>
      </p:sp>
      <p:sp>
        <p:nvSpPr>
          <p:cNvPr id="8" name="Shape 6"/>
          <p:cNvSpPr/>
          <p:nvPr/>
        </p:nvSpPr>
        <p:spPr>
          <a:xfrm>
            <a:off x="960120" y="2468880"/>
            <a:ext cx="2926080" cy="320040"/>
          </a:xfrm>
          <a:prstGeom prst="roundRect">
            <a:avLst>
              <a:gd name="adj" fmla="val 22857"/>
            </a:avLst>
          </a:prstGeom>
          <a:solidFill>
            <a:srgbClr val="142822"/>
          </a:solidFill>
          <a:ln w="12700">
            <a:solidFill>
              <a:srgbClr val="00D4AA"/>
            </a:solidFill>
            <a:prstDash val="solid"/>
          </a:ln>
        </p:spPr>
      </p:sp>
      <p:sp>
        <p:nvSpPr>
          <p:cNvPr id="9" name="Text 7"/>
          <p:cNvSpPr/>
          <p:nvPr/>
        </p:nvSpPr>
        <p:spPr>
          <a:xfrm>
            <a:off x="960120" y="2468880"/>
            <a:ext cx="2926080" cy="320040"/>
          </a:xfrm>
          <a:prstGeom prst="rect">
            <a:avLst/>
          </a:prstGeom>
          <a:noFill/>
          <a:ln/>
        </p:spPr>
        <p:txBody>
          <a:bodyPr wrap="square" rtlCol="0" anchor="ctr"/>
          <a:lstStyle/>
          <a:p>
            <a:pPr algn="ctr" indent="0" marL="0">
              <a:buNone/>
            </a:pPr>
            <a:r>
              <a:rPr lang="en-US" sz="950" b="1" dirty="0">
                <a:solidFill>
                  <a:srgbClr val="00D4AA"/>
                </a:solidFill>
                <a:latin typeface="Arial" pitchFamily="34" charset="0"/>
                <a:ea typeface="Arial" pitchFamily="34" charset="-122"/>
                <a:cs typeface="Arial" pitchFamily="34" charset="-120"/>
              </a:rPr>
              <a:t>CAMPUS WINNER</a:t>
            </a:r>
            <a:endParaRPr lang="en-US" sz="950" dirty="0"/>
          </a:p>
        </p:txBody>
      </p:sp>
      <p:sp>
        <p:nvSpPr>
          <p:cNvPr id="10" name="Text 8"/>
          <p:cNvSpPr/>
          <p:nvPr/>
        </p:nvSpPr>
        <p:spPr>
          <a:xfrm>
            <a:off x="960120" y="301752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30-Sec Pickup (Guaranteed)</a:t>
            </a:r>
            <a:endParaRPr lang="en-US" sz="1200" dirty="0"/>
          </a:p>
        </p:txBody>
      </p:sp>
      <p:sp>
        <p:nvSpPr>
          <p:cNvPr id="11" name="Text 9"/>
          <p:cNvSpPr/>
          <p:nvPr/>
        </p:nvSpPr>
        <p:spPr>
          <a:xfrm>
            <a:off x="960120" y="361188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₹0 Delivery • ₹6 VIP Pass</a:t>
            </a:r>
            <a:endParaRPr lang="en-US" sz="1200" dirty="0"/>
          </a:p>
        </p:txBody>
      </p:sp>
      <p:sp>
        <p:nvSpPr>
          <p:cNvPr id="12" name="Text 10"/>
          <p:cNvSpPr/>
          <p:nvPr/>
        </p:nvSpPr>
        <p:spPr>
          <a:xfrm>
            <a:off x="960120" y="420624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Inside Quad Counter Handover</a:t>
            </a:r>
            <a:endParaRPr lang="en-US" sz="1200" dirty="0"/>
          </a:p>
        </p:txBody>
      </p:sp>
      <p:sp>
        <p:nvSpPr>
          <p:cNvPr id="13" name="Text 11"/>
          <p:cNvSpPr/>
          <p:nvPr/>
        </p:nvSpPr>
        <p:spPr>
          <a:xfrm>
            <a:off x="960120" y="480060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Synced to 15-Min Break Slots</a:t>
            </a:r>
            <a:endParaRPr lang="en-US" sz="1200" dirty="0"/>
          </a:p>
        </p:txBody>
      </p:sp>
      <p:sp>
        <p:nvSpPr>
          <p:cNvPr id="14" name="Text 12"/>
          <p:cNvSpPr/>
          <p:nvPr/>
        </p:nvSpPr>
        <p:spPr>
          <a:xfrm>
            <a:off x="960120" y="539496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100% Anti-Fraud 12-Digit UTR</a:t>
            </a:r>
            <a:endParaRPr lang="en-US" sz="1200" dirty="0"/>
          </a:p>
        </p:txBody>
      </p:sp>
      <p:sp>
        <p:nvSpPr>
          <p:cNvPr id="15" name="Shape 13"/>
          <p:cNvSpPr/>
          <p:nvPr/>
        </p:nvSpPr>
        <p:spPr>
          <a:xfrm>
            <a:off x="4389120" y="1645920"/>
            <a:ext cx="3383280" cy="4389120"/>
          </a:xfrm>
          <a:prstGeom prst="roundRect">
            <a:avLst>
              <a:gd name="adj" fmla="val 5405"/>
            </a:avLst>
          </a:prstGeom>
          <a:solidFill>
            <a:srgbClr val="14121E"/>
          </a:solidFill>
          <a:ln w="19050">
            <a:solidFill>
              <a:srgbClr val="4A1E28"/>
            </a:solidFill>
            <a:prstDash val="solid"/>
          </a:ln>
        </p:spPr>
      </p:sp>
      <p:sp>
        <p:nvSpPr>
          <p:cNvPr id="16" name="Text 14"/>
          <p:cNvSpPr/>
          <p:nvPr/>
        </p:nvSpPr>
        <p:spPr>
          <a:xfrm>
            <a:off x="4617720" y="1920240"/>
            <a:ext cx="2926080" cy="457200"/>
          </a:xfrm>
          <a:prstGeom prst="rect">
            <a:avLst/>
          </a:prstGeom>
          <a:noFill/>
          <a:ln/>
        </p:spPr>
        <p:txBody>
          <a:bodyPr wrap="square"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Swiggy &amp; Zomato</a:t>
            </a:r>
            <a:endParaRPr lang="en-US" sz="1700" dirty="0"/>
          </a:p>
        </p:txBody>
      </p:sp>
      <p:sp>
        <p:nvSpPr>
          <p:cNvPr id="17" name="Shape 15"/>
          <p:cNvSpPr/>
          <p:nvPr/>
        </p:nvSpPr>
        <p:spPr>
          <a:xfrm>
            <a:off x="4617720" y="2468880"/>
            <a:ext cx="2926080" cy="320040"/>
          </a:xfrm>
          <a:prstGeom prst="roundRect">
            <a:avLst>
              <a:gd name="adj" fmla="val 22857"/>
            </a:avLst>
          </a:prstGeom>
          <a:solidFill>
            <a:srgbClr val="261418"/>
          </a:solidFill>
          <a:ln w="12700">
            <a:solidFill>
              <a:srgbClr val="FF3366"/>
            </a:solidFill>
            <a:prstDash val="solid"/>
          </a:ln>
        </p:spPr>
      </p:sp>
      <p:sp>
        <p:nvSpPr>
          <p:cNvPr id="18" name="Text 16"/>
          <p:cNvSpPr/>
          <p:nvPr/>
        </p:nvSpPr>
        <p:spPr>
          <a:xfrm>
            <a:off x="4617720" y="2468880"/>
            <a:ext cx="2926080" cy="320040"/>
          </a:xfrm>
          <a:prstGeom prst="rect">
            <a:avLst/>
          </a:prstGeom>
          <a:noFill/>
          <a:ln/>
        </p:spPr>
        <p:txBody>
          <a:bodyPr wrap="square" rtlCol="0" anchor="ctr"/>
          <a:lstStyle/>
          <a:p>
            <a:pPr algn="ctr" indent="0" marL="0">
              <a:buNone/>
            </a:pPr>
            <a:r>
              <a:rPr lang="en-US" sz="950" b="1" dirty="0">
                <a:solidFill>
                  <a:srgbClr val="FF3366"/>
                </a:solidFill>
                <a:latin typeface="Arial" pitchFamily="34" charset="0"/>
                <a:ea typeface="Arial" pitchFamily="34" charset="-122"/>
                <a:cs typeface="Arial" pitchFamily="34" charset="-120"/>
              </a:rPr>
              <a:t>OFF-CAMPUS FRICTION</a:t>
            </a:r>
            <a:endParaRPr lang="en-US" sz="950" dirty="0"/>
          </a:p>
        </p:txBody>
      </p:sp>
      <p:sp>
        <p:nvSpPr>
          <p:cNvPr id="19" name="Text 17"/>
          <p:cNvSpPr/>
          <p:nvPr/>
        </p:nvSpPr>
        <p:spPr>
          <a:xfrm>
            <a:off x="4617720" y="301752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35-50 Min Delays (Misses recess)</a:t>
            </a:r>
            <a:endParaRPr lang="en-US" sz="1200" dirty="0"/>
          </a:p>
        </p:txBody>
      </p:sp>
      <p:sp>
        <p:nvSpPr>
          <p:cNvPr id="20" name="Text 18"/>
          <p:cNvSpPr/>
          <p:nvPr/>
        </p:nvSpPr>
        <p:spPr>
          <a:xfrm>
            <a:off x="4617720" y="361188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₹40-₹65 Delivery &amp; Surge Fees</a:t>
            </a:r>
            <a:endParaRPr lang="en-US" sz="1200" dirty="0"/>
          </a:p>
        </p:txBody>
      </p:sp>
      <p:sp>
        <p:nvSpPr>
          <p:cNvPr id="21" name="Text 19"/>
          <p:cNvSpPr/>
          <p:nvPr/>
        </p:nvSpPr>
        <p:spPr>
          <a:xfrm>
            <a:off x="4617720" y="420624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Barred at college security gate</a:t>
            </a:r>
            <a:endParaRPr lang="en-US" sz="1200" dirty="0"/>
          </a:p>
        </p:txBody>
      </p:sp>
      <p:sp>
        <p:nvSpPr>
          <p:cNvPr id="22" name="Text 20"/>
          <p:cNvSpPr/>
          <p:nvPr/>
        </p:nvSpPr>
        <p:spPr>
          <a:xfrm>
            <a:off x="4617720" y="480060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Zero break-time scheduling</a:t>
            </a:r>
            <a:endParaRPr lang="en-US" sz="1200" dirty="0"/>
          </a:p>
        </p:txBody>
      </p:sp>
      <p:sp>
        <p:nvSpPr>
          <p:cNvPr id="23" name="Text 21"/>
          <p:cNvSpPr/>
          <p:nvPr/>
        </p:nvSpPr>
        <p:spPr>
          <a:xfrm>
            <a:off x="4617720" y="539496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High minimum order fees</a:t>
            </a:r>
            <a:endParaRPr lang="en-US" sz="1200" dirty="0"/>
          </a:p>
        </p:txBody>
      </p:sp>
      <p:sp>
        <p:nvSpPr>
          <p:cNvPr id="24" name="Shape 22"/>
          <p:cNvSpPr/>
          <p:nvPr/>
        </p:nvSpPr>
        <p:spPr>
          <a:xfrm>
            <a:off x="8046720" y="1645920"/>
            <a:ext cx="3383280" cy="4389120"/>
          </a:xfrm>
          <a:prstGeom prst="roundRect">
            <a:avLst>
              <a:gd name="adj" fmla="val 5405"/>
            </a:avLst>
          </a:prstGeom>
          <a:solidFill>
            <a:srgbClr val="14121E"/>
          </a:solidFill>
          <a:ln w="19050">
            <a:solidFill>
              <a:srgbClr val="4A3B1E"/>
            </a:solidFill>
            <a:prstDash val="solid"/>
          </a:ln>
        </p:spPr>
      </p:sp>
      <p:sp>
        <p:nvSpPr>
          <p:cNvPr id="25" name="Text 23"/>
          <p:cNvSpPr/>
          <p:nvPr/>
        </p:nvSpPr>
        <p:spPr>
          <a:xfrm>
            <a:off x="8275320" y="1920240"/>
            <a:ext cx="2926080" cy="457200"/>
          </a:xfrm>
          <a:prstGeom prst="rect">
            <a:avLst/>
          </a:prstGeom>
          <a:noFill/>
          <a:ln/>
        </p:spPr>
        <p:txBody>
          <a:bodyPr wrap="square"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Traditional Canteen</a:t>
            </a:r>
            <a:endParaRPr lang="en-US" sz="1700" dirty="0"/>
          </a:p>
        </p:txBody>
      </p:sp>
      <p:sp>
        <p:nvSpPr>
          <p:cNvPr id="26" name="Shape 24"/>
          <p:cNvSpPr/>
          <p:nvPr/>
        </p:nvSpPr>
        <p:spPr>
          <a:xfrm>
            <a:off x="8275320" y="2468880"/>
            <a:ext cx="2926080" cy="320040"/>
          </a:xfrm>
          <a:prstGeom prst="roundRect">
            <a:avLst>
              <a:gd name="adj" fmla="val 22857"/>
            </a:avLst>
          </a:prstGeom>
          <a:solidFill>
            <a:srgbClr val="262014"/>
          </a:solidFill>
          <a:ln w="12700">
            <a:solidFill>
              <a:srgbClr val="FFA834"/>
            </a:solidFill>
            <a:prstDash val="solid"/>
          </a:ln>
        </p:spPr>
      </p:sp>
      <p:sp>
        <p:nvSpPr>
          <p:cNvPr id="27" name="Text 25"/>
          <p:cNvSpPr/>
          <p:nvPr/>
        </p:nvSpPr>
        <p:spPr>
          <a:xfrm>
            <a:off x="8275320" y="2468880"/>
            <a:ext cx="2926080" cy="320040"/>
          </a:xfrm>
          <a:prstGeom prst="rect">
            <a:avLst/>
          </a:prstGeom>
          <a:noFill/>
          <a:ln/>
        </p:spPr>
        <p:txBody>
          <a:bodyPr wrap="square" rtlCol="0" anchor="ctr"/>
          <a:lstStyle/>
          <a:p>
            <a:pPr algn="ctr" indent="0" marL="0">
              <a:buNone/>
            </a:pPr>
            <a:r>
              <a:rPr lang="en-US" sz="950" b="1" dirty="0">
                <a:solidFill>
                  <a:srgbClr val="FFA834"/>
                </a:solidFill>
                <a:latin typeface="Arial" pitchFamily="34" charset="0"/>
                <a:ea typeface="Arial" pitchFamily="34" charset="-122"/>
                <a:cs typeface="Arial" pitchFamily="34" charset="-120"/>
              </a:rPr>
              <a:t>DAILY BOTTLENECK</a:t>
            </a:r>
            <a:endParaRPr lang="en-US" sz="950" dirty="0"/>
          </a:p>
        </p:txBody>
      </p:sp>
      <p:sp>
        <p:nvSpPr>
          <p:cNvPr id="28" name="Text 26"/>
          <p:cNvSpPr/>
          <p:nvPr/>
        </p:nvSpPr>
        <p:spPr>
          <a:xfrm>
            <a:off x="8275320" y="301752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12-15 Min push &amp; shove line</a:t>
            </a:r>
            <a:endParaRPr lang="en-US" sz="1200" dirty="0"/>
          </a:p>
        </p:txBody>
      </p:sp>
      <p:sp>
        <p:nvSpPr>
          <p:cNvPr id="29" name="Text 27"/>
          <p:cNvSpPr/>
          <p:nvPr/>
        </p:nvSpPr>
        <p:spPr>
          <a:xfrm>
            <a:off x="8275320" y="361188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Hidden cost: 80% break lost</a:t>
            </a:r>
            <a:endParaRPr lang="en-US" sz="1200" dirty="0"/>
          </a:p>
        </p:txBody>
      </p:sp>
      <p:sp>
        <p:nvSpPr>
          <p:cNvPr id="30" name="Text 28"/>
          <p:cNvSpPr/>
          <p:nvPr/>
        </p:nvSpPr>
        <p:spPr>
          <a:xfrm>
            <a:off x="8275320" y="420624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Trapped in 200-student mob</a:t>
            </a:r>
            <a:endParaRPr lang="en-US" sz="1200" dirty="0"/>
          </a:p>
        </p:txBody>
      </p:sp>
      <p:sp>
        <p:nvSpPr>
          <p:cNvPr id="31" name="Text 29"/>
          <p:cNvSpPr/>
          <p:nvPr/>
        </p:nvSpPr>
        <p:spPr>
          <a:xfrm>
            <a:off x="8275320" y="480060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Kitchen crashes during rush</a:t>
            </a:r>
            <a:endParaRPr lang="en-US" sz="1200" dirty="0"/>
          </a:p>
        </p:txBody>
      </p:sp>
      <p:sp>
        <p:nvSpPr>
          <p:cNvPr id="32" name="Text 30"/>
          <p:cNvSpPr/>
          <p:nvPr/>
        </p:nvSpPr>
        <p:spPr>
          <a:xfrm>
            <a:off x="8275320" y="5394960"/>
            <a:ext cx="2926080" cy="502920"/>
          </a:xfrm>
          <a:prstGeom prst="rect">
            <a:avLst/>
          </a:prstGeom>
          <a:noFill/>
          <a:ln/>
        </p:spPr>
        <p:txBody>
          <a:bodyPr wrap="square" rtlCol="0" anchor="ctr"/>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 Frequent 'samosa khatam'</a:t>
            </a:r>
            <a:endParaRPr lang="en-US" sz="1200" dirty="0"/>
          </a:p>
        </p:txBody>
      </p:sp>
      <p:sp>
        <p:nvSpPr>
          <p:cNvPr id="33" name="Text 31"/>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34" name="Text 32"/>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FF6B2C"/>
                </a:solidFill>
                <a:latin typeface="Arial" pitchFamily="34" charset="0"/>
                <a:ea typeface="Arial" pitchFamily="34" charset="-122"/>
                <a:cs typeface="Arial" pitchFamily="34" charset="-120"/>
              </a:rPr>
              <a:t>11 · STUDENT ACCESS</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Student Login &amp; Instant Express Pre-Ordering</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12 / 15</a:t>
            </a:r>
            <a:endParaRPr lang="en-US" sz="1000" dirty="0"/>
          </a:p>
        </p:txBody>
      </p:sp>
      <p:sp>
        <p:nvSpPr>
          <p:cNvPr id="6" name="Shape 4"/>
          <p:cNvSpPr/>
          <p:nvPr/>
        </p:nvSpPr>
        <p:spPr>
          <a:xfrm>
            <a:off x="731520" y="1645920"/>
            <a:ext cx="2560320" cy="4389120"/>
          </a:xfrm>
          <a:prstGeom prst="roundRect">
            <a:avLst>
              <a:gd name="adj" fmla="val 7143"/>
            </a:avLst>
          </a:prstGeom>
          <a:solidFill>
            <a:srgbClr val="14121E"/>
          </a:solidFill>
          <a:ln w="19050">
            <a:solidFill>
              <a:srgbClr val="FF6B2C"/>
            </a:solidFill>
            <a:prstDash val="solid"/>
          </a:ln>
        </p:spPr>
      </p:sp>
      <p:sp>
        <p:nvSpPr>
          <p:cNvPr id="7" name="Text 5"/>
          <p:cNvSpPr/>
          <p:nvPr/>
        </p:nvSpPr>
        <p:spPr>
          <a:xfrm>
            <a:off x="10058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8" name="Text 6"/>
          <p:cNvSpPr/>
          <p:nvPr/>
        </p:nvSpPr>
        <p:spPr>
          <a:xfrm>
            <a:off x="1005840" y="2560320"/>
            <a:ext cx="2011680" cy="640080"/>
          </a:xfrm>
          <a:prstGeom prst="rect">
            <a:avLst/>
          </a:prstGeom>
          <a:noFill/>
          <a:ln/>
        </p:spPr>
        <p:txBody>
          <a:bodyPr wrap="square"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1-Tap PRN Auto-Resolution</a:t>
            </a:r>
            <a:endParaRPr lang="en-US" sz="1600" dirty="0"/>
          </a:p>
        </p:txBody>
      </p:sp>
      <p:sp>
        <p:nvSpPr>
          <p:cNvPr id="9" name="Text 7"/>
          <p:cNvSpPr/>
          <p:nvPr/>
        </p:nvSpPr>
        <p:spPr>
          <a:xfrm>
            <a:off x="1005840" y="3291840"/>
            <a:ext cx="2011680" cy="164592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Students log in instantly with their Sanjivani PRN or Google Auth. System auto-resolves branch, semester, and profile in 200ms.</a:t>
            </a:r>
            <a:endParaRPr lang="en-US" sz="1200" dirty="0"/>
          </a:p>
        </p:txBody>
      </p:sp>
      <p:sp>
        <p:nvSpPr>
          <p:cNvPr id="10" name="Shape 8"/>
          <p:cNvSpPr/>
          <p:nvPr/>
        </p:nvSpPr>
        <p:spPr>
          <a:xfrm>
            <a:off x="1005840" y="5303520"/>
            <a:ext cx="2011680" cy="411480"/>
          </a:xfrm>
          <a:prstGeom prst="roundRect">
            <a:avLst>
              <a:gd name="adj" fmla="val 22222"/>
            </a:avLst>
          </a:prstGeom>
          <a:solidFill>
            <a:srgbClr val="2D1C16"/>
          </a:solidFill>
          <a:ln w="12700">
            <a:solidFill>
              <a:srgbClr val="FF6B2C"/>
            </a:solidFill>
            <a:prstDash val="solid"/>
          </a:ln>
        </p:spPr>
      </p:sp>
      <p:sp>
        <p:nvSpPr>
          <p:cNvPr id="11" name="Text 9"/>
          <p:cNvSpPr/>
          <p:nvPr/>
        </p:nvSpPr>
        <p:spPr>
          <a:xfrm>
            <a:off x="1005840" y="5303520"/>
            <a:ext cx="2011680" cy="411480"/>
          </a:xfrm>
          <a:prstGeom prst="rect">
            <a:avLst/>
          </a:prstGeom>
          <a:noFill/>
          <a:ln/>
        </p:spPr>
        <p:txBody>
          <a:bodyPr wrap="square" rtlCol="0" anchor="ctr"/>
          <a:lstStyle/>
          <a:p>
            <a:pPr algn="ctr" indent="0" marL="0">
              <a:buNone/>
            </a:pPr>
            <a:r>
              <a:rPr lang="en-US" sz="950" b="1" dirty="0">
                <a:solidFill>
                  <a:srgbClr val="FF6B2C"/>
                </a:solidFill>
                <a:latin typeface="Arial" pitchFamily="34" charset="0"/>
                <a:ea typeface="Arial" pitchFamily="34" charset="-122"/>
                <a:cs typeface="Arial" pitchFamily="34" charset="-120"/>
              </a:rPr>
              <a:t>INSTANT CAMPUS AUTH</a:t>
            </a:r>
            <a:endParaRPr lang="en-US" sz="950" dirty="0"/>
          </a:p>
        </p:txBody>
      </p:sp>
      <p:sp>
        <p:nvSpPr>
          <p:cNvPr id="12" name="Shape 10"/>
          <p:cNvSpPr/>
          <p:nvPr/>
        </p:nvSpPr>
        <p:spPr>
          <a:xfrm>
            <a:off x="3474720" y="1645920"/>
            <a:ext cx="2560320" cy="4389120"/>
          </a:xfrm>
          <a:prstGeom prst="roundRect">
            <a:avLst>
              <a:gd name="adj" fmla="val 7143"/>
            </a:avLst>
          </a:prstGeom>
          <a:solidFill>
            <a:srgbClr val="14121E"/>
          </a:solidFill>
          <a:ln w="19050">
            <a:solidFill>
              <a:srgbClr val="00D4AA"/>
            </a:solidFill>
            <a:prstDash val="solid"/>
          </a:ln>
        </p:spPr>
      </p:sp>
      <p:sp>
        <p:nvSpPr>
          <p:cNvPr id="13" name="Text 11"/>
          <p:cNvSpPr/>
          <p:nvPr/>
        </p:nvSpPr>
        <p:spPr>
          <a:xfrm>
            <a:off x="37490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14" name="Text 12"/>
          <p:cNvSpPr/>
          <p:nvPr/>
        </p:nvSpPr>
        <p:spPr>
          <a:xfrm>
            <a:off x="3749040" y="2560320"/>
            <a:ext cx="2011680" cy="640080"/>
          </a:xfrm>
          <a:prstGeom prst="rect">
            <a:avLst/>
          </a:prstGeom>
          <a:noFill/>
          <a:ln/>
        </p:spPr>
        <p:txBody>
          <a:bodyPr wrap="square"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Direct Cafe @7 Express Lane</a:t>
            </a:r>
            <a:endParaRPr lang="en-US" sz="1600" dirty="0"/>
          </a:p>
        </p:txBody>
      </p:sp>
      <p:sp>
        <p:nvSpPr>
          <p:cNvPr id="15" name="Text 13"/>
          <p:cNvSpPr/>
          <p:nvPr/>
        </p:nvSpPr>
        <p:spPr>
          <a:xfrm>
            <a:off x="3749040" y="3291840"/>
            <a:ext cx="2011680" cy="164592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1-tap entry into Cafe @7's full 44-dish menu. Intelligent break-time slot recommendation prevents queuing during recess peak.</a:t>
            </a:r>
            <a:endParaRPr lang="en-US" sz="1200" dirty="0"/>
          </a:p>
        </p:txBody>
      </p:sp>
      <p:sp>
        <p:nvSpPr>
          <p:cNvPr id="16" name="Shape 14"/>
          <p:cNvSpPr/>
          <p:nvPr/>
        </p:nvSpPr>
        <p:spPr>
          <a:xfrm>
            <a:off x="3749040" y="5303520"/>
            <a:ext cx="2011680" cy="411480"/>
          </a:xfrm>
          <a:prstGeom prst="roundRect">
            <a:avLst>
              <a:gd name="adj" fmla="val 22222"/>
            </a:avLst>
          </a:prstGeom>
          <a:solidFill>
            <a:srgbClr val="142822"/>
          </a:solidFill>
          <a:ln w="12700">
            <a:solidFill>
              <a:srgbClr val="00D4AA"/>
            </a:solidFill>
            <a:prstDash val="solid"/>
          </a:ln>
        </p:spPr>
      </p:sp>
      <p:sp>
        <p:nvSpPr>
          <p:cNvPr id="17" name="Text 15"/>
          <p:cNvSpPr/>
          <p:nvPr/>
        </p:nvSpPr>
        <p:spPr>
          <a:xfrm>
            <a:off x="3749040" y="5303520"/>
            <a:ext cx="2011680" cy="411480"/>
          </a:xfrm>
          <a:prstGeom prst="rect">
            <a:avLst/>
          </a:prstGeom>
          <a:noFill/>
          <a:ln/>
        </p:spPr>
        <p:txBody>
          <a:bodyPr wrap="square" rtlCol="0" anchor="ctr"/>
          <a:lstStyle/>
          <a:p>
            <a:pPr algn="ctr" indent="0" marL="0">
              <a:buNone/>
            </a:pPr>
            <a:r>
              <a:rPr lang="en-US" sz="950" b="1" dirty="0">
                <a:solidFill>
                  <a:srgbClr val="00D4AA"/>
                </a:solidFill>
                <a:latin typeface="Arial" pitchFamily="34" charset="0"/>
                <a:ea typeface="Arial" pitchFamily="34" charset="-122"/>
                <a:cs typeface="Arial" pitchFamily="34" charset="-120"/>
              </a:rPr>
              <a:t>PRE-ORDER FAST-PASS</a:t>
            </a:r>
            <a:endParaRPr lang="en-US" sz="950" dirty="0"/>
          </a:p>
        </p:txBody>
      </p:sp>
      <p:sp>
        <p:nvSpPr>
          <p:cNvPr id="18" name="Shape 16"/>
          <p:cNvSpPr/>
          <p:nvPr/>
        </p:nvSpPr>
        <p:spPr>
          <a:xfrm>
            <a:off x="6217920" y="1645920"/>
            <a:ext cx="2560320" cy="4389120"/>
          </a:xfrm>
          <a:prstGeom prst="roundRect">
            <a:avLst>
              <a:gd name="adj" fmla="val 7143"/>
            </a:avLst>
          </a:prstGeom>
          <a:solidFill>
            <a:srgbClr val="14121E"/>
          </a:solidFill>
          <a:ln w="19050">
            <a:solidFill>
              <a:srgbClr val="2E2A42"/>
            </a:solidFill>
            <a:prstDash val="solid"/>
          </a:ln>
        </p:spPr>
      </p:sp>
      <p:sp>
        <p:nvSpPr>
          <p:cNvPr id="19" name="Text 17"/>
          <p:cNvSpPr/>
          <p:nvPr/>
        </p:nvSpPr>
        <p:spPr>
          <a:xfrm>
            <a:off x="64922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20" name="Text 18"/>
          <p:cNvSpPr/>
          <p:nvPr/>
        </p:nvSpPr>
        <p:spPr>
          <a:xfrm>
            <a:off x="6492240" y="2560320"/>
            <a:ext cx="2011680" cy="640080"/>
          </a:xfrm>
          <a:prstGeom prst="rect">
            <a:avLst/>
          </a:prstGeom>
          <a:noFill/>
          <a:ln/>
        </p:spPr>
        <p:txBody>
          <a:bodyPr wrap="square"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Google Sheets Master Sync</a:t>
            </a:r>
            <a:endParaRPr lang="en-US" sz="1600" dirty="0"/>
          </a:p>
        </p:txBody>
      </p:sp>
      <p:sp>
        <p:nvSpPr>
          <p:cNvPr id="21" name="Text 19"/>
          <p:cNvSpPr/>
          <p:nvPr/>
        </p:nvSpPr>
        <p:spPr>
          <a:xfrm>
            <a:off x="6492240" y="3291840"/>
            <a:ext cx="2011680" cy="164592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Direct integration with university directory spreadsheets. Zero rogue accounts, automatic verification, and live admin sync.</a:t>
            </a:r>
            <a:endParaRPr lang="en-US" sz="1200" dirty="0"/>
          </a:p>
        </p:txBody>
      </p:sp>
      <p:sp>
        <p:nvSpPr>
          <p:cNvPr id="22" name="Shape 20"/>
          <p:cNvSpPr/>
          <p:nvPr/>
        </p:nvSpPr>
        <p:spPr>
          <a:xfrm>
            <a:off x="6492240" y="5303520"/>
            <a:ext cx="2011680" cy="411480"/>
          </a:xfrm>
          <a:prstGeom prst="roundRect">
            <a:avLst>
              <a:gd name="adj" fmla="val 22222"/>
            </a:avLst>
          </a:prstGeom>
          <a:solidFill>
            <a:srgbClr val="181525"/>
          </a:solidFill>
          <a:ln w="12700">
            <a:solidFill>
              <a:srgbClr val="423E56"/>
            </a:solidFill>
            <a:prstDash val="solid"/>
          </a:ln>
        </p:spPr>
      </p:sp>
      <p:sp>
        <p:nvSpPr>
          <p:cNvPr id="23" name="Text 21"/>
          <p:cNvSpPr/>
          <p:nvPr/>
        </p:nvSpPr>
        <p:spPr>
          <a:xfrm>
            <a:off x="6492240" y="5303520"/>
            <a:ext cx="2011680" cy="41148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ZERO FRICTION SETUP</a:t>
            </a:r>
            <a:endParaRPr lang="en-US" sz="950" dirty="0"/>
          </a:p>
        </p:txBody>
      </p:sp>
      <p:sp>
        <p:nvSpPr>
          <p:cNvPr id="24" name="Shape 22"/>
          <p:cNvSpPr/>
          <p:nvPr/>
        </p:nvSpPr>
        <p:spPr>
          <a:xfrm>
            <a:off x="8961120" y="1645920"/>
            <a:ext cx="2560320" cy="4389120"/>
          </a:xfrm>
          <a:prstGeom prst="roundRect">
            <a:avLst>
              <a:gd name="adj" fmla="val 7143"/>
            </a:avLst>
          </a:prstGeom>
          <a:solidFill>
            <a:srgbClr val="14121E"/>
          </a:solidFill>
          <a:ln w="19050">
            <a:solidFill>
              <a:srgbClr val="2E2A42"/>
            </a:solidFill>
            <a:prstDash val="solid"/>
          </a:ln>
        </p:spPr>
      </p:sp>
      <p:sp>
        <p:nvSpPr>
          <p:cNvPr id="25" name="Text 23"/>
          <p:cNvSpPr/>
          <p:nvPr/>
        </p:nvSpPr>
        <p:spPr>
          <a:xfrm>
            <a:off x="9235440" y="1920240"/>
            <a:ext cx="914400" cy="548640"/>
          </a:xfrm>
          <a:prstGeom prst="rect">
            <a:avLst/>
          </a:prstGeom>
          <a:noFill/>
          <a:ln/>
        </p:spPr>
        <p:txBody>
          <a:bodyPr wrap="square" rtlCol="0" anchor="ctr"/>
          <a:lstStyle/>
          <a:p>
            <a:pPr indent="0" marL="0">
              <a:buNone/>
            </a:pPr>
            <a:r>
              <a:rPr lang="en-US" sz="3200" dirty="0">
                <a:solidFill>
                  <a:srgbClr val="000000"/>
                </a:solidFill>
              </a:rPr>
              <a:t>📦</a:t>
            </a:r>
            <a:endParaRPr lang="en-US" sz="3200" dirty="0"/>
          </a:p>
        </p:txBody>
      </p:sp>
      <p:sp>
        <p:nvSpPr>
          <p:cNvPr id="26" name="Text 24"/>
          <p:cNvSpPr/>
          <p:nvPr/>
        </p:nvSpPr>
        <p:spPr>
          <a:xfrm>
            <a:off x="9235440" y="2560320"/>
            <a:ext cx="2011680" cy="640080"/>
          </a:xfrm>
          <a:prstGeom prst="rect">
            <a:avLst/>
          </a:prstGeom>
          <a:noFill/>
          <a:ln/>
        </p:spPr>
        <p:txBody>
          <a:bodyPr wrap="square"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Live Token Tray &amp; 1-Tap Reorder</a:t>
            </a:r>
            <a:endParaRPr lang="en-US" sz="1600" dirty="0"/>
          </a:p>
        </p:txBody>
      </p:sp>
      <p:sp>
        <p:nvSpPr>
          <p:cNvPr id="27" name="Text 25"/>
          <p:cNvSpPr/>
          <p:nvPr/>
        </p:nvSpPr>
        <p:spPr>
          <a:xfrm>
            <a:off x="9235440" y="3291840"/>
            <a:ext cx="2011680" cy="164592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Track kitchen prep in real-time, view optical QR passes with 4-digit OTP, and re-order favorite daily meal combos with one tap.</a:t>
            </a:r>
            <a:endParaRPr lang="en-US" sz="1200" dirty="0"/>
          </a:p>
        </p:txBody>
      </p:sp>
      <p:sp>
        <p:nvSpPr>
          <p:cNvPr id="28" name="Shape 26"/>
          <p:cNvSpPr/>
          <p:nvPr/>
        </p:nvSpPr>
        <p:spPr>
          <a:xfrm>
            <a:off x="9235440" y="5303520"/>
            <a:ext cx="2011680" cy="411480"/>
          </a:xfrm>
          <a:prstGeom prst="roundRect">
            <a:avLst>
              <a:gd name="adj" fmla="val 22222"/>
            </a:avLst>
          </a:prstGeom>
          <a:solidFill>
            <a:srgbClr val="181525"/>
          </a:solidFill>
          <a:ln w="12700">
            <a:solidFill>
              <a:srgbClr val="423E56"/>
            </a:solidFill>
            <a:prstDash val="solid"/>
          </a:ln>
        </p:spPr>
      </p:sp>
      <p:sp>
        <p:nvSpPr>
          <p:cNvPr id="29" name="Text 27"/>
          <p:cNvSpPr/>
          <p:nvPr/>
        </p:nvSpPr>
        <p:spPr>
          <a:xfrm>
            <a:off x="9235440" y="5303520"/>
            <a:ext cx="2011680" cy="411480"/>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SMART STUDENT TRAY</a:t>
            </a:r>
            <a:endParaRPr lang="en-US" sz="950" dirty="0"/>
          </a:p>
        </p:txBody>
      </p:sp>
      <p:sp>
        <p:nvSpPr>
          <p:cNvPr id="30" name="Text 28"/>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31" name="Text 29"/>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D4AF37"/>
                </a:solidFill>
                <a:latin typeface="Arial" pitchFamily="34" charset="0"/>
                <a:ea typeface="Arial" pitchFamily="34" charset="-122"/>
                <a:cs typeface="Arial" pitchFamily="34" charset="-120"/>
              </a:rPr>
              <a:t>12 · PERSONALIZATION</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Day/Night Modes &amp; Royal Ivory-Gold Luxury Theme 👑</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13 / 15</a:t>
            </a:r>
            <a:endParaRPr lang="en-US" sz="1000" dirty="0"/>
          </a:p>
        </p:txBody>
      </p:sp>
      <p:sp>
        <p:nvSpPr>
          <p:cNvPr id="6" name="Shape 4"/>
          <p:cNvSpPr/>
          <p:nvPr/>
        </p:nvSpPr>
        <p:spPr>
          <a:xfrm>
            <a:off x="731520" y="1645920"/>
            <a:ext cx="2560320" cy="4389120"/>
          </a:xfrm>
          <a:prstGeom prst="roundRect">
            <a:avLst>
              <a:gd name="adj" fmla="val 7143"/>
            </a:avLst>
          </a:prstGeom>
          <a:solidFill>
            <a:srgbClr val="14121E"/>
          </a:solidFill>
          <a:ln w="19050">
            <a:solidFill>
              <a:srgbClr val="D4AF37"/>
            </a:solidFill>
            <a:prstDash val="solid"/>
          </a:ln>
        </p:spPr>
      </p:sp>
      <p:sp>
        <p:nvSpPr>
          <p:cNvPr id="7" name="Text 5"/>
          <p:cNvSpPr/>
          <p:nvPr/>
        </p:nvSpPr>
        <p:spPr>
          <a:xfrm>
            <a:off x="1005840" y="2011680"/>
            <a:ext cx="2011680" cy="731520"/>
          </a:xfrm>
          <a:prstGeom prst="rect">
            <a:avLst/>
          </a:prstGeom>
          <a:noFill/>
          <a:ln/>
        </p:spPr>
        <p:txBody>
          <a:bodyPr wrap="square" rtlCol="0" anchor="ctr"/>
          <a:lstStyle/>
          <a:p>
            <a:pPr indent="0" marL="0">
              <a:buNone/>
            </a:pPr>
            <a:r>
              <a:rPr lang="en-US" sz="1600" b="1" dirty="0">
                <a:solidFill>
                  <a:srgbClr val="D4AF37"/>
                </a:solidFill>
                <a:latin typeface="Trebuchet MS" pitchFamily="34" charset="0"/>
                <a:ea typeface="Trebuchet MS" pitchFamily="34" charset="-122"/>
                <a:cs typeface="Trebuchet MS" pitchFamily="34" charset="-120"/>
              </a:rPr>
              <a:t>Royal Ivory &amp; Gold 👑</a:t>
            </a:r>
            <a:endParaRPr lang="en-US" sz="1600" dirty="0"/>
          </a:p>
        </p:txBody>
      </p:sp>
      <p:sp>
        <p:nvSpPr>
          <p:cNvPr id="8" name="Text 6"/>
          <p:cNvSpPr/>
          <p:nvPr/>
        </p:nvSpPr>
        <p:spPr>
          <a:xfrm>
            <a:off x="1005840" y="2926080"/>
            <a:ext cx="2011680" cy="201168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Porcelain ivory canvas paired with imperial gold and champagne accents for executive presentations.</a:t>
            </a:r>
            <a:endParaRPr lang="en-US" sz="1200" dirty="0"/>
          </a:p>
        </p:txBody>
      </p:sp>
      <p:sp>
        <p:nvSpPr>
          <p:cNvPr id="9" name="Shape 7"/>
          <p:cNvSpPr/>
          <p:nvPr/>
        </p:nvSpPr>
        <p:spPr>
          <a:xfrm>
            <a:off x="1005840" y="5303520"/>
            <a:ext cx="2011680" cy="411480"/>
          </a:xfrm>
          <a:prstGeom prst="roundRect">
            <a:avLst>
              <a:gd name="adj" fmla="val 22222"/>
            </a:avLst>
          </a:prstGeom>
          <a:solidFill>
            <a:srgbClr val="181525"/>
          </a:solidFill>
          <a:ln w="12700">
            <a:solidFill>
              <a:srgbClr val="D4AF37"/>
            </a:solidFill>
            <a:prstDash val="solid"/>
          </a:ln>
        </p:spPr>
      </p:sp>
      <p:sp>
        <p:nvSpPr>
          <p:cNvPr id="10" name="Text 8"/>
          <p:cNvSpPr/>
          <p:nvPr/>
        </p:nvSpPr>
        <p:spPr>
          <a:xfrm>
            <a:off x="1005840" y="5303520"/>
            <a:ext cx="2011680" cy="411480"/>
          </a:xfrm>
          <a:prstGeom prst="rect">
            <a:avLst/>
          </a:prstGeom>
          <a:noFill/>
          <a:ln/>
        </p:spPr>
        <p:txBody>
          <a:bodyPr wrap="square" rtlCol="0" anchor="ctr"/>
          <a:lstStyle/>
          <a:p>
            <a:pPr algn="ctr" indent="0" marL="0">
              <a:buNone/>
            </a:pPr>
            <a:r>
              <a:rPr lang="en-US" sz="1000" b="1" dirty="0">
                <a:solidFill>
                  <a:srgbClr val="D4AF37"/>
                </a:solidFill>
                <a:latin typeface="Arial" pitchFamily="34" charset="0"/>
                <a:ea typeface="Arial" pitchFamily="34" charset="-122"/>
                <a:cs typeface="Arial" pitchFamily="34" charset="-120"/>
              </a:rPr>
              <a:t>LUXURY PRESET</a:t>
            </a:r>
            <a:endParaRPr lang="en-US" sz="1000" dirty="0"/>
          </a:p>
        </p:txBody>
      </p:sp>
      <p:sp>
        <p:nvSpPr>
          <p:cNvPr id="11" name="Shape 9"/>
          <p:cNvSpPr/>
          <p:nvPr/>
        </p:nvSpPr>
        <p:spPr>
          <a:xfrm>
            <a:off x="3474720" y="1645920"/>
            <a:ext cx="2560320" cy="4389120"/>
          </a:xfrm>
          <a:prstGeom prst="roundRect">
            <a:avLst>
              <a:gd name="adj" fmla="val 7143"/>
            </a:avLst>
          </a:prstGeom>
          <a:solidFill>
            <a:srgbClr val="14121E"/>
          </a:solidFill>
          <a:ln w="19050">
            <a:solidFill>
              <a:srgbClr val="28253A"/>
            </a:solidFill>
            <a:prstDash val="solid"/>
          </a:ln>
        </p:spPr>
      </p:sp>
      <p:sp>
        <p:nvSpPr>
          <p:cNvPr id="12" name="Text 10"/>
          <p:cNvSpPr/>
          <p:nvPr/>
        </p:nvSpPr>
        <p:spPr>
          <a:xfrm>
            <a:off x="3749040" y="2011680"/>
            <a:ext cx="2011680" cy="731520"/>
          </a:xfrm>
          <a:prstGeom prst="rect">
            <a:avLst/>
          </a:prstGeom>
          <a:noFill/>
          <a:ln/>
        </p:spPr>
        <p:txBody>
          <a:bodyPr wrap="square" rtlCol="0" anchor="ctr"/>
          <a:lstStyle/>
          <a:p>
            <a:pPr indent="0" marL="0">
              <a:buNone/>
            </a:pPr>
            <a:r>
              <a:rPr lang="en-US" sz="1600" b="1" dirty="0">
                <a:solidFill>
                  <a:srgbClr val="FFA834"/>
                </a:solidFill>
                <a:latin typeface="Trebuchet MS" pitchFamily="34" charset="0"/>
                <a:ea typeface="Trebuchet MS" pitchFamily="34" charset="-122"/>
                <a:cs typeface="Trebuchet MS" pitchFamily="34" charset="-120"/>
              </a:rPr>
              <a:t>Sunlit Day Mode ☀️</a:t>
            </a:r>
            <a:endParaRPr lang="en-US" sz="1600" dirty="0"/>
          </a:p>
        </p:txBody>
      </p:sp>
      <p:sp>
        <p:nvSpPr>
          <p:cNvPr id="13" name="Text 11"/>
          <p:cNvSpPr/>
          <p:nvPr/>
        </p:nvSpPr>
        <p:spPr>
          <a:xfrm>
            <a:off x="3749040" y="2926080"/>
            <a:ext cx="2011680" cy="201168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High-contrast, glare-free aesthetic calibrated for outdoor campus courtyards and bright lecture halls.</a:t>
            </a:r>
            <a:endParaRPr lang="en-US" sz="1200" dirty="0"/>
          </a:p>
        </p:txBody>
      </p:sp>
      <p:sp>
        <p:nvSpPr>
          <p:cNvPr id="14" name="Shape 12"/>
          <p:cNvSpPr/>
          <p:nvPr/>
        </p:nvSpPr>
        <p:spPr>
          <a:xfrm>
            <a:off x="3749040" y="5303520"/>
            <a:ext cx="2011680" cy="411480"/>
          </a:xfrm>
          <a:prstGeom prst="roundRect">
            <a:avLst>
              <a:gd name="adj" fmla="val 22222"/>
            </a:avLst>
          </a:prstGeom>
          <a:solidFill>
            <a:srgbClr val="181525"/>
          </a:solidFill>
          <a:ln w="12700">
            <a:solidFill>
              <a:srgbClr val="FFA834"/>
            </a:solidFill>
            <a:prstDash val="solid"/>
          </a:ln>
        </p:spPr>
      </p:sp>
      <p:sp>
        <p:nvSpPr>
          <p:cNvPr id="15" name="Text 13"/>
          <p:cNvSpPr/>
          <p:nvPr/>
        </p:nvSpPr>
        <p:spPr>
          <a:xfrm>
            <a:off x="3749040" y="5303520"/>
            <a:ext cx="2011680" cy="411480"/>
          </a:xfrm>
          <a:prstGeom prst="rect">
            <a:avLst/>
          </a:prstGeom>
          <a:noFill/>
          <a:ln/>
        </p:spPr>
        <p:txBody>
          <a:bodyPr wrap="square" rtlCol="0" anchor="ctr"/>
          <a:lstStyle/>
          <a:p>
            <a:pPr algn="ctr" indent="0" marL="0">
              <a:buNone/>
            </a:pPr>
            <a:r>
              <a:rPr lang="en-US" sz="1000" b="1" dirty="0">
                <a:solidFill>
                  <a:srgbClr val="FFA834"/>
                </a:solidFill>
                <a:latin typeface="Arial" pitchFamily="34" charset="0"/>
                <a:ea typeface="Arial" pitchFamily="34" charset="-122"/>
                <a:cs typeface="Arial" pitchFamily="34" charset="-120"/>
              </a:rPr>
              <a:t>GLARE-FREE</a:t>
            </a:r>
            <a:endParaRPr lang="en-US" sz="1000" dirty="0"/>
          </a:p>
        </p:txBody>
      </p:sp>
      <p:sp>
        <p:nvSpPr>
          <p:cNvPr id="16" name="Shape 14"/>
          <p:cNvSpPr/>
          <p:nvPr/>
        </p:nvSpPr>
        <p:spPr>
          <a:xfrm>
            <a:off x="6217920" y="1645920"/>
            <a:ext cx="2560320" cy="4389120"/>
          </a:xfrm>
          <a:prstGeom prst="roundRect">
            <a:avLst>
              <a:gd name="adj" fmla="val 7143"/>
            </a:avLst>
          </a:prstGeom>
          <a:solidFill>
            <a:srgbClr val="14121E"/>
          </a:solidFill>
          <a:ln w="19050">
            <a:solidFill>
              <a:srgbClr val="28253A"/>
            </a:solidFill>
            <a:prstDash val="solid"/>
          </a:ln>
        </p:spPr>
      </p:sp>
      <p:sp>
        <p:nvSpPr>
          <p:cNvPr id="17" name="Text 15"/>
          <p:cNvSpPr/>
          <p:nvPr/>
        </p:nvSpPr>
        <p:spPr>
          <a:xfrm>
            <a:off x="6492240" y="2011680"/>
            <a:ext cx="2011680" cy="731520"/>
          </a:xfrm>
          <a:prstGeom prst="rect">
            <a:avLst/>
          </a:prstGeom>
          <a:noFill/>
          <a:ln/>
        </p:spPr>
        <p:txBody>
          <a:bodyPr wrap="square" rtlCol="0" anchor="ctr"/>
          <a:lstStyle/>
          <a:p>
            <a:pPr indent="0" marL="0">
              <a:buNone/>
            </a:pPr>
            <a:r>
              <a:rPr lang="en-US" sz="1600" b="1" dirty="0">
                <a:solidFill>
                  <a:srgbClr val="8B5CF6"/>
                </a:solidFill>
                <a:latin typeface="Trebuchet MS" pitchFamily="34" charset="0"/>
                <a:ea typeface="Trebuchet MS" pitchFamily="34" charset="-122"/>
                <a:cs typeface="Trebuchet MS" pitchFamily="34" charset="-120"/>
              </a:rPr>
              <a:t>OLED Night Mode 🌙</a:t>
            </a:r>
            <a:endParaRPr lang="en-US" sz="1600" dirty="0"/>
          </a:p>
        </p:txBody>
      </p:sp>
      <p:sp>
        <p:nvSpPr>
          <p:cNvPr id="18" name="Text 16"/>
          <p:cNvSpPr/>
          <p:nvPr/>
        </p:nvSpPr>
        <p:spPr>
          <a:xfrm>
            <a:off x="6492240" y="2926080"/>
            <a:ext cx="2011680" cy="201168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Deep battery-saving dark glassmorphism tailored for late-night hostel cram sessions and study marathons.</a:t>
            </a:r>
            <a:endParaRPr lang="en-US" sz="1200" dirty="0"/>
          </a:p>
        </p:txBody>
      </p:sp>
      <p:sp>
        <p:nvSpPr>
          <p:cNvPr id="19" name="Shape 17"/>
          <p:cNvSpPr/>
          <p:nvPr/>
        </p:nvSpPr>
        <p:spPr>
          <a:xfrm>
            <a:off x="6492240" y="5303520"/>
            <a:ext cx="2011680" cy="411480"/>
          </a:xfrm>
          <a:prstGeom prst="roundRect">
            <a:avLst>
              <a:gd name="adj" fmla="val 22222"/>
            </a:avLst>
          </a:prstGeom>
          <a:solidFill>
            <a:srgbClr val="181525"/>
          </a:solidFill>
          <a:ln w="12700">
            <a:solidFill>
              <a:srgbClr val="8B5CF6"/>
            </a:solidFill>
            <a:prstDash val="solid"/>
          </a:ln>
        </p:spPr>
      </p:sp>
      <p:sp>
        <p:nvSpPr>
          <p:cNvPr id="20" name="Text 18"/>
          <p:cNvSpPr/>
          <p:nvPr/>
        </p:nvSpPr>
        <p:spPr>
          <a:xfrm>
            <a:off x="6492240" y="5303520"/>
            <a:ext cx="2011680" cy="411480"/>
          </a:xfrm>
          <a:prstGeom prst="rect">
            <a:avLst/>
          </a:prstGeom>
          <a:noFill/>
          <a:ln/>
        </p:spPr>
        <p:txBody>
          <a:bodyPr wrap="square" rtlCol="0" anchor="ctr"/>
          <a:lstStyle/>
          <a:p>
            <a:pPr algn="ctr" indent="0" marL="0">
              <a:buNone/>
            </a:pPr>
            <a:r>
              <a:rPr lang="en-US" sz="1000" b="1" dirty="0">
                <a:solidFill>
                  <a:srgbClr val="8B5CF6"/>
                </a:solidFill>
                <a:latin typeface="Arial" pitchFamily="34" charset="0"/>
                <a:ea typeface="Arial" pitchFamily="34" charset="-122"/>
                <a:cs typeface="Arial" pitchFamily="34" charset="-120"/>
              </a:rPr>
              <a:t>BATTERY SAVER</a:t>
            </a:r>
            <a:endParaRPr lang="en-US" sz="1000" dirty="0"/>
          </a:p>
        </p:txBody>
      </p:sp>
      <p:sp>
        <p:nvSpPr>
          <p:cNvPr id="21" name="Shape 19"/>
          <p:cNvSpPr/>
          <p:nvPr/>
        </p:nvSpPr>
        <p:spPr>
          <a:xfrm>
            <a:off x="8961120" y="1645920"/>
            <a:ext cx="2560320" cy="4389120"/>
          </a:xfrm>
          <a:prstGeom prst="roundRect">
            <a:avLst>
              <a:gd name="adj" fmla="val 7143"/>
            </a:avLst>
          </a:prstGeom>
          <a:solidFill>
            <a:srgbClr val="14121E"/>
          </a:solidFill>
          <a:ln w="19050">
            <a:solidFill>
              <a:srgbClr val="28253A"/>
            </a:solidFill>
            <a:prstDash val="solid"/>
          </a:ln>
        </p:spPr>
      </p:sp>
      <p:sp>
        <p:nvSpPr>
          <p:cNvPr id="22" name="Text 20"/>
          <p:cNvSpPr/>
          <p:nvPr/>
        </p:nvSpPr>
        <p:spPr>
          <a:xfrm>
            <a:off x="9235440" y="2011680"/>
            <a:ext cx="2011680" cy="731520"/>
          </a:xfrm>
          <a:prstGeom prst="rect">
            <a:avLst/>
          </a:prstGeom>
          <a:noFill/>
          <a:ln/>
        </p:spPr>
        <p:txBody>
          <a:bodyPr wrap="square" rtlCol="0" anchor="ctr"/>
          <a:lstStyle/>
          <a:p>
            <a:pPr indent="0" marL="0">
              <a:buNone/>
            </a:pPr>
            <a:r>
              <a:rPr lang="en-US" sz="1600" b="1" dirty="0">
                <a:solidFill>
                  <a:srgbClr val="00D4AA"/>
                </a:solidFill>
                <a:latin typeface="Trebuchet MS" pitchFamily="34" charset="0"/>
                <a:ea typeface="Trebuchet MS" pitchFamily="34" charset="-122"/>
                <a:cs typeface="Trebuchet MS" pitchFamily="34" charset="-120"/>
              </a:rPr>
              <a:t>Custom Palette Studio 🎨</a:t>
            </a:r>
            <a:endParaRPr lang="en-US" sz="1600" dirty="0"/>
          </a:p>
        </p:txBody>
      </p:sp>
      <p:sp>
        <p:nvSpPr>
          <p:cNvPr id="23" name="Text 21"/>
          <p:cNvSpPr/>
          <p:nvPr/>
        </p:nvSpPr>
        <p:spPr>
          <a:xfrm>
            <a:off x="9235440" y="2926080"/>
            <a:ext cx="2011680" cy="201168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Students and universities customize primary and highlight tokens to match college departmental colors.</a:t>
            </a:r>
            <a:endParaRPr lang="en-US" sz="1200" dirty="0"/>
          </a:p>
        </p:txBody>
      </p:sp>
      <p:sp>
        <p:nvSpPr>
          <p:cNvPr id="24" name="Shape 22"/>
          <p:cNvSpPr/>
          <p:nvPr/>
        </p:nvSpPr>
        <p:spPr>
          <a:xfrm>
            <a:off x="9235440" y="5303520"/>
            <a:ext cx="2011680" cy="411480"/>
          </a:xfrm>
          <a:prstGeom prst="roundRect">
            <a:avLst>
              <a:gd name="adj" fmla="val 22222"/>
            </a:avLst>
          </a:prstGeom>
          <a:solidFill>
            <a:srgbClr val="181525"/>
          </a:solidFill>
          <a:ln w="12700">
            <a:solidFill>
              <a:srgbClr val="00D4AA"/>
            </a:solidFill>
            <a:prstDash val="solid"/>
          </a:ln>
        </p:spPr>
      </p:sp>
      <p:sp>
        <p:nvSpPr>
          <p:cNvPr id="25" name="Text 23"/>
          <p:cNvSpPr/>
          <p:nvPr/>
        </p:nvSpPr>
        <p:spPr>
          <a:xfrm>
            <a:off x="9235440" y="5303520"/>
            <a:ext cx="2011680" cy="411480"/>
          </a:xfrm>
          <a:prstGeom prst="rect">
            <a:avLst/>
          </a:prstGeom>
          <a:noFill/>
          <a:ln/>
        </p:spPr>
        <p:txBody>
          <a:bodyPr wrap="square" rtlCol="0" anchor="ctr"/>
          <a:lstStyle/>
          <a:p>
            <a:pPr algn="ctr" indent="0" marL="0">
              <a:buNone/>
            </a:pPr>
            <a:r>
              <a:rPr lang="en-US" sz="1000" b="1" dirty="0">
                <a:solidFill>
                  <a:srgbClr val="00D4AA"/>
                </a:solidFill>
                <a:latin typeface="Arial" pitchFamily="34" charset="0"/>
                <a:ea typeface="Arial" pitchFamily="34" charset="-122"/>
                <a:cs typeface="Arial" pitchFamily="34" charset="-120"/>
              </a:rPr>
              <a:t>USER FREEDOM</a:t>
            </a:r>
            <a:endParaRPr lang="en-US" sz="1000" dirty="0"/>
          </a:p>
        </p:txBody>
      </p:sp>
      <p:sp>
        <p:nvSpPr>
          <p:cNvPr id="26" name="Text 24"/>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27" name="Text 25"/>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FF3366"/>
                </a:solidFill>
                <a:latin typeface="Arial" pitchFamily="34" charset="0"/>
                <a:ea typeface="Arial" pitchFamily="34" charset="-122"/>
                <a:cs typeface="Arial" pitchFamily="34" charset="-120"/>
              </a:rPr>
              <a:t>13 · VIRAL ADOPTION</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40-Second Video Campaign: 'Own Your Recess'</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14 / 15</a:t>
            </a:r>
            <a:endParaRPr lang="en-US" sz="1000" dirty="0"/>
          </a:p>
        </p:txBody>
      </p:sp>
      <p:sp>
        <p:nvSpPr>
          <p:cNvPr id="6" name="Shape 4"/>
          <p:cNvSpPr/>
          <p:nvPr/>
        </p:nvSpPr>
        <p:spPr>
          <a:xfrm>
            <a:off x="731520" y="1645920"/>
            <a:ext cx="2560320" cy="4389120"/>
          </a:xfrm>
          <a:prstGeom prst="roundRect">
            <a:avLst>
              <a:gd name="adj" fmla="val 7143"/>
            </a:avLst>
          </a:prstGeom>
          <a:solidFill>
            <a:srgbClr val="14121E"/>
          </a:solidFill>
          <a:ln w="19050">
            <a:solidFill>
              <a:srgbClr val="3A222B"/>
            </a:solidFill>
            <a:prstDash val="solid"/>
          </a:ln>
        </p:spPr>
      </p:sp>
      <p:sp>
        <p:nvSpPr>
          <p:cNvPr id="7" name="Text 5"/>
          <p:cNvSpPr/>
          <p:nvPr/>
        </p:nvSpPr>
        <p:spPr>
          <a:xfrm>
            <a:off x="1005840" y="1920240"/>
            <a:ext cx="2011680" cy="274320"/>
          </a:xfrm>
          <a:prstGeom prst="rect">
            <a:avLst/>
          </a:prstGeom>
          <a:noFill/>
          <a:ln/>
        </p:spPr>
        <p:txBody>
          <a:bodyPr wrap="square" rtlCol="0" anchor="ctr"/>
          <a:lstStyle/>
          <a:p>
            <a:pPr indent="0" marL="0">
              <a:buNone/>
            </a:pPr>
            <a:r>
              <a:rPr lang="en-US" sz="1100" b="1" dirty="0">
                <a:solidFill>
                  <a:srgbClr val="FF3366"/>
                </a:solidFill>
                <a:latin typeface="Courier New" pitchFamily="34" charset="0"/>
                <a:ea typeface="Courier New" pitchFamily="34" charset="-122"/>
                <a:cs typeface="Courier New" pitchFamily="34" charset="-120"/>
              </a:rPr>
              <a:t>0:00 - 0:08</a:t>
            </a:r>
            <a:endParaRPr lang="en-US" sz="1100" dirty="0"/>
          </a:p>
        </p:txBody>
      </p:sp>
      <p:sp>
        <p:nvSpPr>
          <p:cNvPr id="8" name="Text 6"/>
          <p:cNvSpPr/>
          <p:nvPr/>
        </p:nvSpPr>
        <p:spPr>
          <a:xfrm>
            <a:off x="1005840" y="2286000"/>
            <a:ext cx="2011680" cy="45720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 Panic</a:t>
            </a:r>
            <a:endParaRPr lang="en-US" sz="1800" dirty="0"/>
          </a:p>
        </p:txBody>
      </p:sp>
      <p:sp>
        <p:nvSpPr>
          <p:cNvPr id="9" name="Text 7"/>
          <p:cNvSpPr/>
          <p:nvPr/>
        </p:nvSpPr>
        <p:spPr>
          <a:xfrm>
            <a:off x="1005840" y="2926080"/>
            <a:ext cx="2011680" cy="201168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Loud bell rings. 40 students jam the Cafe @7 counter waving notes as the clock ticks away.</a:t>
            </a:r>
            <a:endParaRPr lang="en-US" sz="1200" dirty="0"/>
          </a:p>
        </p:txBody>
      </p:sp>
      <p:sp>
        <p:nvSpPr>
          <p:cNvPr id="10" name="Shape 8"/>
          <p:cNvSpPr/>
          <p:nvPr/>
        </p:nvSpPr>
        <p:spPr>
          <a:xfrm>
            <a:off x="1005840" y="5303520"/>
            <a:ext cx="2011680" cy="411480"/>
          </a:xfrm>
          <a:prstGeom prst="roundRect">
            <a:avLst>
              <a:gd name="adj" fmla="val 22222"/>
            </a:avLst>
          </a:prstGeom>
          <a:solidFill>
            <a:srgbClr val="24151B"/>
          </a:solidFill>
          <a:ln w="12700">
            <a:solidFill>
              <a:srgbClr val="FF3366"/>
            </a:solidFill>
            <a:prstDash val="solid"/>
          </a:ln>
        </p:spPr>
      </p:sp>
      <p:sp>
        <p:nvSpPr>
          <p:cNvPr id="11" name="Text 9"/>
          <p:cNvSpPr/>
          <p:nvPr/>
        </p:nvSpPr>
        <p:spPr>
          <a:xfrm>
            <a:off x="1005840" y="5303520"/>
            <a:ext cx="2011680" cy="411480"/>
          </a:xfrm>
          <a:prstGeom prst="rect">
            <a:avLst/>
          </a:prstGeom>
          <a:noFill/>
          <a:ln/>
        </p:spPr>
        <p:txBody>
          <a:bodyPr wrap="square" rtlCol="0" anchor="ctr"/>
          <a:lstStyle/>
          <a:p>
            <a:pPr algn="ctr" indent="0" marL="0">
              <a:buNone/>
            </a:pPr>
            <a:r>
              <a:rPr lang="en-US" sz="950" b="1" dirty="0">
                <a:solidFill>
                  <a:srgbClr val="FF3366"/>
                </a:solidFill>
                <a:latin typeface="Arial" pitchFamily="34" charset="0"/>
                <a:ea typeface="Arial" pitchFamily="34" charset="-122"/>
                <a:cs typeface="Arial" pitchFamily="34" charset="-120"/>
              </a:rPr>
              <a:t>THE PROBLEM</a:t>
            </a:r>
            <a:endParaRPr lang="en-US" sz="950" dirty="0"/>
          </a:p>
        </p:txBody>
      </p:sp>
      <p:sp>
        <p:nvSpPr>
          <p:cNvPr id="12" name="Shape 10"/>
          <p:cNvSpPr/>
          <p:nvPr/>
        </p:nvSpPr>
        <p:spPr>
          <a:xfrm>
            <a:off x="3474720" y="1645920"/>
            <a:ext cx="2560320" cy="4389120"/>
          </a:xfrm>
          <a:prstGeom prst="roundRect">
            <a:avLst>
              <a:gd name="adj" fmla="val 7143"/>
            </a:avLst>
          </a:prstGeom>
          <a:solidFill>
            <a:srgbClr val="14121E"/>
          </a:solidFill>
          <a:ln w="19050">
            <a:solidFill>
              <a:srgbClr val="3A222B"/>
            </a:solidFill>
            <a:prstDash val="solid"/>
          </a:ln>
        </p:spPr>
      </p:sp>
      <p:sp>
        <p:nvSpPr>
          <p:cNvPr id="13" name="Text 11"/>
          <p:cNvSpPr/>
          <p:nvPr/>
        </p:nvSpPr>
        <p:spPr>
          <a:xfrm>
            <a:off x="3749040" y="1920240"/>
            <a:ext cx="2011680" cy="274320"/>
          </a:xfrm>
          <a:prstGeom prst="rect">
            <a:avLst/>
          </a:prstGeom>
          <a:noFill/>
          <a:ln/>
        </p:spPr>
        <p:txBody>
          <a:bodyPr wrap="square" rtlCol="0" anchor="ctr"/>
          <a:lstStyle/>
          <a:p>
            <a:pPr indent="0" marL="0">
              <a:buNone/>
            </a:pPr>
            <a:r>
              <a:rPr lang="en-US" sz="1100" b="1" dirty="0">
                <a:solidFill>
                  <a:srgbClr val="FF3366"/>
                </a:solidFill>
                <a:latin typeface="Courier New" pitchFamily="34" charset="0"/>
                <a:ea typeface="Courier New" pitchFamily="34" charset="-122"/>
                <a:cs typeface="Courier New" pitchFamily="34" charset="-120"/>
              </a:rPr>
              <a:t>0:08 - 0:20</a:t>
            </a:r>
            <a:endParaRPr lang="en-US" sz="1100" dirty="0"/>
          </a:p>
        </p:txBody>
      </p:sp>
      <p:sp>
        <p:nvSpPr>
          <p:cNvPr id="14" name="Text 12"/>
          <p:cNvSpPr/>
          <p:nvPr/>
        </p:nvSpPr>
        <p:spPr>
          <a:xfrm>
            <a:off x="3749040" y="2286000"/>
            <a:ext cx="2011680" cy="45720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 Hack</a:t>
            </a:r>
            <a:endParaRPr lang="en-US" sz="1800" dirty="0"/>
          </a:p>
        </p:txBody>
      </p:sp>
      <p:sp>
        <p:nvSpPr>
          <p:cNvPr id="15" name="Text 13"/>
          <p:cNvSpPr/>
          <p:nvPr/>
        </p:nvSpPr>
        <p:spPr>
          <a:xfrm>
            <a:off x="3749040" y="2926080"/>
            <a:ext cx="2011680" cy="201168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Smart student on phone desk taps Cafe @7, selects 11:50 AM slot, pays via UPI in 5 seconds.</a:t>
            </a:r>
            <a:endParaRPr lang="en-US" sz="1200" dirty="0"/>
          </a:p>
        </p:txBody>
      </p:sp>
      <p:sp>
        <p:nvSpPr>
          <p:cNvPr id="16" name="Shape 14"/>
          <p:cNvSpPr/>
          <p:nvPr/>
        </p:nvSpPr>
        <p:spPr>
          <a:xfrm>
            <a:off x="3749040" y="5303520"/>
            <a:ext cx="2011680" cy="411480"/>
          </a:xfrm>
          <a:prstGeom prst="roundRect">
            <a:avLst>
              <a:gd name="adj" fmla="val 22222"/>
            </a:avLst>
          </a:prstGeom>
          <a:solidFill>
            <a:srgbClr val="24151B"/>
          </a:solidFill>
          <a:ln w="12700">
            <a:solidFill>
              <a:srgbClr val="FF3366"/>
            </a:solidFill>
            <a:prstDash val="solid"/>
          </a:ln>
        </p:spPr>
      </p:sp>
      <p:sp>
        <p:nvSpPr>
          <p:cNvPr id="17" name="Text 15"/>
          <p:cNvSpPr/>
          <p:nvPr/>
        </p:nvSpPr>
        <p:spPr>
          <a:xfrm>
            <a:off x="3749040" y="5303520"/>
            <a:ext cx="2011680" cy="411480"/>
          </a:xfrm>
          <a:prstGeom prst="rect">
            <a:avLst/>
          </a:prstGeom>
          <a:noFill/>
          <a:ln/>
        </p:spPr>
        <p:txBody>
          <a:bodyPr wrap="square" rtlCol="0" anchor="ctr"/>
          <a:lstStyle/>
          <a:p>
            <a:pPr algn="ctr" indent="0" marL="0">
              <a:buNone/>
            </a:pPr>
            <a:r>
              <a:rPr lang="en-US" sz="950" b="1" dirty="0">
                <a:solidFill>
                  <a:srgbClr val="FF3366"/>
                </a:solidFill>
                <a:latin typeface="Arial" pitchFamily="34" charset="0"/>
                <a:ea typeface="Arial" pitchFamily="34" charset="-122"/>
                <a:cs typeface="Arial" pitchFamily="34" charset="-120"/>
              </a:rPr>
              <a:t>THE SOLUTION</a:t>
            </a:r>
            <a:endParaRPr lang="en-US" sz="950" dirty="0"/>
          </a:p>
        </p:txBody>
      </p:sp>
      <p:sp>
        <p:nvSpPr>
          <p:cNvPr id="18" name="Shape 16"/>
          <p:cNvSpPr/>
          <p:nvPr/>
        </p:nvSpPr>
        <p:spPr>
          <a:xfrm>
            <a:off x="6217920" y="1645920"/>
            <a:ext cx="2560320" cy="4389120"/>
          </a:xfrm>
          <a:prstGeom prst="roundRect">
            <a:avLst>
              <a:gd name="adj" fmla="val 7143"/>
            </a:avLst>
          </a:prstGeom>
          <a:solidFill>
            <a:srgbClr val="14121E"/>
          </a:solidFill>
          <a:ln w="19050">
            <a:solidFill>
              <a:srgbClr val="3A222B"/>
            </a:solidFill>
            <a:prstDash val="solid"/>
          </a:ln>
        </p:spPr>
      </p:sp>
      <p:sp>
        <p:nvSpPr>
          <p:cNvPr id="19" name="Text 17"/>
          <p:cNvSpPr/>
          <p:nvPr/>
        </p:nvSpPr>
        <p:spPr>
          <a:xfrm>
            <a:off x="6492240" y="1920240"/>
            <a:ext cx="2011680" cy="274320"/>
          </a:xfrm>
          <a:prstGeom prst="rect">
            <a:avLst/>
          </a:prstGeom>
          <a:noFill/>
          <a:ln/>
        </p:spPr>
        <p:txBody>
          <a:bodyPr wrap="square" rtlCol="0" anchor="ctr"/>
          <a:lstStyle/>
          <a:p>
            <a:pPr indent="0" marL="0">
              <a:buNone/>
            </a:pPr>
            <a:r>
              <a:rPr lang="en-US" sz="1100" b="1" dirty="0">
                <a:solidFill>
                  <a:srgbClr val="FF3366"/>
                </a:solidFill>
                <a:latin typeface="Courier New" pitchFamily="34" charset="0"/>
                <a:ea typeface="Courier New" pitchFamily="34" charset="-122"/>
                <a:cs typeface="Courier New" pitchFamily="34" charset="-120"/>
              </a:rPr>
              <a:t>0:20 - 0:32</a:t>
            </a:r>
            <a:endParaRPr lang="en-US" sz="1100" dirty="0"/>
          </a:p>
        </p:txBody>
      </p:sp>
      <p:sp>
        <p:nvSpPr>
          <p:cNvPr id="20" name="Text 18"/>
          <p:cNvSpPr/>
          <p:nvPr/>
        </p:nvSpPr>
        <p:spPr>
          <a:xfrm>
            <a:off x="6492240" y="2286000"/>
            <a:ext cx="2011680" cy="45720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 Flex</a:t>
            </a:r>
            <a:endParaRPr lang="en-US" sz="1800" dirty="0"/>
          </a:p>
        </p:txBody>
      </p:sp>
      <p:sp>
        <p:nvSpPr>
          <p:cNvPr id="21" name="Text 19"/>
          <p:cNvSpPr/>
          <p:nvPr/>
        </p:nvSpPr>
        <p:spPr>
          <a:xfrm>
            <a:off x="6492240" y="2926080"/>
            <a:ext cx="2011680" cy="201168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Student walks past crowded line to VIP pickup lane. Flashes QR code, grabs hot samosa in 18s.</a:t>
            </a:r>
            <a:endParaRPr lang="en-US" sz="1200" dirty="0"/>
          </a:p>
        </p:txBody>
      </p:sp>
      <p:sp>
        <p:nvSpPr>
          <p:cNvPr id="22" name="Shape 20"/>
          <p:cNvSpPr/>
          <p:nvPr/>
        </p:nvSpPr>
        <p:spPr>
          <a:xfrm>
            <a:off x="6492240" y="5303520"/>
            <a:ext cx="2011680" cy="411480"/>
          </a:xfrm>
          <a:prstGeom prst="roundRect">
            <a:avLst>
              <a:gd name="adj" fmla="val 22222"/>
            </a:avLst>
          </a:prstGeom>
          <a:solidFill>
            <a:srgbClr val="24151B"/>
          </a:solidFill>
          <a:ln w="12700">
            <a:solidFill>
              <a:srgbClr val="FF3366"/>
            </a:solidFill>
            <a:prstDash val="solid"/>
          </a:ln>
        </p:spPr>
      </p:sp>
      <p:sp>
        <p:nvSpPr>
          <p:cNvPr id="23" name="Text 21"/>
          <p:cNvSpPr/>
          <p:nvPr/>
        </p:nvSpPr>
        <p:spPr>
          <a:xfrm>
            <a:off x="6492240" y="5303520"/>
            <a:ext cx="2011680" cy="411480"/>
          </a:xfrm>
          <a:prstGeom prst="rect">
            <a:avLst/>
          </a:prstGeom>
          <a:noFill/>
          <a:ln/>
        </p:spPr>
        <p:txBody>
          <a:bodyPr wrap="square" rtlCol="0" anchor="ctr"/>
          <a:lstStyle/>
          <a:p>
            <a:pPr algn="ctr" indent="0" marL="0">
              <a:buNone/>
            </a:pPr>
            <a:r>
              <a:rPr lang="en-US" sz="950" b="1" dirty="0">
                <a:solidFill>
                  <a:srgbClr val="FF3366"/>
                </a:solidFill>
                <a:latin typeface="Arial" pitchFamily="34" charset="0"/>
                <a:ea typeface="Arial" pitchFamily="34" charset="-122"/>
                <a:cs typeface="Arial" pitchFamily="34" charset="-120"/>
              </a:rPr>
              <a:t>THE VIP PASS</a:t>
            </a:r>
            <a:endParaRPr lang="en-US" sz="950" dirty="0"/>
          </a:p>
        </p:txBody>
      </p:sp>
      <p:sp>
        <p:nvSpPr>
          <p:cNvPr id="24" name="Shape 22"/>
          <p:cNvSpPr/>
          <p:nvPr/>
        </p:nvSpPr>
        <p:spPr>
          <a:xfrm>
            <a:off x="8961120" y="1645920"/>
            <a:ext cx="2560320" cy="4389120"/>
          </a:xfrm>
          <a:prstGeom prst="roundRect">
            <a:avLst>
              <a:gd name="adj" fmla="val 7143"/>
            </a:avLst>
          </a:prstGeom>
          <a:solidFill>
            <a:srgbClr val="14121E"/>
          </a:solidFill>
          <a:ln w="19050">
            <a:solidFill>
              <a:srgbClr val="3A222B"/>
            </a:solidFill>
            <a:prstDash val="solid"/>
          </a:ln>
        </p:spPr>
      </p:sp>
      <p:sp>
        <p:nvSpPr>
          <p:cNvPr id="25" name="Text 23"/>
          <p:cNvSpPr/>
          <p:nvPr/>
        </p:nvSpPr>
        <p:spPr>
          <a:xfrm>
            <a:off x="9235440" y="1920240"/>
            <a:ext cx="2011680" cy="274320"/>
          </a:xfrm>
          <a:prstGeom prst="rect">
            <a:avLst/>
          </a:prstGeom>
          <a:noFill/>
          <a:ln/>
        </p:spPr>
        <p:txBody>
          <a:bodyPr wrap="square" rtlCol="0" anchor="ctr"/>
          <a:lstStyle/>
          <a:p>
            <a:pPr indent="0" marL="0">
              <a:buNone/>
            </a:pPr>
            <a:r>
              <a:rPr lang="en-US" sz="1100" b="1" dirty="0">
                <a:solidFill>
                  <a:srgbClr val="FF3366"/>
                </a:solidFill>
                <a:latin typeface="Courier New" pitchFamily="34" charset="0"/>
                <a:ea typeface="Courier New" pitchFamily="34" charset="-122"/>
                <a:cs typeface="Courier New" pitchFamily="34" charset="-120"/>
              </a:rPr>
              <a:t>0:32 - 0:40</a:t>
            </a:r>
            <a:endParaRPr lang="en-US" sz="1100" dirty="0"/>
          </a:p>
        </p:txBody>
      </p:sp>
      <p:sp>
        <p:nvSpPr>
          <p:cNvPr id="26" name="Text 24"/>
          <p:cNvSpPr/>
          <p:nvPr/>
        </p:nvSpPr>
        <p:spPr>
          <a:xfrm>
            <a:off x="9235440" y="2286000"/>
            <a:ext cx="2011680" cy="457200"/>
          </a:xfrm>
          <a:prstGeom prst="rect">
            <a:avLst/>
          </a:prstGeom>
          <a:noFill/>
          <a:ln/>
        </p:spPr>
        <p:txBody>
          <a:bodyPr wrap="square"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The Drop</a:t>
            </a:r>
            <a:endParaRPr lang="en-US" sz="1800" dirty="0"/>
          </a:p>
        </p:txBody>
      </p:sp>
      <p:sp>
        <p:nvSpPr>
          <p:cNvPr id="27" name="Text 25"/>
          <p:cNvSpPr/>
          <p:nvPr/>
        </p:nvSpPr>
        <p:spPr>
          <a:xfrm>
            <a:off x="9235440" y="2926080"/>
            <a:ext cx="2011680" cy="2011680"/>
          </a:xfrm>
          <a:prstGeom prst="rect">
            <a:avLst/>
          </a:prstGeom>
          <a:noFill/>
          <a:ln/>
        </p:spPr>
        <p:txBody>
          <a:bodyPr wrap="square" rtlCol="0" anchor="ctr"/>
          <a:lstStyle/>
          <a:p>
            <a:pPr indent="0" marL="0">
              <a:lnSpc>
                <a:spcPct val="125000"/>
              </a:lnSpc>
              <a:buNone/>
            </a:pPr>
            <a:r>
              <a:rPr lang="en-US" sz="1200" dirty="0">
                <a:solidFill>
                  <a:srgbClr val="9E9EAF"/>
                </a:solidFill>
                <a:latin typeface="Arial" pitchFamily="34" charset="0"/>
                <a:ea typeface="Arial" pitchFamily="34" charset="-122"/>
                <a:cs typeface="Arial" pitchFamily="34" charset="-120"/>
              </a:rPr>
              <a:t>"Stop waiting. Start eating. Pre-order on FoodLine now." QR code links directly to app.</a:t>
            </a:r>
            <a:endParaRPr lang="en-US" sz="1200" dirty="0"/>
          </a:p>
        </p:txBody>
      </p:sp>
      <p:sp>
        <p:nvSpPr>
          <p:cNvPr id="28" name="Shape 26"/>
          <p:cNvSpPr/>
          <p:nvPr/>
        </p:nvSpPr>
        <p:spPr>
          <a:xfrm>
            <a:off x="9235440" y="5303520"/>
            <a:ext cx="2011680" cy="411480"/>
          </a:xfrm>
          <a:prstGeom prst="roundRect">
            <a:avLst>
              <a:gd name="adj" fmla="val 22222"/>
            </a:avLst>
          </a:prstGeom>
          <a:solidFill>
            <a:srgbClr val="24151B"/>
          </a:solidFill>
          <a:ln w="12700">
            <a:solidFill>
              <a:srgbClr val="FF3366"/>
            </a:solidFill>
            <a:prstDash val="solid"/>
          </a:ln>
        </p:spPr>
      </p:sp>
      <p:sp>
        <p:nvSpPr>
          <p:cNvPr id="29" name="Text 27"/>
          <p:cNvSpPr/>
          <p:nvPr/>
        </p:nvSpPr>
        <p:spPr>
          <a:xfrm>
            <a:off x="9235440" y="5303520"/>
            <a:ext cx="2011680" cy="411480"/>
          </a:xfrm>
          <a:prstGeom prst="rect">
            <a:avLst/>
          </a:prstGeom>
          <a:noFill/>
          <a:ln/>
        </p:spPr>
        <p:txBody>
          <a:bodyPr wrap="square" rtlCol="0" anchor="ctr"/>
          <a:lstStyle/>
          <a:p>
            <a:pPr algn="ctr" indent="0" marL="0">
              <a:buNone/>
            </a:pPr>
            <a:r>
              <a:rPr lang="en-US" sz="950" b="1" dirty="0">
                <a:solidFill>
                  <a:srgbClr val="FF3366"/>
                </a:solidFill>
                <a:latin typeface="Arial" pitchFamily="34" charset="0"/>
                <a:ea typeface="Arial" pitchFamily="34" charset="-122"/>
                <a:cs typeface="Arial" pitchFamily="34" charset="-120"/>
              </a:rPr>
              <a:t>VIRAL CALL TO ACTION</a:t>
            </a:r>
            <a:endParaRPr lang="en-US" sz="950" dirty="0"/>
          </a:p>
        </p:txBody>
      </p:sp>
      <p:sp>
        <p:nvSpPr>
          <p:cNvPr id="30" name="Text 28"/>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31" name="Text 29"/>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070B"/>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dirty="0">
                <a:solidFill>
                  <a:srgbClr val="00D4AA"/>
                </a:solidFill>
                <a:latin typeface="Arial" pitchFamily="34" charset="0"/>
                <a:ea typeface="Arial" pitchFamily="34" charset="-122"/>
                <a:cs typeface="Arial" pitchFamily="34" charset="-120"/>
              </a:rPr>
              <a:t>14 · THE VISION</a:t>
            </a:r>
            <a:endParaRPr lang="en-US" sz="1000" dirty="0"/>
          </a:p>
        </p:txBody>
      </p:sp>
      <p:sp>
        <p:nvSpPr>
          <p:cNvPr id="3" name="Text 1"/>
          <p:cNvSpPr/>
          <p:nvPr/>
        </p:nvSpPr>
        <p:spPr>
          <a:xfrm>
            <a:off x="731520" y="731520"/>
            <a:ext cx="9601200" cy="594360"/>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From Single Canteen to Statewide Campus Network</a:t>
            </a:r>
            <a:endParaRPr lang="en-US" sz="2400" dirty="0"/>
          </a:p>
        </p:txBody>
      </p:sp>
      <p:sp>
        <p:nvSpPr>
          <p:cNvPr id="4" name="Shape 2"/>
          <p:cNvSpPr/>
          <p:nvPr/>
        </p:nvSpPr>
        <p:spPr>
          <a:xfrm>
            <a:off x="10698480" y="502920"/>
            <a:ext cx="777240" cy="320040"/>
          </a:xfrm>
          <a:prstGeom prst="roundRect">
            <a:avLst>
              <a:gd name="adj" fmla="val 28571"/>
            </a:avLst>
          </a:prstGeom>
          <a:solidFill>
            <a:srgbClr val="181525"/>
          </a:solidFill>
          <a:ln w="12700">
            <a:solidFill>
              <a:srgbClr val="332E4A"/>
            </a:solidFill>
            <a:prstDash val="solid"/>
          </a:ln>
        </p:spPr>
      </p:sp>
      <p:sp>
        <p:nvSpPr>
          <p:cNvPr id="5" name="Text 3"/>
          <p:cNvSpPr/>
          <p:nvPr/>
        </p:nvSpPr>
        <p:spPr>
          <a:xfrm>
            <a:off x="10698480" y="502920"/>
            <a:ext cx="777240" cy="320040"/>
          </a:xfrm>
          <a:prstGeom prst="rect">
            <a:avLst/>
          </a:prstGeom>
          <a:noFill/>
          <a:ln/>
        </p:spPr>
        <p:txBody>
          <a:bodyPr wrap="square" rtlCol="0" anchor="ctr"/>
          <a:lstStyle/>
          <a:p>
            <a:pPr algn="ctr" indent="0" marL="0">
              <a:buNone/>
            </a:pPr>
            <a:r>
              <a:rPr lang="en-US" sz="1000" b="1" dirty="0">
                <a:solidFill>
                  <a:srgbClr val="9E9EAF"/>
                </a:solidFill>
                <a:latin typeface="Courier New" pitchFamily="34" charset="0"/>
                <a:ea typeface="Courier New" pitchFamily="34" charset="-122"/>
                <a:cs typeface="Courier New" pitchFamily="34" charset="-120"/>
              </a:rPr>
              <a:t>15 / 15</a:t>
            </a:r>
            <a:endParaRPr lang="en-US" sz="1000" dirty="0"/>
          </a:p>
        </p:txBody>
      </p:sp>
      <p:sp>
        <p:nvSpPr>
          <p:cNvPr id="6" name="Shape 4"/>
          <p:cNvSpPr/>
          <p:nvPr/>
        </p:nvSpPr>
        <p:spPr>
          <a:xfrm>
            <a:off x="731520" y="1645920"/>
            <a:ext cx="3383280" cy="4389120"/>
          </a:xfrm>
          <a:prstGeom prst="roundRect">
            <a:avLst>
              <a:gd name="adj" fmla="val 5405"/>
            </a:avLst>
          </a:prstGeom>
          <a:solidFill>
            <a:srgbClr val="14121E"/>
          </a:solidFill>
          <a:ln w="19050">
            <a:solidFill>
              <a:srgbClr val="1C3D34"/>
            </a:solidFill>
            <a:prstDash val="solid"/>
          </a:ln>
        </p:spPr>
      </p:sp>
      <p:sp>
        <p:nvSpPr>
          <p:cNvPr id="7" name="Text 5"/>
          <p:cNvSpPr/>
          <p:nvPr/>
        </p:nvSpPr>
        <p:spPr>
          <a:xfrm>
            <a:off x="1005840" y="1920240"/>
            <a:ext cx="2834640" cy="274320"/>
          </a:xfrm>
          <a:prstGeom prst="rect">
            <a:avLst/>
          </a:prstGeom>
          <a:noFill/>
          <a:ln/>
        </p:spPr>
        <p:txBody>
          <a:bodyPr wrap="square" rtlCol="0" anchor="ctr"/>
          <a:lstStyle/>
          <a:p>
            <a:pPr indent="0" marL="0">
              <a:buNone/>
            </a:pPr>
            <a:r>
              <a:rPr lang="en-US" sz="1050" b="1" dirty="0">
                <a:solidFill>
                  <a:srgbClr val="00D4AA"/>
                </a:solidFill>
                <a:latin typeface="Courier New" pitchFamily="34" charset="0"/>
                <a:ea typeface="Courier New" pitchFamily="34" charset="-122"/>
                <a:cs typeface="Courier New" pitchFamily="34" charset="-120"/>
              </a:rPr>
              <a:t>PHASE 1 — CURRENT</a:t>
            </a:r>
            <a:endParaRPr lang="en-US" sz="1050" dirty="0"/>
          </a:p>
        </p:txBody>
      </p:sp>
      <p:sp>
        <p:nvSpPr>
          <p:cNvPr id="8" name="Text 6"/>
          <p:cNvSpPr/>
          <p:nvPr/>
        </p:nvSpPr>
        <p:spPr>
          <a:xfrm>
            <a:off x="1005840" y="2286000"/>
            <a:ext cx="2834640" cy="548640"/>
          </a:xfrm>
          <a:prstGeom prst="rect">
            <a:avLst/>
          </a:prstGeom>
          <a:noFill/>
          <a:ln/>
        </p:spPr>
        <p:txBody>
          <a:bodyPr wrap="square"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Cafe @7 Live Pilot</a:t>
            </a:r>
            <a:endParaRPr lang="en-US" sz="1900" dirty="0"/>
          </a:p>
        </p:txBody>
      </p:sp>
      <p:sp>
        <p:nvSpPr>
          <p:cNvPr id="9" name="Text 7"/>
          <p:cNvSpPr/>
          <p:nvPr/>
        </p:nvSpPr>
        <p:spPr>
          <a:xfrm>
            <a:off x="1005840" y="2926080"/>
            <a:ext cx="2834640" cy="182880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Sanjivani University Cafe @7 live deployment. 44 dishes, 4 break slots, 100% online UPI, 60-slot throttler.</a:t>
            </a:r>
            <a:endParaRPr lang="en-US" sz="1250" dirty="0"/>
          </a:p>
        </p:txBody>
      </p:sp>
      <p:sp>
        <p:nvSpPr>
          <p:cNvPr id="10" name="Shape 8"/>
          <p:cNvSpPr/>
          <p:nvPr/>
        </p:nvSpPr>
        <p:spPr>
          <a:xfrm>
            <a:off x="1005840" y="5212080"/>
            <a:ext cx="2834640" cy="411480"/>
          </a:xfrm>
          <a:prstGeom prst="roundRect">
            <a:avLst>
              <a:gd name="adj" fmla="val 22222"/>
            </a:avLst>
          </a:prstGeom>
          <a:solidFill>
            <a:srgbClr val="181525"/>
          </a:solidFill>
          <a:ln w="12700">
            <a:solidFill>
              <a:srgbClr val="00D4AA"/>
            </a:solidFill>
            <a:prstDash val="solid"/>
          </a:ln>
        </p:spPr>
      </p:sp>
      <p:sp>
        <p:nvSpPr>
          <p:cNvPr id="11" name="Text 9"/>
          <p:cNvSpPr/>
          <p:nvPr/>
        </p:nvSpPr>
        <p:spPr>
          <a:xfrm>
            <a:off x="1005840" y="5212080"/>
            <a:ext cx="2834640" cy="411480"/>
          </a:xfrm>
          <a:prstGeom prst="rect">
            <a:avLst/>
          </a:prstGeom>
          <a:noFill/>
          <a:ln/>
        </p:spPr>
        <p:txBody>
          <a:bodyPr wrap="square" rtlCol="0" anchor="ctr"/>
          <a:lstStyle/>
          <a:p>
            <a:pPr algn="ctr" indent="0" marL="0">
              <a:buNone/>
            </a:pPr>
            <a:r>
              <a:rPr lang="en-US" sz="1000" b="1" dirty="0">
                <a:solidFill>
                  <a:srgbClr val="00D4AA"/>
                </a:solidFill>
                <a:latin typeface="Arial" pitchFamily="34" charset="0"/>
                <a:ea typeface="Arial" pitchFamily="34" charset="-122"/>
                <a:cs typeface="Arial" pitchFamily="34" charset="-120"/>
              </a:rPr>
              <a:t>OPERATIONAL LIVE</a:t>
            </a:r>
            <a:endParaRPr lang="en-US" sz="1000" dirty="0"/>
          </a:p>
        </p:txBody>
      </p:sp>
      <p:sp>
        <p:nvSpPr>
          <p:cNvPr id="12" name="Shape 10"/>
          <p:cNvSpPr/>
          <p:nvPr/>
        </p:nvSpPr>
        <p:spPr>
          <a:xfrm>
            <a:off x="4389120" y="1645920"/>
            <a:ext cx="3383280" cy="4389120"/>
          </a:xfrm>
          <a:prstGeom prst="roundRect">
            <a:avLst>
              <a:gd name="adj" fmla="val 5405"/>
            </a:avLst>
          </a:prstGeom>
          <a:solidFill>
            <a:srgbClr val="14121E"/>
          </a:solidFill>
          <a:ln w="19050">
            <a:solidFill>
              <a:srgbClr val="4A2E1C"/>
            </a:solidFill>
            <a:prstDash val="solid"/>
          </a:ln>
        </p:spPr>
      </p:sp>
      <p:sp>
        <p:nvSpPr>
          <p:cNvPr id="13" name="Text 11"/>
          <p:cNvSpPr/>
          <p:nvPr/>
        </p:nvSpPr>
        <p:spPr>
          <a:xfrm>
            <a:off x="4663440" y="1920240"/>
            <a:ext cx="2834640" cy="274320"/>
          </a:xfrm>
          <a:prstGeom prst="rect">
            <a:avLst/>
          </a:prstGeom>
          <a:noFill/>
          <a:ln/>
        </p:spPr>
        <p:txBody>
          <a:bodyPr wrap="square" rtlCol="0" anchor="ctr"/>
          <a:lstStyle/>
          <a:p>
            <a:pPr indent="0" marL="0">
              <a:buNone/>
            </a:pPr>
            <a:r>
              <a:rPr lang="en-US" sz="1050" b="1" dirty="0">
                <a:solidFill>
                  <a:srgbClr val="FF6B2C"/>
                </a:solidFill>
                <a:latin typeface="Courier New" pitchFamily="34" charset="0"/>
                <a:ea typeface="Courier New" pitchFamily="34" charset="-122"/>
                <a:cs typeface="Courier New" pitchFamily="34" charset="-120"/>
              </a:rPr>
              <a:t>PHASE 2 — 2026</a:t>
            </a:r>
            <a:endParaRPr lang="en-US" sz="1050" dirty="0"/>
          </a:p>
        </p:txBody>
      </p:sp>
      <p:sp>
        <p:nvSpPr>
          <p:cNvPr id="14" name="Text 12"/>
          <p:cNvSpPr/>
          <p:nvPr/>
        </p:nvSpPr>
        <p:spPr>
          <a:xfrm>
            <a:off x="4663440" y="2286000"/>
            <a:ext cx="2834640" cy="548640"/>
          </a:xfrm>
          <a:prstGeom prst="rect">
            <a:avLst/>
          </a:prstGeom>
          <a:noFill/>
          <a:ln/>
        </p:spPr>
        <p:txBody>
          <a:bodyPr wrap="square"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Regional Cluster</a:t>
            </a:r>
            <a:endParaRPr lang="en-US" sz="1900" dirty="0"/>
          </a:p>
        </p:txBody>
      </p:sp>
      <p:sp>
        <p:nvSpPr>
          <p:cNvPr id="15" name="Text 13"/>
          <p:cNvSpPr/>
          <p:nvPr/>
        </p:nvSpPr>
        <p:spPr>
          <a:xfrm>
            <a:off x="4663440" y="2926080"/>
            <a:ext cx="2834640" cy="182880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15 Engineering &amp; Medical colleges across Pune, Nashik, Ahmednagar with student ambassador network.</a:t>
            </a:r>
            <a:endParaRPr lang="en-US" sz="1250" dirty="0"/>
          </a:p>
        </p:txBody>
      </p:sp>
      <p:sp>
        <p:nvSpPr>
          <p:cNvPr id="16" name="Shape 14"/>
          <p:cNvSpPr/>
          <p:nvPr/>
        </p:nvSpPr>
        <p:spPr>
          <a:xfrm>
            <a:off x="4663440" y="5212080"/>
            <a:ext cx="2834640" cy="411480"/>
          </a:xfrm>
          <a:prstGeom prst="roundRect">
            <a:avLst>
              <a:gd name="adj" fmla="val 22222"/>
            </a:avLst>
          </a:prstGeom>
          <a:solidFill>
            <a:srgbClr val="181525"/>
          </a:solidFill>
          <a:ln w="12700">
            <a:solidFill>
              <a:srgbClr val="FF6B2C"/>
            </a:solidFill>
            <a:prstDash val="solid"/>
          </a:ln>
        </p:spPr>
      </p:sp>
      <p:sp>
        <p:nvSpPr>
          <p:cNvPr id="17" name="Text 15"/>
          <p:cNvSpPr/>
          <p:nvPr/>
        </p:nvSpPr>
        <p:spPr>
          <a:xfrm>
            <a:off x="4663440" y="5212080"/>
            <a:ext cx="2834640" cy="411480"/>
          </a:xfrm>
          <a:prstGeom prst="rect">
            <a:avLst/>
          </a:prstGeom>
          <a:noFill/>
          <a:ln/>
        </p:spPr>
        <p:txBody>
          <a:bodyPr wrap="square" rtlCol="0" anchor="ctr"/>
          <a:lstStyle/>
          <a:p>
            <a:pPr algn="ctr" indent="0" marL="0">
              <a:buNone/>
            </a:pPr>
            <a:r>
              <a:rPr lang="en-US" sz="1000" b="1" dirty="0">
                <a:solidFill>
                  <a:srgbClr val="FF6B2C"/>
                </a:solidFill>
                <a:latin typeface="Arial" pitchFamily="34" charset="0"/>
                <a:ea typeface="Arial" pitchFamily="34" charset="-122"/>
                <a:cs typeface="Arial" pitchFamily="34" charset="-120"/>
              </a:rPr>
              <a:t>15 CAMPUSES</a:t>
            </a:r>
            <a:endParaRPr lang="en-US" sz="1000" dirty="0"/>
          </a:p>
        </p:txBody>
      </p:sp>
      <p:sp>
        <p:nvSpPr>
          <p:cNvPr id="18" name="Shape 16"/>
          <p:cNvSpPr/>
          <p:nvPr/>
        </p:nvSpPr>
        <p:spPr>
          <a:xfrm>
            <a:off x="8046720" y="1645920"/>
            <a:ext cx="3383280" cy="4389120"/>
          </a:xfrm>
          <a:prstGeom prst="roundRect">
            <a:avLst>
              <a:gd name="adj" fmla="val 5405"/>
            </a:avLst>
          </a:prstGeom>
          <a:solidFill>
            <a:srgbClr val="14121E"/>
          </a:solidFill>
          <a:ln w="19050">
            <a:solidFill>
              <a:srgbClr val="4A3D1E"/>
            </a:solidFill>
            <a:prstDash val="solid"/>
          </a:ln>
        </p:spPr>
      </p:sp>
      <p:sp>
        <p:nvSpPr>
          <p:cNvPr id="19" name="Text 17"/>
          <p:cNvSpPr/>
          <p:nvPr/>
        </p:nvSpPr>
        <p:spPr>
          <a:xfrm>
            <a:off x="8321040" y="1920240"/>
            <a:ext cx="2834640" cy="274320"/>
          </a:xfrm>
          <a:prstGeom prst="rect">
            <a:avLst/>
          </a:prstGeom>
          <a:noFill/>
          <a:ln/>
        </p:spPr>
        <p:txBody>
          <a:bodyPr wrap="square" rtlCol="0" anchor="ctr"/>
          <a:lstStyle/>
          <a:p>
            <a:pPr indent="0" marL="0">
              <a:buNone/>
            </a:pPr>
            <a:r>
              <a:rPr lang="en-US" sz="1050" b="1" dirty="0">
                <a:solidFill>
                  <a:srgbClr val="D4AF37"/>
                </a:solidFill>
                <a:latin typeface="Courier New" pitchFamily="34" charset="0"/>
                <a:ea typeface="Courier New" pitchFamily="34" charset="-122"/>
                <a:cs typeface="Courier New" pitchFamily="34" charset="-120"/>
              </a:rPr>
              <a:t>PHASE 3 — 2027</a:t>
            </a:r>
            <a:endParaRPr lang="en-US" sz="1050" dirty="0"/>
          </a:p>
        </p:txBody>
      </p:sp>
      <p:sp>
        <p:nvSpPr>
          <p:cNvPr id="20" name="Text 18"/>
          <p:cNvSpPr/>
          <p:nvPr/>
        </p:nvSpPr>
        <p:spPr>
          <a:xfrm>
            <a:off x="8321040" y="2286000"/>
            <a:ext cx="2834640" cy="548640"/>
          </a:xfrm>
          <a:prstGeom prst="rect">
            <a:avLst/>
          </a:prstGeom>
          <a:noFill/>
          <a:ln/>
        </p:spPr>
        <p:txBody>
          <a:bodyPr wrap="square"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Statewide Standard</a:t>
            </a:r>
            <a:endParaRPr lang="en-US" sz="1900" dirty="0"/>
          </a:p>
        </p:txBody>
      </p:sp>
      <p:sp>
        <p:nvSpPr>
          <p:cNvPr id="21" name="Text 19"/>
          <p:cNvSpPr/>
          <p:nvPr/>
        </p:nvSpPr>
        <p:spPr>
          <a:xfrm>
            <a:off x="8321040" y="2926080"/>
            <a:ext cx="2834640" cy="1828800"/>
          </a:xfrm>
          <a:prstGeom prst="rect">
            <a:avLst/>
          </a:prstGeom>
          <a:noFill/>
          <a:ln/>
        </p:spPr>
        <p:txBody>
          <a:bodyPr wrap="square" rtlCol="0" anchor="ctr"/>
          <a:lstStyle/>
          <a:p>
            <a:pPr indent="0" marL="0">
              <a:lnSpc>
                <a:spcPct val="125000"/>
              </a:lnSpc>
              <a:buNone/>
            </a:pPr>
            <a:r>
              <a:rPr lang="en-US" sz="1250" dirty="0">
                <a:solidFill>
                  <a:srgbClr val="9E9EAF"/>
                </a:solidFill>
                <a:latin typeface="Arial" pitchFamily="34" charset="0"/>
                <a:ea typeface="Arial" pitchFamily="34" charset="-122"/>
                <a:cs typeface="Arial" pitchFamily="34" charset="-120"/>
              </a:rPr>
              <a:t>50+ Universities, 100,000+ active student users, AI meal recommendations, and ₹50 Lakh monthly GMV.</a:t>
            </a:r>
            <a:endParaRPr lang="en-US" sz="1250" dirty="0"/>
          </a:p>
        </p:txBody>
      </p:sp>
      <p:sp>
        <p:nvSpPr>
          <p:cNvPr id="22" name="Shape 20"/>
          <p:cNvSpPr/>
          <p:nvPr/>
        </p:nvSpPr>
        <p:spPr>
          <a:xfrm>
            <a:off x="8321040" y="5212080"/>
            <a:ext cx="2834640" cy="411480"/>
          </a:xfrm>
          <a:prstGeom prst="roundRect">
            <a:avLst>
              <a:gd name="adj" fmla="val 22222"/>
            </a:avLst>
          </a:prstGeom>
          <a:solidFill>
            <a:srgbClr val="181525"/>
          </a:solidFill>
          <a:ln w="12700">
            <a:solidFill>
              <a:srgbClr val="D4AF37"/>
            </a:solidFill>
            <a:prstDash val="solid"/>
          </a:ln>
        </p:spPr>
      </p:sp>
      <p:sp>
        <p:nvSpPr>
          <p:cNvPr id="23" name="Text 21"/>
          <p:cNvSpPr/>
          <p:nvPr/>
        </p:nvSpPr>
        <p:spPr>
          <a:xfrm>
            <a:off x="8321040" y="5212080"/>
            <a:ext cx="2834640" cy="411480"/>
          </a:xfrm>
          <a:prstGeom prst="rect">
            <a:avLst/>
          </a:prstGeom>
          <a:noFill/>
          <a:ln/>
        </p:spPr>
        <p:txBody>
          <a:bodyPr wrap="square" rtlCol="0" anchor="ctr"/>
          <a:lstStyle/>
          <a:p>
            <a:pPr algn="ctr" indent="0" marL="0">
              <a:buNone/>
            </a:pPr>
            <a:r>
              <a:rPr lang="en-US" sz="1000" b="1" dirty="0">
                <a:solidFill>
                  <a:srgbClr val="D4AF37"/>
                </a:solidFill>
                <a:latin typeface="Arial" pitchFamily="34" charset="0"/>
                <a:ea typeface="Arial" pitchFamily="34" charset="-122"/>
                <a:cs typeface="Arial" pitchFamily="34" charset="-120"/>
              </a:rPr>
              <a:t>STANDARD IN DINING</a:t>
            </a:r>
            <a:endParaRPr lang="en-US" sz="1000" dirty="0"/>
          </a:p>
        </p:txBody>
      </p:sp>
      <p:sp>
        <p:nvSpPr>
          <p:cNvPr id="24" name="Text 22"/>
          <p:cNvSpPr/>
          <p:nvPr/>
        </p:nvSpPr>
        <p:spPr>
          <a:xfrm>
            <a:off x="731520" y="6446520"/>
            <a:ext cx="5943600" cy="274320"/>
          </a:xfrm>
          <a:prstGeom prst="rect">
            <a:avLst/>
          </a:prstGeom>
          <a:noFill/>
          <a:ln/>
        </p:spPr>
        <p:txBody>
          <a:bodyPr wrap="square" rtlCol="0" anchor="ctr"/>
          <a:lstStyle/>
          <a:p>
            <a:pPr indent="0" marL="0">
              <a:buNone/>
            </a:pPr>
            <a:r>
              <a:rPr lang="en-US" sz="900" b="1" dirty="0">
                <a:solidFill>
                  <a:srgbClr val="55516E"/>
                </a:solidFill>
                <a:latin typeface="Arial" pitchFamily="34" charset="0"/>
                <a:ea typeface="Arial" pitchFamily="34" charset="-122"/>
                <a:cs typeface="Arial" pitchFamily="34" charset="-120"/>
              </a:rPr>
              <a:t>🍔 FOODLINE CAMPUS • SANJIVANI UNIVERSITY CAFE @7 PILOT</a:t>
            </a:r>
            <a:endParaRPr lang="en-US" sz="900" dirty="0"/>
          </a:p>
        </p:txBody>
      </p:sp>
      <p:sp>
        <p:nvSpPr>
          <p:cNvPr id="25" name="Text 23"/>
          <p:cNvSpPr/>
          <p:nvPr/>
        </p:nvSpPr>
        <p:spPr>
          <a:xfrm>
            <a:off x="6858000" y="6446520"/>
            <a:ext cx="4572000" cy="274320"/>
          </a:xfrm>
          <a:prstGeom prst="rect">
            <a:avLst/>
          </a:prstGeom>
          <a:noFill/>
          <a:ln/>
        </p:spPr>
        <p:txBody>
          <a:bodyPr wrap="square" rtlCol="0" anchor="ctr"/>
          <a:lstStyle/>
          <a:p>
            <a:pPr algn="r" indent="0" marL="0">
              <a:buNone/>
            </a:pPr>
            <a:r>
              <a:rPr lang="en-US" sz="900" b="1" dirty="0">
                <a:solidFill>
                  <a:srgbClr val="55516E"/>
                </a:solidFill>
                <a:latin typeface="Arial" pitchFamily="34" charset="0"/>
                <a:ea typeface="Arial" pitchFamily="34" charset="-122"/>
                <a:cs typeface="Arial" pitchFamily="34" charset="-120"/>
              </a:rPr>
              <a:t>PROPRIETARY 60-SLOT THROTTLER • 100% ONLINE DIRECTPAY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FoodLine Campus Inc. • Sanjivani University Incubator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FoodLine — Zero-Queue Campus Dining &amp; Express Pickup Ecosystem</dc:title>
  <dc:subject>Investor Pitch Deck &amp; Campus Deployment Strategy</dc:subject>
  <dc:creator>FoodLine Campus Founders</dc:creator>
  <cp:lastModifiedBy>FoodLine Campus Founders</cp:lastModifiedBy>
  <cp:revision>1</cp:revision>
  <dcterms:created xsi:type="dcterms:W3CDTF">2026-09-04T18:28:38Z</dcterms:created>
  <dcterms:modified xsi:type="dcterms:W3CDTF">2026-09-04T18:28:38Z</dcterms:modified>
</cp:coreProperties>
</file>