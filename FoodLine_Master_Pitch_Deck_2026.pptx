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e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097280"/>
            <a:ext cx="4572000" cy="475488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858000" y="1097280"/>
            <a:ext cx="4572000" cy="4754880"/>
          </a:xfrm>
          <a:prstGeom prst="roundRect">
            <a:avLst/>
          </a:prstGeom>
          <a:noFill/>
          <a:ln w="25400">
            <a:solidFill>
              <a:srgbClr val="FF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5943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6B2C"/>
                </a:solidFill>
                <a:latin typeface="Outfit"/>
              </a:defRPr>
            </a:pPr>
            <a:r>
              <a:t>STARTUP PITCH CONCEPT • CAMPUS DINING 2026–2027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9436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6B2C"/>
                </a:solidFill>
                <a:latin typeface="Outfit"/>
              </a:defRPr>
            </a:pPr>
            <a:r>
              <a:t>FoodLine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5943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5F5F7"/>
                </a:solidFill>
                <a:latin typeface="Outfit"/>
              </a:defRPr>
            </a:pPr>
            <a:r>
              <a:t>Skip the Line, Not the Meal.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63240"/>
            <a:ext cx="5760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1A1AA"/>
                </a:solidFill>
                <a:latin typeface="Segoe UI"/>
              </a:defRPr>
            </a:pPr>
            <a:r>
              <a:t>Next-Generation Campus Pre-Ordering, Smart Slot Throttling &amp; 30-Second Express Counter Collection Ecosystem for Indian Universities.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14800"/>
            <a:ext cx="2697480" cy="86868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2D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420624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F5F7"/>
                </a:solidFill>
                <a:latin typeface="Outfit"/>
              </a:defRPr>
            </a:pPr>
            <a:r>
              <a:t>📍 Target Pilot Campus</a:t>
            </a:r>
          </a:p>
          <a:p>
            <a:pPr>
              <a:defRPr sz="1050">
                <a:solidFill>
                  <a:srgbClr val="FF6B2C"/>
                </a:solidFill>
                <a:latin typeface="Segoe UI"/>
              </a:defRPr>
            </a:pPr>
            <a:r>
              <a:t>Sanjivani University (Cafe @7)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4114800"/>
            <a:ext cx="2697480" cy="86868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2D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75888" y="420624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F5F7"/>
                </a:solidFill>
                <a:latin typeface="Outfit"/>
              </a:defRPr>
            </a:pPr>
            <a:r>
              <a:t>⚡ Express Handover</a:t>
            </a:r>
          </a:p>
          <a:p>
            <a:pPr>
              <a:defRPr sz="1050">
                <a:solidFill>
                  <a:srgbClr val="A1A1AA"/>
                </a:solidFill>
                <a:latin typeface="Segoe UI"/>
              </a:defRPr>
            </a:pPr>
            <a:r>
              <a:t>30-Sec Counter QR Pass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120640"/>
            <a:ext cx="2697480" cy="86868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2D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521208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F5F7"/>
                </a:solidFill>
                <a:latin typeface="Outfit"/>
              </a:defRPr>
            </a:pPr>
            <a:r>
              <a:t>💰 0% UPI PG Fees</a:t>
            </a:r>
          </a:p>
          <a:p>
            <a:pPr>
              <a:defRPr sz="1050">
                <a:solidFill>
                  <a:srgbClr val="A1A1AA"/>
                </a:solidFill>
                <a:latin typeface="Segoe UI"/>
              </a:defRPr>
            </a:pPr>
            <a:r>
              <a:t>Direct Merchant UTR Engine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66160" y="5120640"/>
            <a:ext cx="2697480" cy="86868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2D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5888" y="521208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F5F7"/>
                </a:solidFill>
                <a:latin typeface="Outfit"/>
              </a:defRPr>
            </a:pPr>
            <a:r>
              <a:t>📡 Real-Time SSE</a:t>
            </a:r>
          </a:p>
          <a:p>
            <a:pPr>
              <a:defRPr sz="1050">
                <a:solidFill>
                  <a:srgbClr val="A1A1AA"/>
                </a:solidFill>
                <a:latin typeface="Segoe UI"/>
              </a:defRPr>
            </a:pPr>
            <a:r>
              <a:t>Zero-Refresh Live Tracking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6B2C"/>
                </a:solidFill>
                <a:latin typeface="Outfit"/>
              </a:defRPr>
            </a:pPr>
            <a: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5F5F7"/>
                </a:solidFill>
                <a:latin typeface="Outfit"/>
              </a:defRPr>
            </a:pPr>
            <a:r>
              <a:t>The Collegiate Break Bottleneck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1A1AA"/>
                </a:solidFill>
                <a:latin typeface="Segoe UI"/>
              </a:defRPr>
            </a:pPr>
            <a:r>
              <a:t>Why 4.65 million college students across Maharashtra lose valuable break time daily.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3474720" cy="329184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2D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3108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F5F7"/>
                </a:solidFill>
                <a:latin typeface="Outfit"/>
              </a:defRPr>
            </a:pPr>
            <a:r>
              <a:t>⏳  40% Break Time Lost</a:t>
            </a:r>
          </a:p>
          <a:p>
            <a:pPr>
              <a:spcBef>
                <a:spcPts val="1000"/>
              </a:spcBef>
              <a:defRPr sz="1200">
                <a:solidFill>
                  <a:srgbClr val="A1A1AA"/>
                </a:solidFill>
                <a:latin typeface="Segoe UI"/>
              </a:defRPr>
            </a:pPr>
            <a:r>
              <a:t>Short 30-minute campus breaks are crushed by 10–15 minute billing queues before food preparation even begins. Students spend more time waiting than eating.</a:t>
            </a:r>
          </a:p>
          <a:p>
            <a:pPr>
              <a:spcBef>
                <a:spcPts val="1400"/>
              </a:spcBef>
              <a:defRPr sz="1050" b="1">
                <a:solidFill>
                  <a:srgbClr val="FF6B2C"/>
                </a:solidFill>
                <a:latin typeface="Outfit"/>
              </a:defRPr>
            </a:pPr>
            <a:r>
              <a:t>📌 14.5 min avg wait | 20 min meal window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828800"/>
            <a:ext cx="3474720" cy="329184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2D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2011680"/>
            <a:ext cx="3108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F5F7"/>
                </a:solidFill>
                <a:latin typeface="Outfit"/>
              </a:defRPr>
            </a:pPr>
            <a:r>
              <a:t>🍳  Kitchen Rush Chaos</a:t>
            </a:r>
          </a:p>
          <a:p>
            <a:pPr>
              <a:spcBef>
                <a:spcPts val="1000"/>
              </a:spcBef>
              <a:defRPr sz="1200">
                <a:solidFill>
                  <a:srgbClr val="A1A1AA"/>
                </a:solidFill>
                <a:latin typeface="Segoe UI"/>
              </a:defRPr>
            </a:pPr>
            <a:r>
              <a:t>Canteen operators face uncoordinated demand spikes, leading to kitchen bottlenecks, food wastage, or stockouts — with no visibility into upcoming demand.</a:t>
            </a:r>
          </a:p>
          <a:p>
            <a:pPr>
              <a:spcBef>
                <a:spcPts val="1400"/>
              </a:spcBef>
              <a:defRPr sz="1050" b="1">
                <a:solidFill>
                  <a:srgbClr val="FF6B2C"/>
                </a:solidFill>
                <a:latin typeface="Outfit"/>
              </a:defRPr>
            </a:pPr>
            <a:r>
              <a:t>📌 Unpredictable spikes | 35% revenue loss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1828800"/>
            <a:ext cx="3474720" cy="329184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2D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2011680"/>
            <a:ext cx="3108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F5F7"/>
                </a:solidFill>
                <a:latin typeface="Outfit"/>
              </a:defRPr>
            </a:pPr>
            <a:r>
              <a:t>💰  Payment &amp; Cash Friction</a:t>
            </a:r>
          </a:p>
          <a:p>
            <a:pPr>
              <a:spcBef>
                <a:spcPts val="1000"/>
              </a:spcBef>
              <a:defRPr sz="1200">
                <a:solidFill>
                  <a:srgbClr val="A1A1AA"/>
                </a:solidFill>
                <a:latin typeface="Segoe UI"/>
              </a:defRPr>
            </a:pPr>
            <a:r>
              <a:t>Cash change delays, offline token slips, and high 2% payment gateway fees eat into fragile canteen operating margins on ₹20–50 items.</a:t>
            </a:r>
          </a:p>
          <a:p>
            <a:pPr>
              <a:spcBef>
                <a:spcPts val="1400"/>
              </a:spcBef>
              <a:defRPr sz="1050" b="1">
                <a:solidFill>
                  <a:srgbClr val="FF6B2C"/>
                </a:solidFill>
                <a:latin typeface="Outfit"/>
              </a:defRPr>
            </a:pPr>
            <a:r>
              <a:t>📌 2% PG fees | Cash bottleneck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303520"/>
            <a:ext cx="10698480" cy="1005840"/>
          </a:xfrm>
          <a:prstGeom prst="roundRect">
            <a:avLst/>
          </a:prstGeom>
          <a:solidFill>
            <a:srgbClr val="191419"/>
          </a:solidFill>
          <a:ln w="12700">
            <a:solidFill>
              <a:srgbClr val="FF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3492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6B2C"/>
                </a:solidFill>
                <a:latin typeface="Outfit"/>
              </a:defRPr>
            </a:pPr>
            <a:r>
              <a:t>📊 KEY METRIC</a:t>
            </a:r>
          </a:p>
          <a:p>
            <a:pPr>
              <a:defRPr sz="1150">
                <a:solidFill>
                  <a:srgbClr val="F5F5F7"/>
                </a:solidFill>
                <a:latin typeface="Segoe UI"/>
              </a:defRPr>
            </a:pPr>
            <a:r>
              <a:t>Average student spends 14.5 minutes in line for a 20-minute meal window. Result: Students skip meals, arrive late to lectures, and campus food vendors lose over 35% of potential daily turnover.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6B2C"/>
                </a:solidFill>
                <a:latin typeface="Outfit"/>
              </a:defRPr>
            </a:pPr>
            <a:r>
              <a:t>PRODUCT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5F5F7"/>
                </a:solidFill>
                <a:latin typeface="Outfit"/>
              </a:defRPr>
            </a:pPr>
            <a:r>
              <a:t>The FoodLine Campus Dining Ecosystem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1A1AA"/>
                </a:solidFill>
                <a:latin typeface="Segoe UI"/>
              </a:defRPr>
            </a:pPr>
            <a:r>
              <a:t>Four interconnected pillars designed for sub-second collegiate dining efficiency.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20240"/>
            <a:ext cx="2560320" cy="420624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2D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2194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/>
            </a:pPr>
            <a:r>
              <a:t>📱</a:t>
            </a:r>
          </a:p>
          <a:p>
            <a:pPr>
              <a:spcBef>
                <a:spcPts val="800"/>
              </a:spcBef>
              <a:defRPr sz="1400" b="1">
                <a:solidFill>
                  <a:srgbClr val="F5F5F7"/>
                </a:solidFill>
                <a:latin typeface="Outfit"/>
              </a:defRPr>
            </a:pPr>
            <a:r>
              <a:t>1. Browse &amp; Order Ahead</a:t>
            </a:r>
          </a:p>
          <a:p>
            <a:pPr>
              <a:spcBef>
                <a:spcPts val="800"/>
              </a:spcBef>
              <a:defRPr sz="1100">
                <a:solidFill>
                  <a:srgbClr val="A1A1AA"/>
                </a:solidFill>
                <a:latin typeface="Segoe UI"/>
              </a:defRPr>
            </a:pPr>
            <a:r>
              <a:t>Students browse real-time canteen menus and customize meals directly from classrooms before break bells ring.</a:t>
            </a:r>
          </a:p>
          <a:p>
            <a:pPr>
              <a:spcBef>
                <a:spcPts val="1400"/>
              </a:spcBef>
              <a:defRPr sz="1000" b="1">
                <a:solidFill>
                  <a:srgbClr val="00D4AA"/>
                </a:solidFill>
                <a:latin typeface="Outfit"/>
              </a:defRPr>
            </a:pPr>
            <a:r>
              <a:t>✔ Cloud Sync  ✔ Frictionless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920240"/>
            <a:ext cx="2560320" cy="420624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2D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80" y="2103120"/>
            <a:ext cx="2194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/>
            </a:pPr>
            <a:r>
              <a:t>🎯</a:t>
            </a:r>
          </a:p>
          <a:p>
            <a:pPr>
              <a:spcBef>
                <a:spcPts val="800"/>
              </a:spcBef>
              <a:defRPr sz="1400" b="1">
                <a:solidFill>
                  <a:srgbClr val="F5F5F7"/>
                </a:solidFill>
                <a:latin typeface="Outfit"/>
              </a:defRPr>
            </a:pPr>
            <a:r>
              <a:t>2. Smart Slot Throttling</a:t>
            </a:r>
          </a:p>
          <a:p>
            <a:pPr>
              <a:spcBef>
                <a:spcPts val="800"/>
              </a:spcBef>
              <a:defRPr sz="1100">
                <a:solidFill>
                  <a:srgbClr val="A1A1AA"/>
                </a:solidFill>
                <a:latin typeface="Segoe UI"/>
              </a:defRPr>
            </a:pPr>
            <a:r>
              <a:t>10-minute dynamic break slots balance kitchen load and eliminate rush-hour batching delays.</a:t>
            </a:r>
          </a:p>
          <a:p>
            <a:pPr>
              <a:spcBef>
                <a:spcPts val="1400"/>
              </a:spcBef>
              <a:defRPr sz="1000" b="1">
                <a:solidFill>
                  <a:srgbClr val="00D4AA"/>
                </a:solidFill>
                <a:latin typeface="Outfit"/>
              </a:defRPr>
            </a:pPr>
            <a:r>
              <a:t>✔ Load Balance  ✔ Auto-Slots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920240"/>
            <a:ext cx="2560320" cy="420624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2D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2103120"/>
            <a:ext cx="2194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/>
            </a:pPr>
            <a:r>
              <a:t>🔐</a:t>
            </a:r>
          </a:p>
          <a:p>
            <a:pPr>
              <a:spcBef>
                <a:spcPts val="800"/>
              </a:spcBef>
              <a:defRPr sz="1400" b="1">
                <a:solidFill>
                  <a:srgbClr val="F5F5F7"/>
                </a:solidFill>
                <a:latin typeface="Outfit"/>
              </a:defRPr>
            </a:pPr>
            <a:r>
              <a:t>3. 0% Fee UPI QR (Option C)</a:t>
            </a:r>
          </a:p>
          <a:p>
            <a:pPr>
              <a:spcBef>
                <a:spcPts val="800"/>
              </a:spcBef>
              <a:defRPr sz="1100">
                <a:solidFill>
                  <a:srgbClr val="A1A1AA"/>
                </a:solidFill>
                <a:latin typeface="Segoe UI"/>
              </a:defRPr>
            </a:pPr>
            <a:r>
              <a:t>Direct vendor UPI scanning + 12-digit UTR validation eliminates payment gateway fees completely.</a:t>
            </a:r>
          </a:p>
          <a:p>
            <a:pPr>
              <a:spcBef>
                <a:spcPts val="1400"/>
              </a:spcBef>
              <a:defRPr sz="1000" b="1">
                <a:solidFill>
                  <a:srgbClr val="00D4AA"/>
                </a:solidFill>
                <a:latin typeface="Outfit"/>
              </a:defRPr>
            </a:pPr>
            <a:r>
              <a:t>✔ Zero Fees  ✔ Direct UTR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23960" y="1920240"/>
            <a:ext cx="2560320" cy="420624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2D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06840" y="2103120"/>
            <a:ext cx="2194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/>
            </a:pPr>
            <a:r>
              <a:t>🚀</a:t>
            </a:r>
          </a:p>
          <a:p>
            <a:pPr>
              <a:spcBef>
                <a:spcPts val="800"/>
              </a:spcBef>
              <a:defRPr sz="1400" b="1">
                <a:solidFill>
                  <a:srgbClr val="F5F5F7"/>
                </a:solidFill>
                <a:latin typeface="Outfit"/>
              </a:defRPr>
            </a:pPr>
            <a:r>
              <a:t>4. 30-Sec Express Handover</a:t>
            </a:r>
          </a:p>
          <a:p>
            <a:pPr>
              <a:spcBef>
                <a:spcPts val="800"/>
              </a:spcBef>
              <a:defRPr sz="1100">
                <a:solidFill>
                  <a:srgbClr val="A1A1AA"/>
                </a:solidFill>
                <a:latin typeface="Segoe UI"/>
              </a:defRPr>
            </a:pPr>
            <a:r>
              <a:t>High-contrast dynamic optical QR pass and 4-digit token verification at the dedicated FoodLine counter.</a:t>
            </a:r>
          </a:p>
          <a:p>
            <a:pPr>
              <a:spcBef>
                <a:spcPts val="1400"/>
              </a:spcBef>
              <a:defRPr sz="1000" b="1">
                <a:solidFill>
                  <a:srgbClr val="00D4AA"/>
                </a:solidFill>
                <a:latin typeface="Outfit"/>
              </a:defRPr>
            </a:pPr>
            <a:r>
              <a:t>✔ QR Pass  ✔ 30-Sec Pickup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6B2C"/>
                </a:solidFill>
                <a:latin typeface="Outfit"/>
              </a:defRPr>
            </a:pPr>
            <a:r>
              <a:t>FLAGSHIP PILOT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5F5F7"/>
                </a:solidFill>
                <a:latin typeface="Outfit"/>
              </a:defRPr>
            </a:pPr>
            <a:r>
              <a:t>Target Launch: Sanjivani University, Kopargaon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1A1AA"/>
                </a:solidFill>
                <a:latin typeface="Segoe UI"/>
              </a:defRPr>
            </a:pPr>
            <a:r>
              <a:t>Proposed deployment model at Cafe @7 designed around actual campus schedule and seed menu.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5212080" cy="438912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2D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F5F7"/>
                </a:solidFill>
                <a:latin typeface="Outfit"/>
              </a:defRPr>
            </a:pPr>
            <a:r>
              <a:t>🏫 Planned Pilot Campus &amp; Outlet</a:t>
            </a:r>
          </a:p>
          <a:p>
            <a:pPr>
              <a:spcBef>
                <a:spcPts val="600"/>
              </a:spcBef>
              <a:defRPr sz="1200">
                <a:solidFill>
                  <a:srgbClr val="A1A1AA"/>
                </a:solidFill>
                <a:latin typeface="Segoe UI"/>
              </a:defRPr>
            </a:pPr>
            <a:r>
              <a:t>University: Sanjivani University, Kopargaon (MH)</a:t>
            </a:r>
          </a:p>
          <a:p>
            <a:pPr>
              <a:spcBef>
                <a:spcPts val="600"/>
              </a:spcBef>
              <a:defRPr sz="1200">
                <a:solidFill>
                  <a:srgbClr val="A1A1AA"/>
                </a:solidFill>
                <a:latin typeface="Segoe UI"/>
              </a:defRPr>
            </a:pPr>
            <a:r>
              <a:t>Anchor Outlet: Cafe @7 (Main Campus Cafeteria)</a:t>
            </a:r>
          </a:p>
          <a:p>
            <a:pPr>
              <a:spcBef>
                <a:spcPts val="600"/>
              </a:spcBef>
              <a:defRPr sz="1200">
                <a:solidFill>
                  <a:srgbClr val="A1A1AA"/>
                </a:solidFill>
                <a:latin typeface="Segoe UI"/>
              </a:defRPr>
            </a:pPr>
            <a:r>
              <a:t>Merchant UPI: Direct Merchant Standee QR (Option C)</a:t>
            </a:r>
          </a:p>
          <a:p>
            <a:pPr>
              <a:spcBef>
                <a:spcPts val="600"/>
              </a:spcBef>
              <a:defRPr sz="1200">
                <a:solidFill>
                  <a:srgbClr val="FF6B2C"/>
                </a:solidFill>
                <a:latin typeface="Segoe UI"/>
              </a:defRPr>
            </a:pPr>
            <a:r>
              <a:t>Break 1 (Lunch): 11:50 AM – 12:30 PM (40 mins)</a:t>
            </a:r>
          </a:p>
          <a:p>
            <a:pPr>
              <a:spcBef>
                <a:spcPts val="600"/>
              </a:spcBef>
              <a:defRPr sz="1200">
                <a:solidFill>
                  <a:srgbClr val="FF6B2C"/>
                </a:solidFill>
                <a:latin typeface="Segoe UI"/>
              </a:defRPr>
            </a:pPr>
            <a:r>
              <a:t>  • Slot A: 11:50 AM – 12:10 PM</a:t>
            </a:r>
          </a:p>
          <a:p>
            <a:pPr>
              <a:spcBef>
                <a:spcPts val="600"/>
              </a:spcBef>
              <a:defRPr sz="1200">
                <a:solidFill>
                  <a:srgbClr val="FF6B2C"/>
                </a:solidFill>
                <a:latin typeface="Segoe UI"/>
              </a:defRPr>
            </a:pPr>
            <a:r>
              <a:t>  • Slot B: 12:10 PM – 12:30 PM</a:t>
            </a:r>
          </a:p>
          <a:p>
            <a:pPr>
              <a:spcBef>
                <a:spcPts val="600"/>
              </a:spcBef>
              <a:defRPr sz="1200">
                <a:solidFill>
                  <a:srgbClr val="FF6B2C"/>
                </a:solidFill>
                <a:latin typeface="Segoe UI"/>
              </a:defRPr>
            </a:pPr>
            <a:r>
              <a:t>Break 2 (Evening): 2:30 PM – 2:50 PM (20 mins)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212080" cy="438912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2D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F5F7"/>
                </a:solidFill>
                <a:latin typeface="Outfit"/>
              </a:defRPr>
            </a:pPr>
            <a:r>
              <a:t>🍽️ Cafe @7 Verified Menu Highlights</a:t>
            </a:r>
          </a:p>
          <a:p>
            <a:pPr>
              <a:spcBef>
                <a:spcPts val="500"/>
              </a:spcBef>
              <a:defRPr sz="1150">
                <a:solidFill>
                  <a:srgbClr val="F5F5F7"/>
                </a:solidFill>
                <a:latin typeface="Segoe UI"/>
              </a:defRPr>
            </a:pPr>
            <a:r>
              <a:t>• Vada Pav / Dabeli / Samosa  [Fast Grab]  —  ₹20</a:t>
            </a:r>
          </a:p>
          <a:p>
            <a:pPr>
              <a:spcBef>
                <a:spcPts val="500"/>
              </a:spcBef>
              <a:defRPr sz="1150">
                <a:solidFill>
                  <a:srgbClr val="F5F5F7"/>
                </a:solidFill>
                <a:latin typeface="Segoe UI"/>
              </a:defRPr>
            </a:pPr>
            <a:r>
              <a:t>• Special Campus Tea  [Hot Fuel]  —  ₹10</a:t>
            </a:r>
          </a:p>
          <a:p>
            <a:pPr>
              <a:spcBef>
                <a:spcPts val="500"/>
              </a:spcBef>
              <a:defRPr sz="1150">
                <a:solidFill>
                  <a:srgbClr val="F5F5F7"/>
                </a:solidFill>
                <a:latin typeface="Segoe UI"/>
              </a:defRPr>
            </a:pPr>
            <a:r>
              <a:t>• Crispy Masala Dosa  [Bestseller]  —  ₹50</a:t>
            </a:r>
          </a:p>
          <a:p>
            <a:pPr>
              <a:spcBef>
                <a:spcPts val="500"/>
              </a:spcBef>
              <a:defRPr sz="1150">
                <a:solidFill>
                  <a:srgbClr val="F5F5F7"/>
                </a:solidFill>
                <a:latin typeface="Segoe UI"/>
              </a:defRPr>
            </a:pPr>
            <a:r>
              <a:t>• Thick Iced Cold Coffee  [Student Fav]  —  ₹50</a:t>
            </a:r>
          </a:p>
          <a:p>
            <a:pPr>
              <a:spcBef>
                <a:spcPts val="500"/>
              </a:spcBef>
              <a:defRPr sz="1150">
                <a:solidFill>
                  <a:srgbClr val="F5F5F7"/>
                </a:solidFill>
                <a:latin typeface="Segoe UI"/>
              </a:defRPr>
            </a:pPr>
            <a:r>
              <a:t>• Veg. Cheese Grill Sandwich  [Hot Grill]  —  ₹100</a:t>
            </a:r>
          </a:p>
          <a:p>
            <a:pPr>
              <a:spcBef>
                <a:spcPts val="500"/>
              </a:spcBef>
              <a:defRPr sz="1150">
                <a:solidFill>
                  <a:srgbClr val="F5F5F7"/>
                </a:solidFill>
                <a:latin typeface="Segoe UI"/>
              </a:defRPr>
            </a:pPr>
            <a:r>
              <a:t>• Peri Peri French Fries  [Snack Fav]  —  ₹80</a:t>
            </a:r>
          </a:p>
          <a:p>
            <a:pPr>
              <a:spcBef>
                <a:spcPts val="500"/>
              </a:spcBef>
              <a:defRPr sz="1150">
                <a:solidFill>
                  <a:srgbClr val="F5F5F7"/>
                </a:solidFill>
                <a:latin typeface="Segoe UI"/>
              </a:defRPr>
            </a:pPr>
            <a:r>
              <a:t>• Veg Fried Momo  [Hot Momo]  —  ₹70</a:t>
            </a:r>
          </a:p>
          <a:p>
            <a:pPr>
              <a:spcBef>
                <a:spcPts val="500"/>
              </a:spcBef>
              <a:defRPr sz="1150">
                <a:solidFill>
                  <a:srgbClr val="F5F5F7"/>
                </a:solidFill>
                <a:latin typeface="Segoe UI"/>
              </a:defRPr>
            </a:pPr>
            <a:r>
              <a:t>• KitKat / Oreo Thick Shake  [Shake]  —  ₹90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6B2C"/>
                </a:solidFill>
                <a:latin typeface="Outfit"/>
              </a:defRPr>
            </a:pPr>
            <a:r>
              <a:t>PAYMENT INNOVATION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5F5F7"/>
                </a:solidFill>
                <a:latin typeface="Outfit"/>
              </a:defRPr>
            </a:pPr>
            <a:r>
              <a:t>Option C: Zero-Fee UPI &amp; UTR Verification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1A1AA"/>
                </a:solidFill>
                <a:latin typeface="Segoe UI"/>
              </a:defRPr>
            </a:pPr>
            <a:r>
              <a:t>Solving the micro-transaction dilemma: 0% payment gateway fees on ₹20 campus items.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2560320" cy="329184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2D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993392"/>
            <a:ext cx="2231136" cy="2962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D4AA"/>
                </a:solidFill>
                <a:latin typeface="Outfit"/>
              </a:defRPr>
            </a:pPr>
            <a:r>
              <a:t>Step 1 • 📱</a:t>
            </a:r>
          </a:p>
          <a:p>
            <a:pPr>
              <a:spcBef>
                <a:spcPts val="800"/>
              </a:spcBef>
              <a:defRPr sz="1400" b="1">
                <a:solidFill>
                  <a:srgbClr val="F5F5F7"/>
                </a:solidFill>
                <a:latin typeface="Outfit"/>
              </a:defRPr>
            </a:pPr>
            <a:r>
              <a:t>Scan Standee QR</a:t>
            </a:r>
          </a:p>
          <a:p>
            <a:pPr>
              <a:spcBef>
                <a:spcPts val="800"/>
              </a:spcBef>
              <a:defRPr sz="1100">
                <a:solidFill>
                  <a:srgbClr val="A1A1AA"/>
                </a:solidFill>
                <a:latin typeface="Segoe UI"/>
              </a:defRPr>
            </a:pPr>
            <a:r>
              <a:t>Student views Cafe @7 UPI QR Standee image and UPI ID displayed in the FoodLine app.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828800"/>
            <a:ext cx="2560320" cy="329184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2D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93592" y="1993392"/>
            <a:ext cx="2231136" cy="2962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D4AA"/>
                </a:solidFill>
                <a:latin typeface="Outfit"/>
              </a:defRPr>
            </a:pPr>
            <a:r>
              <a:t>Step 2 • ⚡</a:t>
            </a:r>
          </a:p>
          <a:p>
            <a:pPr>
              <a:spcBef>
                <a:spcPts val="800"/>
              </a:spcBef>
              <a:defRPr sz="1400" b="1">
                <a:solidFill>
                  <a:srgbClr val="F5F5F7"/>
                </a:solidFill>
                <a:latin typeface="Outfit"/>
              </a:defRPr>
            </a:pPr>
            <a:r>
              <a:t>Pay via Any UPI App</a:t>
            </a:r>
          </a:p>
          <a:p>
            <a:pPr>
              <a:spcBef>
                <a:spcPts val="800"/>
              </a:spcBef>
              <a:defRPr sz="1100">
                <a:solidFill>
                  <a:srgbClr val="A1A1AA"/>
                </a:solidFill>
                <a:latin typeface="Segoe UI"/>
              </a:defRPr>
            </a:pPr>
            <a:r>
              <a:t>Pays exact total directly via GPay, PhonePe, Paytm, or CRED with zero platform fees.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828800"/>
            <a:ext cx="2560320" cy="329184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2D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1072" y="1993392"/>
            <a:ext cx="2231136" cy="2962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D4AA"/>
                </a:solidFill>
                <a:latin typeface="Outfit"/>
              </a:defRPr>
            </a:pPr>
            <a:r>
              <a:t>Step 3 • 🔑</a:t>
            </a:r>
          </a:p>
          <a:p>
            <a:pPr>
              <a:spcBef>
                <a:spcPts val="800"/>
              </a:spcBef>
              <a:defRPr sz="1400" b="1">
                <a:solidFill>
                  <a:srgbClr val="F5F5F7"/>
                </a:solidFill>
                <a:latin typeface="Outfit"/>
              </a:defRPr>
            </a:pPr>
            <a:r>
              <a:t>Submit 12-Digit UTR</a:t>
            </a:r>
          </a:p>
          <a:p>
            <a:pPr>
              <a:spcBef>
                <a:spcPts val="800"/>
              </a:spcBef>
              <a:defRPr sz="1100">
                <a:solidFill>
                  <a:srgbClr val="A1A1AA"/>
                </a:solidFill>
                <a:latin typeface="Segoe UI"/>
              </a:defRPr>
            </a:pPr>
            <a:r>
              <a:t>Inputs bank UTR reference number into FoodLine verification modal for real-time validation.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23960" y="1828800"/>
            <a:ext cx="2560320" cy="329184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2D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88552" y="1993392"/>
            <a:ext cx="2231136" cy="2962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D4AA"/>
                </a:solidFill>
                <a:latin typeface="Outfit"/>
              </a:defRPr>
            </a:pPr>
            <a:r>
              <a:t>Step 4 • 🎟️</a:t>
            </a:r>
          </a:p>
          <a:p>
            <a:pPr>
              <a:spcBef>
                <a:spcPts val="800"/>
              </a:spcBef>
              <a:defRPr sz="1400" b="1">
                <a:solidFill>
                  <a:srgbClr val="F5F5F7"/>
                </a:solidFill>
                <a:latin typeface="Outfit"/>
              </a:defRPr>
            </a:pPr>
            <a:r>
              <a:t>Generate Token &amp; Pass</a:t>
            </a:r>
          </a:p>
          <a:p>
            <a:pPr>
              <a:spcBef>
                <a:spcPts val="800"/>
              </a:spcBef>
              <a:defRPr sz="1100">
                <a:solidFill>
                  <a:srgbClr val="A1A1AA"/>
                </a:solidFill>
                <a:latin typeface="Segoe UI"/>
              </a:defRPr>
            </a:pPr>
            <a:r>
              <a:t>Backend validates uniqueness, prevents replay, and issues verified digital token #FL-XXXX.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303520"/>
            <a:ext cx="10698480" cy="1005840"/>
          </a:xfrm>
          <a:prstGeom prst="roundRect">
            <a:avLst/>
          </a:prstGeom>
          <a:solidFill>
            <a:srgbClr val="141E19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3492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4AA"/>
                </a:solidFill>
                <a:latin typeface="Outfit"/>
              </a:defRPr>
            </a:pPr>
            <a:r>
              <a:t>🏆 WHY OPTION C WINS ON CAMPUS</a:t>
            </a:r>
          </a:p>
          <a:p>
            <a:pPr>
              <a:defRPr sz="1150">
                <a:solidFill>
                  <a:srgbClr val="F5F5F7"/>
                </a:solidFill>
                <a:latin typeface="Segoe UI"/>
              </a:defRPr>
            </a:pPr>
            <a:r>
              <a:t>Traditional Razorpay/Paytm PG charges 2.0% + GST per transaction — unfeasible for low ticket ₹20–50 canteen items. Option C ensures 100% merchant payout directly to the canteen's bank account with zero intermediary commissions.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6B2C"/>
                </a:solidFill>
                <a:latin typeface="Outfit"/>
              </a:defRPr>
            </a:pPr>
            <a:r>
              <a:t>KITCHEN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5F5F7"/>
                </a:solidFill>
                <a:latin typeface="Outfit"/>
              </a:defRPr>
            </a:pPr>
            <a:r>
              <a:t>Kitchen Display System (KDS) &amp; Real-Time Sync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1A1AA"/>
                </a:solidFill>
                <a:latin typeface="Segoe UI"/>
              </a:defRPr>
            </a:pPr>
            <a:r>
              <a:t>Empowering cafeteria cooks with automated batch forecasting and real-time handovers.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20240"/>
            <a:ext cx="5257800" cy="201168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2D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4892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F5F7"/>
                </a:solidFill>
                <a:latin typeface="Outfit"/>
              </a:defRPr>
            </a:pPr>
            <a:r>
              <a:t>📈  Smart Slot Batching</a:t>
            </a:r>
          </a:p>
          <a:p>
            <a:pPr>
              <a:spcBef>
                <a:spcPts val="800"/>
              </a:spcBef>
              <a:defRPr sz="1200">
                <a:solidFill>
                  <a:srgbClr val="A1A1AA"/>
                </a:solidFill>
                <a:latin typeface="Segoe UI"/>
              </a:defRPr>
            </a:pPr>
            <a:r>
              <a:t>Groups incoming orders by upcoming 10-minute break slots so kitchen staff can batch-cook (e.g., 15 Dosas for 11:50 AM). Reduces waste and prep chaos.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920240"/>
            <a:ext cx="5257800" cy="201168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2D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2103120"/>
            <a:ext cx="4892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F5F7"/>
                </a:solidFill>
                <a:latin typeface="Outfit"/>
              </a:defRPr>
            </a:pPr>
            <a:r>
              <a:t>📡  Server-Sent Events (SSE)</a:t>
            </a:r>
          </a:p>
          <a:p>
            <a:pPr>
              <a:spcBef>
                <a:spcPts val="800"/>
              </a:spcBef>
              <a:defRPr sz="1200">
                <a:solidFill>
                  <a:srgbClr val="A1A1AA"/>
                </a:solidFill>
                <a:latin typeface="Segoe UI"/>
              </a:defRPr>
            </a:pPr>
            <a:r>
              <a:t>Real-time bi-directional pipeline updates order status from PREPARING → READY with zero screen refreshes. Students see live progress.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14800"/>
            <a:ext cx="5257800" cy="201168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2D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297680"/>
            <a:ext cx="4892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F5F7"/>
                </a:solidFill>
                <a:latin typeface="Outfit"/>
              </a:defRPr>
            </a:pPr>
            <a:r>
              <a:t>📷  Optical QR Handover</a:t>
            </a:r>
          </a:p>
          <a:p>
            <a:pPr>
              <a:spcBef>
                <a:spcPts val="800"/>
              </a:spcBef>
              <a:defRPr sz="1200">
                <a:solidFill>
                  <a:srgbClr val="A1A1AA"/>
                </a:solidFill>
                <a:latin typeface="Segoe UI"/>
              </a:defRPr>
            </a:pPr>
            <a:r>
              <a:t>Express counter staff scan student digital QR code or enter 4-digit PIN for sub-30-second meal handovers. No paper tokens needed.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4114800"/>
            <a:ext cx="5257800" cy="201168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2D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4297680"/>
            <a:ext cx="4892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F5F7"/>
                </a:solidFill>
                <a:latin typeface="Outfit"/>
              </a:defRPr>
            </a:pPr>
            <a:r>
              <a:t>📦  Instant Inventory Toggle</a:t>
            </a:r>
          </a:p>
          <a:p>
            <a:pPr>
              <a:spcBef>
                <a:spcPts val="800"/>
              </a:spcBef>
              <a:defRPr sz="1200">
                <a:solidFill>
                  <a:srgbClr val="A1A1AA"/>
                </a:solidFill>
                <a:latin typeface="Segoe UI"/>
              </a:defRPr>
            </a:pPr>
            <a:r>
              <a:t>1-tap out-of-stock switcher prevents students from ordering sold-out dishes during sudden surges. Real-time menu sync across all devices.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6B2C"/>
                </a:solidFill>
                <a:latin typeface="Outfit"/>
              </a:defRPr>
            </a:pPr>
            <a:r>
              <a:t>MARKET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5F5F7"/>
                </a:solidFill>
                <a:latin typeface="Outfit"/>
              </a:defRPr>
            </a:pPr>
            <a:r>
              <a:t>Collegiate Foodservice Market in India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1A1AA"/>
                </a:solidFill>
                <a:latin typeface="Segoe UI"/>
              </a:defRPr>
            </a:pPr>
            <a:r>
              <a:t>Massive unorganized campus dining market ready for digital transformation.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20240"/>
            <a:ext cx="3474720" cy="438912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2D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3108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6B2C"/>
                </a:solidFill>
                <a:latin typeface="Outfit"/>
              </a:defRPr>
            </a:pPr>
            <a:r>
              <a:t>₹18,000+ Cr</a:t>
            </a:r>
          </a:p>
          <a:p>
            <a:pPr>
              <a:spcBef>
                <a:spcPts val="1000"/>
              </a:spcBef>
              <a:defRPr sz="1300" b="1">
                <a:solidFill>
                  <a:srgbClr val="F5F5F7"/>
                </a:solidFill>
                <a:latin typeface="Outfit"/>
              </a:defRPr>
            </a:pPr>
            <a:r>
              <a:t>TAM — Total Addressable Market</a:t>
            </a:r>
          </a:p>
          <a:p>
            <a:pPr>
              <a:spcBef>
                <a:spcPts val="1000"/>
              </a:spcBef>
              <a:defRPr sz="1200">
                <a:solidFill>
                  <a:srgbClr val="A1A1AA"/>
                </a:solidFill>
                <a:latin typeface="Segoe UI"/>
              </a:defRPr>
            </a:pPr>
            <a:r>
              <a:t>45,000+ colleges across India with on-campus cafeterias and dining halls serving over 40 million students annually.</a:t>
            </a:r>
          </a:p>
          <a:p>
            <a:pPr>
              <a:spcBef>
                <a:spcPts val="1600"/>
              </a:spcBef>
              <a:defRPr sz="1050" b="1">
                <a:solidFill>
                  <a:srgbClr val="FFB347"/>
                </a:solidFill>
                <a:latin typeface="Outfit"/>
              </a:defRPr>
            </a:pPr>
            <a:r>
              <a:t>🚀 $2.2 Billion Market | 45K+ Colleges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920240"/>
            <a:ext cx="3474720" cy="438912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2D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2194560"/>
            <a:ext cx="3108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6B2C"/>
                </a:solidFill>
                <a:latin typeface="Outfit"/>
              </a:defRPr>
            </a:pPr>
            <a:r>
              <a:t>₹2,400 Cr</a:t>
            </a:r>
          </a:p>
          <a:p>
            <a:pPr>
              <a:spcBef>
                <a:spcPts val="1000"/>
              </a:spcBef>
              <a:defRPr sz="1300" b="1">
                <a:solidFill>
                  <a:srgbClr val="F5F5F7"/>
                </a:solidFill>
                <a:latin typeface="Outfit"/>
              </a:defRPr>
            </a:pPr>
            <a:r>
              <a:t>SAM — Serviceable Addressable</a:t>
            </a:r>
          </a:p>
          <a:p>
            <a:pPr>
              <a:spcBef>
                <a:spcPts val="1000"/>
              </a:spcBef>
              <a:defRPr sz="1200">
                <a:solidFill>
                  <a:srgbClr val="A1A1AA"/>
                </a:solidFill>
                <a:latin typeface="Segoe UI"/>
              </a:defRPr>
            </a:pPr>
            <a:r>
              <a:t>5,380 colleges &amp; universities in Maharashtra with 46.5 Lakh (4.65M) enrolled collegiate students.</a:t>
            </a:r>
          </a:p>
          <a:p>
            <a:pPr>
              <a:spcBef>
                <a:spcPts val="1600"/>
              </a:spcBef>
              <a:defRPr sz="1050" b="1">
                <a:solidFill>
                  <a:srgbClr val="FFB347"/>
                </a:solidFill>
                <a:latin typeface="Outfit"/>
              </a:defRPr>
            </a:pPr>
            <a:r>
              <a:t>🚀 $290 Million Market | 5,380 Colleges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1920240"/>
            <a:ext cx="3474720" cy="438912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2D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2194560"/>
            <a:ext cx="3108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6B2C"/>
                </a:solidFill>
                <a:latin typeface="Outfit"/>
              </a:defRPr>
            </a:pPr>
            <a:r>
              <a:t>₹35 Cr</a:t>
            </a:r>
          </a:p>
          <a:p>
            <a:pPr>
              <a:spcBef>
                <a:spcPts val="1000"/>
              </a:spcBef>
              <a:defRPr sz="1300" b="1">
                <a:solidFill>
                  <a:srgbClr val="F5F5F7"/>
                </a:solidFill>
                <a:latin typeface="Outfit"/>
              </a:defRPr>
            </a:pPr>
            <a:r>
              <a:t>SOM — Target Launch Reach</a:t>
            </a:r>
          </a:p>
          <a:p>
            <a:pPr>
              <a:spcBef>
                <a:spcPts val="1000"/>
              </a:spcBef>
              <a:defRPr sz="1200">
                <a:solidFill>
                  <a:srgbClr val="A1A1AA"/>
                </a:solidFill>
                <a:latin typeface="Segoe UI"/>
              </a:defRPr>
            </a:pPr>
            <a:r>
              <a:t>Targeting 50 university campuses across Pune, Kopargaon, Ahmednagar, Nashik, and Mumbai university hubs in Year 1-2.</a:t>
            </a:r>
          </a:p>
          <a:p>
            <a:pPr>
              <a:spcBef>
                <a:spcPts val="1600"/>
              </a:spcBef>
              <a:defRPr sz="1050" b="1">
                <a:solidFill>
                  <a:srgbClr val="FFB347"/>
                </a:solidFill>
                <a:latin typeface="Outfit"/>
              </a:defRPr>
            </a:pPr>
            <a:r>
              <a:t>🚀 $4.2M GMV Target | 50 Campuses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6B2C"/>
                </a:solidFill>
                <a:latin typeface="Outfit"/>
              </a:defRPr>
            </a:pPr>
            <a:r>
              <a:t>BUSINESS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5F5F7"/>
                </a:solidFill>
                <a:latin typeface="Outfit"/>
              </a:defRPr>
            </a:pPr>
            <a:r>
              <a:t>Multi-Stream Sustainable Revenue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1A1AA"/>
                </a:solidFill>
                <a:latin typeface="Segoe UI"/>
              </a:defRPr>
            </a:pPr>
            <a:r>
              <a:t>Zero barrier to vendor entry paired with scalable transaction and SaaS revenue.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20240"/>
            <a:ext cx="2560320" cy="420624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2D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2194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/>
            </a:pPr>
            <a:r>
              <a:t>🆓</a:t>
            </a:r>
          </a:p>
          <a:p>
            <a:pPr>
              <a:spcBef>
                <a:spcPts val="800"/>
              </a:spcBef>
              <a:defRPr sz="1400" b="1">
                <a:solidFill>
                  <a:srgbClr val="F5F5F7"/>
                </a:solidFill>
                <a:latin typeface="Outfit"/>
              </a:defRPr>
            </a:pPr>
            <a:r>
              <a:t>1. Free Canteen Onboarding</a:t>
            </a:r>
          </a:p>
          <a:p>
            <a:pPr>
              <a:spcBef>
                <a:spcPts val="800"/>
              </a:spcBef>
              <a:defRPr sz="1100">
                <a:solidFill>
                  <a:srgbClr val="A1A1AA"/>
                </a:solidFill>
                <a:latin typeface="Segoe UI"/>
              </a:defRPr>
            </a:pPr>
            <a:r>
              <a:t>Zero setup fees and zero hardware requirement guarantees 100% canteen vendor adoption across campuses.</a:t>
            </a:r>
          </a:p>
          <a:p>
            <a:pPr>
              <a:spcBef>
                <a:spcPts val="1400"/>
              </a:spcBef>
              <a:defRPr sz="1000" b="1">
                <a:solidFill>
                  <a:srgbClr val="00D4AA"/>
                </a:solidFill>
                <a:latin typeface="Outfit"/>
              </a:defRPr>
            </a:pPr>
            <a:r>
              <a:t>₹0 Setup  •  No Hardware Barrier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920240"/>
            <a:ext cx="2560320" cy="420624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2D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80" y="2103120"/>
            <a:ext cx="2194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/>
            </a:pPr>
            <a:r>
              <a:t>📊</a:t>
            </a:r>
          </a:p>
          <a:p>
            <a:pPr>
              <a:spcBef>
                <a:spcPts val="800"/>
              </a:spcBef>
              <a:defRPr sz="1400" b="1">
                <a:solidFill>
                  <a:srgbClr val="F5F5F7"/>
                </a:solidFill>
                <a:latin typeface="Outfit"/>
              </a:defRPr>
            </a:pPr>
            <a:r>
              <a:t>2. Pickup Commission (3-5%)</a:t>
            </a:r>
          </a:p>
          <a:p>
            <a:pPr>
              <a:spcBef>
                <a:spcPts val="800"/>
              </a:spcBef>
              <a:defRPr sz="1100">
                <a:solidFill>
                  <a:srgbClr val="A1A1AA"/>
                </a:solidFill>
                <a:latin typeface="Segoe UI"/>
              </a:defRPr>
            </a:pPr>
            <a:r>
              <a:t>Small platform fee per successful order covering hosting, SSE infrastructure, and continuous support.</a:t>
            </a:r>
          </a:p>
          <a:p>
            <a:pPr>
              <a:spcBef>
                <a:spcPts val="1400"/>
              </a:spcBef>
              <a:defRPr sz="1000" b="1">
                <a:solidFill>
                  <a:srgbClr val="00D4AA"/>
                </a:solidFill>
                <a:latin typeface="Outfit"/>
              </a:defRPr>
            </a:pPr>
            <a:r>
              <a:t>3-5% Per Order  •  Volume Scaled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920240"/>
            <a:ext cx="2560320" cy="420624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2D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2103120"/>
            <a:ext cx="2194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/>
            </a:pPr>
            <a:r>
              <a:t>🏃</a:t>
            </a:r>
          </a:p>
          <a:p>
            <a:pPr>
              <a:spcBef>
                <a:spcPts val="800"/>
              </a:spcBef>
              <a:defRPr sz="1400" b="1">
                <a:solidFill>
                  <a:srgbClr val="F5F5F7"/>
                </a:solidFill>
                <a:latin typeface="Outfit"/>
              </a:defRPr>
            </a:pPr>
            <a:r>
              <a:t>3. Campus Delivery Fee</a:t>
            </a:r>
          </a:p>
          <a:p>
            <a:pPr>
              <a:spcBef>
                <a:spcPts val="800"/>
              </a:spcBef>
              <a:defRPr sz="1100">
                <a:solidFill>
                  <a:srgbClr val="A1A1AA"/>
                </a:solidFill>
                <a:latin typeface="Segoe UI"/>
              </a:defRPr>
            </a:pPr>
            <a:r>
              <a:t>Optional in-campus delivery (₹10–20) to library and hostel drop zones, powered by student runners.</a:t>
            </a:r>
          </a:p>
          <a:p>
            <a:pPr>
              <a:spcBef>
                <a:spcPts val="1400"/>
              </a:spcBef>
              <a:defRPr sz="1000" b="1">
                <a:solidFill>
                  <a:srgbClr val="00D4AA"/>
                </a:solidFill>
                <a:latin typeface="Outfit"/>
              </a:defRPr>
            </a:pPr>
            <a:r>
              <a:t>₹10-20 Fee  •  Peer Logistics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23960" y="1920240"/>
            <a:ext cx="2560320" cy="420624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2D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06840" y="2103120"/>
            <a:ext cx="2194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/>
            </a:pPr>
            <a:r>
              <a:t>💎</a:t>
            </a:r>
          </a:p>
          <a:p>
            <a:pPr>
              <a:spcBef>
                <a:spcPts val="800"/>
              </a:spcBef>
              <a:defRPr sz="1400" b="1">
                <a:solidFill>
                  <a:srgbClr val="F5F5F7"/>
                </a:solidFill>
                <a:latin typeface="Outfit"/>
              </a:defRPr>
            </a:pPr>
            <a:r>
              <a:t>4. Merchant Analytics SaaS</a:t>
            </a:r>
          </a:p>
          <a:p>
            <a:pPr>
              <a:spcBef>
                <a:spcPts val="800"/>
              </a:spcBef>
              <a:defRPr sz="1100">
                <a:solidFill>
                  <a:srgbClr val="A1A1AA"/>
                </a:solidFill>
                <a:latin typeface="Segoe UI"/>
              </a:defRPr>
            </a:pPr>
            <a:r>
              <a:t>Predictive demand forecasting, wastage reduction, and menu engineering dashboards for vendors.</a:t>
            </a:r>
          </a:p>
          <a:p>
            <a:pPr>
              <a:spcBef>
                <a:spcPts val="1400"/>
              </a:spcBef>
              <a:defRPr sz="1000" b="1">
                <a:solidFill>
                  <a:srgbClr val="00D4AA"/>
                </a:solidFill>
                <a:latin typeface="Outfit"/>
              </a:defRPr>
            </a:pPr>
            <a:r>
              <a:t>Premium SaaS  •  AI Reports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6B2C"/>
                </a:solidFill>
                <a:latin typeface="Outfit"/>
              </a:defRPr>
            </a:pPr>
            <a:r>
              <a:t>COMPETITIVE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5F5F7"/>
                </a:solidFill>
                <a:latin typeface="Outfit"/>
              </a:defRPr>
            </a:pPr>
            <a:r>
              <a:t>Why Existing Delivery Apps Fail on Campus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1A1AA"/>
                </a:solidFill>
                <a:latin typeface="Segoe UI"/>
              </a:defRPr>
            </a:pPr>
            <a:r>
              <a:t>FoodLine is architected specifically for collegiate micro-breaks and low-AOV dynamics.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82880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377440"/>
                <a:gridCol w="2560320"/>
                <a:gridCol w="2834640"/>
              </a:tblGrid>
              <a:tr h="54864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5F5F7"/>
                          </a:solidFill>
                          <a:latin typeface="Outfit"/>
                        </a:defRPr>
                      </a:pPr>
                      <a:r>
                        <a:t>Feature / Attribute</a:t>
                      </a:r>
                    </a:p>
                  </a:txBody>
                  <a:tcPr>
                    <a:solidFill>
                      <a:srgbClr val="1E1E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5F5F7"/>
                          </a:solidFill>
                          <a:latin typeface="Outfit"/>
                        </a:defRPr>
                      </a:pPr>
                      <a:r>
                        <a:t>Traditional Canteen</a:t>
                      </a:r>
                    </a:p>
                  </a:txBody>
                  <a:tcPr>
                    <a:solidFill>
                      <a:srgbClr val="1E1E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5F5F7"/>
                          </a:solidFill>
                          <a:latin typeface="Outfit"/>
                        </a:defRPr>
                      </a:pPr>
                      <a:r>
                        <a:t>Swiggy / Zomato</a:t>
                      </a:r>
                    </a:p>
                  </a:txBody>
                  <a:tcPr>
                    <a:solidFill>
                      <a:srgbClr val="1E1E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6B2C"/>
                          </a:solidFill>
                          <a:latin typeface="Outfit"/>
                        </a:defRPr>
                      </a:pPr>
                      <a:r>
                        <a:t>FoodLine Campus ✓</a:t>
                      </a:r>
                    </a:p>
                  </a:txBody>
                  <a:tcPr>
                    <a:solidFill>
                      <a:srgbClr val="1E1E2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F5F7"/>
                          </a:solidFill>
                          <a:latin typeface="Segoe UI"/>
                        </a:defRPr>
                      </a:pPr>
                      <a:r>
                        <a:t>Break Window Alignment</a:t>
                      </a:r>
                    </a:p>
                  </a:txBody>
                  <a:tcPr>
                    <a:solidFill>
                      <a:srgbClr val="1212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F5F7"/>
                          </a:solidFill>
                          <a:latin typeface="Segoe UI"/>
                        </a:defRPr>
                      </a:pPr>
                      <a:r>
                        <a:t>❌ 15-min queue chaos</a:t>
                      </a:r>
                    </a:p>
                  </a:txBody>
                  <a:tcPr>
                    <a:solidFill>
                      <a:srgbClr val="1212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F5F7"/>
                          </a:solidFill>
                          <a:latin typeface="Segoe UI"/>
                        </a:defRPr>
                      </a:pPr>
                      <a:r>
                        <a:t>❌ 35-45 min delivery</a:t>
                      </a:r>
                    </a:p>
                  </a:txBody>
                  <a:tcPr>
                    <a:solidFill>
                      <a:srgbClr val="1212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D4AA"/>
                          </a:solidFill>
                          <a:latin typeface="Segoe UI"/>
                        </a:defRPr>
                      </a:pPr>
                      <a:r>
                        <a:t>✅ 10-min smart slot pickup</a:t>
                      </a:r>
                    </a:p>
                  </a:txBody>
                  <a:tcPr>
                    <a:solidFill>
                      <a:srgbClr val="12121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F5F7"/>
                          </a:solidFill>
                          <a:latin typeface="Segoe UI"/>
                        </a:defRPr>
                      </a:pPr>
                      <a:r>
                        <a:t>Average Order Value</a:t>
                      </a:r>
                    </a:p>
                  </a:txBody>
                  <a:tcPr>
                    <a:solidFill>
                      <a:srgbClr val="1818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F5F7"/>
                          </a:solidFill>
                          <a:latin typeface="Segoe UI"/>
                        </a:defRPr>
                      </a:pPr>
                      <a:r>
                        <a:t>₹20 – ₹60</a:t>
                      </a:r>
                    </a:p>
                  </a:txBody>
                  <a:tcPr>
                    <a:solidFill>
                      <a:srgbClr val="1818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F5F7"/>
                          </a:solidFill>
                          <a:latin typeface="Segoe UI"/>
                        </a:defRPr>
                      </a:pPr>
                      <a:r>
                        <a:t>❌ ₹200+ (High minimums)</a:t>
                      </a:r>
                    </a:p>
                  </a:txBody>
                  <a:tcPr>
                    <a:solidFill>
                      <a:srgbClr val="1818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D4AA"/>
                          </a:solidFill>
                          <a:latin typeface="Segoe UI"/>
                        </a:defRPr>
                      </a:pPr>
                      <a:r>
                        <a:t>✅ No minimum (₹15 Chai)</a:t>
                      </a:r>
                    </a:p>
                  </a:txBody>
                  <a:tcPr>
                    <a:solidFill>
                      <a:srgbClr val="18182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F5F7"/>
                          </a:solidFill>
                          <a:latin typeface="Segoe UI"/>
                        </a:defRPr>
                      </a:pPr>
                      <a:r>
                        <a:t>Delivery / Platform Fees</a:t>
                      </a:r>
                    </a:p>
                  </a:txBody>
                  <a:tcPr>
                    <a:solidFill>
                      <a:srgbClr val="1212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F5F7"/>
                          </a:solidFill>
                          <a:latin typeface="Segoe UI"/>
                        </a:defRPr>
                      </a:pPr>
                      <a:r>
                        <a:t>Zero (offline only)</a:t>
                      </a:r>
                    </a:p>
                  </a:txBody>
                  <a:tcPr>
                    <a:solidFill>
                      <a:srgbClr val="1212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F5F7"/>
                          </a:solidFill>
                          <a:latin typeface="Segoe UI"/>
                        </a:defRPr>
                      </a:pPr>
                      <a:r>
                        <a:t>❌ ₹30-60 + 25% take</a:t>
                      </a:r>
                    </a:p>
                  </a:txBody>
                  <a:tcPr>
                    <a:solidFill>
                      <a:srgbClr val="1212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D4AA"/>
                          </a:solidFill>
                          <a:latin typeface="Segoe UI"/>
                        </a:defRPr>
                      </a:pPr>
                      <a:r>
                        <a:t>✅ 0% Fee UPI QR</a:t>
                      </a:r>
                    </a:p>
                  </a:txBody>
                  <a:tcPr>
                    <a:solidFill>
                      <a:srgbClr val="12121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F5F7"/>
                          </a:solidFill>
                          <a:latin typeface="Segoe UI"/>
                        </a:defRPr>
                      </a:pPr>
                      <a:r>
                        <a:t>Kitchen Load Throttling</a:t>
                      </a:r>
                    </a:p>
                  </a:txBody>
                  <a:tcPr>
                    <a:solidFill>
                      <a:srgbClr val="1818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F5F7"/>
                          </a:solidFill>
                          <a:latin typeface="Segoe UI"/>
                        </a:defRPr>
                      </a:pPr>
                      <a:r>
                        <a:t>❌ Overload &amp; delays</a:t>
                      </a:r>
                    </a:p>
                  </a:txBody>
                  <a:tcPr>
                    <a:solidFill>
                      <a:srgbClr val="1818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F5F7"/>
                          </a:solidFill>
                          <a:latin typeface="Segoe UI"/>
                        </a:defRPr>
                      </a:pPr>
                      <a:r>
                        <a:t>❌ Uncoordinated spikes</a:t>
                      </a:r>
                    </a:p>
                  </a:txBody>
                  <a:tcPr>
                    <a:solidFill>
                      <a:srgbClr val="1818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D4AA"/>
                          </a:solidFill>
                          <a:latin typeface="Segoe UI"/>
                        </a:defRPr>
                      </a:pPr>
                      <a:r>
                        <a:t>✅ Algorithmic slot throttle</a:t>
                      </a:r>
                    </a:p>
                  </a:txBody>
                  <a:tcPr>
                    <a:solidFill>
                      <a:srgbClr val="18182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F5F7"/>
                          </a:solidFill>
                          <a:latin typeface="Segoe UI"/>
                        </a:defRPr>
                      </a:pPr>
                      <a:r>
                        <a:t>Campus Integration</a:t>
                      </a:r>
                    </a:p>
                  </a:txBody>
                  <a:tcPr>
                    <a:solidFill>
                      <a:srgbClr val="1212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F5F7"/>
                          </a:solidFill>
                          <a:latin typeface="Segoe UI"/>
                        </a:defRPr>
                      </a:pPr>
                      <a:r>
                        <a:t>❌ No digital layer</a:t>
                      </a:r>
                    </a:p>
                  </a:txBody>
                  <a:tcPr>
                    <a:solidFill>
                      <a:srgbClr val="1212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F5F7"/>
                          </a:solidFill>
                          <a:latin typeface="Segoe UI"/>
                        </a:defRPr>
                      </a:pPr>
                      <a:r>
                        <a:t>❌ External delivery only</a:t>
                      </a:r>
                    </a:p>
                  </a:txBody>
                  <a:tcPr>
                    <a:solidFill>
                      <a:srgbClr val="1212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D4AA"/>
                          </a:solidFill>
                          <a:latin typeface="Segoe UI"/>
                        </a:defRPr>
                      </a:pPr>
                      <a:r>
                        <a:t>✅ Native campus system</a:t>
                      </a:r>
                    </a:p>
                  </a:txBody>
                  <a:tcPr>
                    <a:solidFill>
                      <a:srgbClr val="12121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F5F7"/>
                          </a:solidFill>
                          <a:latin typeface="Segoe UI"/>
                        </a:defRPr>
                      </a:pPr>
                      <a:r>
                        <a:t>Real-Time Order Tracking</a:t>
                      </a:r>
                    </a:p>
                  </a:txBody>
                  <a:tcPr>
                    <a:solidFill>
                      <a:srgbClr val="1818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F5F7"/>
                          </a:solidFill>
                          <a:latin typeface="Segoe UI"/>
                        </a:defRPr>
                      </a:pPr>
                      <a:r>
                        <a:t>❌ No visibility</a:t>
                      </a:r>
                    </a:p>
                  </a:txBody>
                  <a:tcPr>
                    <a:solidFill>
                      <a:srgbClr val="1818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F5F7"/>
                          </a:solidFill>
                          <a:latin typeface="Segoe UI"/>
                        </a:defRPr>
                      </a:pPr>
                      <a:r>
                        <a:t>✅ Delivery GPS</a:t>
                      </a:r>
                    </a:p>
                  </a:txBody>
                  <a:tcPr>
                    <a:solidFill>
                      <a:srgbClr val="1818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D4AA"/>
                          </a:solidFill>
                          <a:latin typeface="Segoe UI"/>
                        </a:defRPr>
                      </a:pPr>
                      <a:r>
                        <a:t>✅ SSE live status</a:t>
                      </a:r>
                    </a:p>
                  </a:txBody>
                  <a:tcPr>
                    <a:solidFill>
                      <a:srgbClr val="18182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F5F7"/>
                          </a:solidFill>
                          <a:latin typeface="Segoe UI"/>
                        </a:defRPr>
                      </a:pPr>
                      <a:r>
                        <a:t>Vendor Onboarding Cost</a:t>
                      </a:r>
                    </a:p>
                  </a:txBody>
                  <a:tcPr>
                    <a:solidFill>
                      <a:srgbClr val="1212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F5F7"/>
                          </a:solidFill>
                          <a:latin typeface="Segoe UI"/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1212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F5F7"/>
                          </a:solidFill>
                          <a:latin typeface="Segoe UI"/>
                        </a:defRPr>
                      </a:pPr>
                      <a:r>
                        <a:t>❌ Commission + listing</a:t>
                      </a:r>
                    </a:p>
                  </a:txBody>
                  <a:tcPr>
                    <a:solidFill>
                      <a:srgbClr val="1212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D4AA"/>
                          </a:solidFill>
                          <a:latin typeface="Segoe UI"/>
                        </a:defRPr>
                      </a:pPr>
                      <a:r>
                        <a:t>✅ ₹0 Free onboarding</a:t>
                      </a:r>
                    </a:p>
                  </a:txBody>
                  <a:tcPr>
                    <a:solidFill>
                      <a:srgbClr val="12121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6B2C"/>
                </a:solidFill>
                <a:latin typeface="Outfit"/>
              </a:defRPr>
            </a:pPr>
            <a:r>
              <a:t>IMPACT &amp; PROJECTED BENCHMARKS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5F5F7"/>
                </a:solidFill>
                <a:latin typeface="Outfit"/>
              </a:defRPr>
            </a:pPr>
            <a:r>
              <a:t>Target Operational Breakthroughs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1A1AA"/>
                </a:solidFill>
                <a:latin typeface="Segoe UI"/>
              </a:defRPr>
            </a:pPr>
            <a:r>
              <a:t>Quantifiable performance benchmarks engineered for campus cafeterias.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2560320" cy="402336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2D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2194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D4AA"/>
                </a:solidFill>
                <a:latin typeface="Outfit"/>
              </a:defRPr>
            </a:pPr>
            <a:r>
              <a:t>≥ 12 Min</a:t>
            </a:r>
          </a:p>
          <a:p>
            <a:pPr>
              <a:spcBef>
                <a:spcPts val="1200"/>
              </a:spcBef>
              <a:defRPr sz="1400" b="1">
                <a:solidFill>
                  <a:srgbClr val="F5F5F7"/>
                </a:solidFill>
                <a:latin typeface="Outfit"/>
              </a:defRPr>
            </a:pPr>
            <a:r>
              <a:t>Target Time Saved</a:t>
            </a:r>
          </a:p>
          <a:p>
            <a:pPr>
              <a:spcBef>
                <a:spcPts val="800"/>
              </a:spcBef>
              <a:defRPr sz="1150">
                <a:solidFill>
                  <a:srgbClr val="A1A1AA"/>
                </a:solidFill>
                <a:latin typeface="Segoe UI"/>
              </a:defRPr>
            </a:pPr>
            <a:r>
              <a:t>Students gain back 40%+ of their break time to socialize, study, or relax instead of standing in queues.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2011680"/>
            <a:ext cx="2560320" cy="402336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2D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80" y="2286000"/>
            <a:ext cx="2194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D4AA"/>
                </a:solidFill>
                <a:latin typeface="Outfit"/>
              </a:defRPr>
            </a:pPr>
            <a:r>
              <a:t>2.5×</a:t>
            </a:r>
          </a:p>
          <a:p>
            <a:pPr>
              <a:spcBef>
                <a:spcPts val="1200"/>
              </a:spcBef>
              <a:defRPr sz="1400" b="1">
                <a:solidFill>
                  <a:srgbClr val="F5F5F7"/>
                </a:solidFill>
                <a:latin typeface="Outfit"/>
              </a:defRPr>
            </a:pPr>
            <a:r>
              <a:t>Peak Capacity Boost</a:t>
            </a:r>
          </a:p>
          <a:p>
            <a:pPr>
              <a:spcBef>
                <a:spcPts val="800"/>
              </a:spcBef>
              <a:defRPr sz="1150">
                <a:solidFill>
                  <a:srgbClr val="A1A1AA"/>
                </a:solidFill>
                <a:latin typeface="Segoe UI"/>
              </a:defRPr>
            </a:pPr>
            <a:r>
              <a:t>Canteens fulfill 2.5× more orders in the same 30-minute rush window without expanding space or staff.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2011680"/>
            <a:ext cx="2560320" cy="402336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2D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2286000"/>
            <a:ext cx="2194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D4AA"/>
                </a:solidFill>
                <a:latin typeface="Outfit"/>
              </a:defRPr>
            </a:pPr>
            <a:r>
              <a:t>≤ 30 Sec</a:t>
            </a:r>
          </a:p>
          <a:p>
            <a:pPr>
              <a:spcBef>
                <a:spcPts val="1200"/>
              </a:spcBef>
              <a:defRPr sz="1400" b="1">
                <a:solidFill>
                  <a:srgbClr val="F5F5F7"/>
                </a:solidFill>
                <a:latin typeface="Outfit"/>
              </a:defRPr>
            </a:pPr>
            <a:r>
              <a:t>Express Pickup Goal</a:t>
            </a:r>
          </a:p>
          <a:p>
            <a:pPr>
              <a:spcBef>
                <a:spcPts val="800"/>
              </a:spcBef>
              <a:defRPr sz="1150">
                <a:solidFill>
                  <a:srgbClr val="A1A1AA"/>
                </a:solidFill>
                <a:latin typeface="Segoe UI"/>
              </a:defRPr>
            </a:pPr>
            <a:r>
              <a:t>Instant QR scan &amp; 4-digit PIN verification ensures rapid pickup with zero billing delays at the counter.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23960" y="2011680"/>
            <a:ext cx="2560320" cy="402336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2D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06840" y="2286000"/>
            <a:ext cx="2194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D4AA"/>
                </a:solidFill>
                <a:latin typeface="Outfit"/>
              </a:defRPr>
            </a:pPr>
            <a:r>
              <a:t>≥ 65%</a:t>
            </a:r>
          </a:p>
          <a:p>
            <a:pPr>
              <a:spcBef>
                <a:spcPts val="1200"/>
              </a:spcBef>
              <a:defRPr sz="1400" b="1">
                <a:solidFill>
                  <a:srgbClr val="F5F5F7"/>
                </a:solidFill>
                <a:latin typeface="Outfit"/>
              </a:defRPr>
            </a:pPr>
            <a:r>
              <a:t>Projected Retention</a:t>
            </a:r>
          </a:p>
          <a:p>
            <a:pPr>
              <a:spcBef>
                <a:spcPts val="800"/>
              </a:spcBef>
              <a:defRPr sz="1150">
                <a:solidFill>
                  <a:srgbClr val="A1A1AA"/>
                </a:solidFill>
                <a:latin typeface="Segoe UI"/>
              </a:defRPr>
            </a:pPr>
            <a:r>
              <a:t>Daily campus dining habits create industry-leading organic retention rates — no marketing spend needed.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6B2C"/>
                </a:solidFill>
                <a:latin typeface="Outfit"/>
              </a:defRPr>
            </a:pPr>
            <a:r>
              <a:t>ENGINEERING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5F5F7"/>
                </a:solidFill>
                <a:latin typeface="Outfit"/>
              </a:defRPr>
            </a:pPr>
            <a:r>
              <a:t>Modern Enterprise Technology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1A1AA"/>
                </a:solidFill>
                <a:latin typeface="Segoe UI"/>
              </a:defRPr>
            </a:pPr>
            <a:r>
              <a:t>Engineered for high concurrency, sub-second latency, and responsive mobile experiences.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20240"/>
            <a:ext cx="5257800" cy="201168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2D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84832"/>
            <a:ext cx="4892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F5F7"/>
                </a:solidFill>
                <a:latin typeface="Outfit"/>
              </a:defRPr>
            </a:pPr>
            <a:r>
              <a:t>⚙️  Frontend Engine</a:t>
            </a:r>
          </a:p>
          <a:p>
            <a:pPr>
              <a:spcBef>
                <a:spcPts val="600"/>
              </a:spcBef>
              <a:defRPr sz="1150">
                <a:solidFill>
                  <a:srgbClr val="A1A1AA"/>
                </a:solidFill>
                <a:latin typeface="Segoe UI"/>
              </a:defRPr>
            </a:pPr>
            <a:r>
              <a:t>Production-grade frontend with server-side rendering, strict type safety, and spring-physics animations for a native-app feel.</a:t>
            </a:r>
          </a:p>
          <a:p>
            <a:pPr>
              <a:spcBef>
                <a:spcPts val="800"/>
              </a:spcBef>
              <a:defRPr sz="1050" b="1">
                <a:solidFill>
                  <a:srgbClr val="3B82F6"/>
                </a:solidFill>
                <a:latin typeface="Outfit"/>
              </a:defRPr>
            </a:pPr>
            <a:r>
              <a:t>⚡ Next.js 15+  •  React 19  •  TypeScript  •  Tailwind v4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920240"/>
            <a:ext cx="5257800" cy="201168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2D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2084832"/>
            <a:ext cx="4892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F5F7"/>
                </a:solidFill>
                <a:latin typeface="Outfit"/>
              </a:defRPr>
            </a:pPr>
            <a:r>
              <a:t>🧩  Component System</a:t>
            </a:r>
          </a:p>
          <a:p>
            <a:pPr>
              <a:spcBef>
                <a:spcPts val="600"/>
              </a:spcBef>
              <a:defRPr sz="1150">
                <a:solidFill>
                  <a:srgbClr val="A1A1AA"/>
                </a:solidFill>
                <a:latin typeface="Segoe UI"/>
              </a:defRPr>
            </a:pPr>
            <a:r>
              <a:t>Accessible, themeable component library with high-contrast OKLCH color tokens and custom UI primitives.</a:t>
            </a:r>
          </a:p>
          <a:p>
            <a:pPr>
              <a:spcBef>
                <a:spcPts val="800"/>
              </a:spcBef>
              <a:defRPr sz="1050" b="1">
                <a:solidFill>
                  <a:srgbClr val="3B82F6"/>
                </a:solidFill>
                <a:latin typeface="Outfit"/>
              </a:defRPr>
            </a:pPr>
            <a:r>
              <a:t>⚡ shadcn/ui  •  Radix UI  •  OKLCH Tokens  •  Nova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14800"/>
            <a:ext cx="5257800" cy="201168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2D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279392"/>
            <a:ext cx="4892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F5F7"/>
                </a:solidFill>
                <a:latin typeface="Outfit"/>
              </a:defRPr>
            </a:pPr>
            <a:r>
              <a:t>🔌  Backend &amp; Real-Time</a:t>
            </a:r>
          </a:p>
          <a:p>
            <a:pPr>
              <a:spcBef>
                <a:spcPts val="600"/>
              </a:spcBef>
              <a:defRPr sz="1150">
                <a:solidFill>
                  <a:srgbClr val="A1A1AA"/>
                </a:solidFill>
                <a:latin typeface="Segoe UI"/>
              </a:defRPr>
            </a:pPr>
            <a:r>
              <a:t>Serverless API handlers with persistent SSE connections for zero-latency bi-directional order updates.</a:t>
            </a:r>
          </a:p>
          <a:p>
            <a:pPr>
              <a:spcBef>
                <a:spcPts val="800"/>
              </a:spcBef>
              <a:defRPr sz="1050" b="1">
                <a:solidFill>
                  <a:srgbClr val="3B82F6"/>
                </a:solidFill>
                <a:latin typeface="Outfit"/>
              </a:defRPr>
            </a:pPr>
            <a:r>
              <a:t>⚡ API Routes  •  SSE Pipeline  •  Supabase  •  PostgreSQL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4114800"/>
            <a:ext cx="5257800" cy="201168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2D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4279392"/>
            <a:ext cx="4892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F5F7"/>
                </a:solidFill>
                <a:latin typeface="Outfit"/>
              </a:defRPr>
            </a:pPr>
            <a:r>
              <a:t>🧠  Knowledge Graph</a:t>
            </a:r>
          </a:p>
          <a:p>
            <a:pPr>
              <a:spcBef>
                <a:spcPts val="600"/>
              </a:spcBef>
              <a:defRPr sz="1150">
                <a:solidFill>
                  <a:srgbClr val="A1A1AA"/>
                </a:solidFill>
                <a:latin typeface="Segoe UI"/>
              </a:defRPr>
            </a:pPr>
            <a:r>
              <a:t>Graphify AST mapping for automated code intelligence, clean architecture enforcement, and dev velocity.</a:t>
            </a:r>
          </a:p>
          <a:p>
            <a:pPr>
              <a:spcBef>
                <a:spcPts val="800"/>
              </a:spcBef>
              <a:defRPr sz="1050" b="1">
                <a:solidFill>
                  <a:srgbClr val="3B82F6"/>
                </a:solidFill>
                <a:latin typeface="Outfit"/>
              </a:defRPr>
            </a:pPr>
            <a:r>
              <a:t>⚡ Graphify  •  AST Analysis  •  Code Intelligence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6B2C"/>
                </a:solidFill>
                <a:latin typeface="Outfit"/>
              </a:defRPr>
            </a:pPr>
            <a:r>
              <a:t>ROADMAP &amp; TIMELINE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5F5F7"/>
                </a:solidFill>
                <a:latin typeface="Outfit"/>
              </a:defRPr>
            </a:pPr>
            <a:r>
              <a:t>From Concept to Pan-India Scale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1A1AA"/>
                </a:solidFill>
                <a:latin typeface="Segoe UI"/>
              </a:defRPr>
            </a:pPr>
            <a:r>
              <a:t>A 3-phase execution strategy designed for rapid, capital-efficient campus expansion.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20240"/>
            <a:ext cx="3474720" cy="438912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2D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48840"/>
            <a:ext cx="3108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6B2C"/>
                </a:solidFill>
                <a:latin typeface="Outfit"/>
              </a:defRPr>
            </a:pPr>
            <a:r>
              <a:t>PHASE 1</a:t>
            </a:r>
          </a:p>
          <a:p>
            <a:pPr>
              <a:spcBef>
                <a:spcPts val="400"/>
              </a:spcBef>
              <a:defRPr sz="1600" b="1">
                <a:solidFill>
                  <a:srgbClr val="F5F5F7"/>
                </a:solidFill>
                <a:latin typeface="Outfit"/>
              </a:defRPr>
            </a:pPr>
            <a:r>
              <a:t>Pilot Launch &amp; Validation</a:t>
            </a:r>
          </a:p>
          <a:p>
            <a:pPr>
              <a:spcBef>
                <a:spcPts val="200"/>
              </a:spcBef>
              <a:defRPr sz="1100">
                <a:solidFill>
                  <a:srgbClr val="FFB347"/>
                </a:solidFill>
                <a:latin typeface="Segoe UI"/>
              </a:defRPr>
            </a:pPr>
            <a:r>
              <a:t>Target: Sanjivani University (Cafe @7)</a:t>
            </a:r>
          </a:p>
          <a:p>
            <a:pPr>
              <a:spcBef>
                <a:spcPts val="600"/>
              </a:spcBef>
              <a:defRPr sz="1050">
                <a:solidFill>
                  <a:srgbClr val="A1A1AA"/>
                </a:solidFill>
                <a:latin typeface="Segoe UI"/>
              </a:defRPr>
            </a:pPr>
            <a:r>
              <a:t>• Launch flagship pilot at Sanjivani University</a:t>
            </a:r>
          </a:p>
          <a:p>
            <a:pPr>
              <a:spcBef>
                <a:spcPts val="600"/>
              </a:spcBef>
              <a:defRPr sz="1050">
                <a:solidFill>
                  <a:srgbClr val="A1A1AA"/>
                </a:solidFill>
                <a:latin typeface="Segoe UI"/>
              </a:defRPr>
            </a:pPr>
            <a:r>
              <a:t>• Target 500+ daily active student orders</a:t>
            </a:r>
          </a:p>
          <a:p>
            <a:pPr>
              <a:spcBef>
                <a:spcPts val="600"/>
              </a:spcBef>
              <a:defRPr sz="1050">
                <a:solidFill>
                  <a:srgbClr val="A1A1AA"/>
                </a:solidFill>
                <a:latin typeface="Segoe UI"/>
              </a:defRPr>
            </a:pPr>
            <a:r>
              <a:t>• Validate Option C UPI flow with campus vendors</a:t>
            </a:r>
          </a:p>
          <a:p>
            <a:pPr>
              <a:spcBef>
                <a:spcPts val="600"/>
              </a:spcBef>
              <a:defRPr sz="1050">
                <a:solidFill>
                  <a:srgbClr val="A1A1AA"/>
                </a:solidFill>
                <a:latin typeface="Segoe UI"/>
              </a:defRPr>
            </a:pPr>
            <a:r>
              <a:t>• Refine KDS and SSE infrastructure in real conditions</a:t>
            </a:r>
          </a:p>
          <a:p>
            <a:pPr>
              <a:spcBef>
                <a:spcPts val="600"/>
              </a:spcBef>
              <a:defRPr sz="1050">
                <a:solidFill>
                  <a:srgbClr val="A1A1AA"/>
                </a:solidFill>
                <a:latin typeface="Segoe UI"/>
              </a:defRPr>
            </a:pPr>
            <a:r>
              <a:t>• Onboard additional campus canteens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920240"/>
            <a:ext cx="3474720" cy="438912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2D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2148840"/>
            <a:ext cx="3108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6B2C"/>
                </a:solidFill>
                <a:latin typeface="Outfit"/>
              </a:defRPr>
            </a:pPr>
            <a:r>
              <a:t>PHASE 2</a:t>
            </a:r>
          </a:p>
          <a:p>
            <a:pPr>
              <a:spcBef>
                <a:spcPts val="400"/>
              </a:spcBef>
              <a:defRPr sz="1600" b="1">
                <a:solidFill>
                  <a:srgbClr val="F5F5F7"/>
                </a:solidFill>
                <a:latin typeface="Outfit"/>
              </a:defRPr>
            </a:pPr>
            <a:r>
              <a:t>City-Cluster Expansion</a:t>
            </a:r>
          </a:p>
          <a:p>
            <a:pPr>
              <a:spcBef>
                <a:spcPts val="200"/>
              </a:spcBef>
              <a:defRPr sz="1100">
                <a:solidFill>
                  <a:srgbClr val="FFB347"/>
                </a:solidFill>
                <a:latin typeface="Segoe UI"/>
              </a:defRPr>
            </a:pPr>
            <a:r>
              <a:t>Pune, Nashik &amp; Mumbai Clusters</a:t>
            </a:r>
          </a:p>
          <a:p>
            <a:pPr>
              <a:spcBef>
                <a:spcPts val="600"/>
              </a:spcBef>
              <a:defRPr sz="1050">
                <a:solidFill>
                  <a:srgbClr val="A1A1AA"/>
                </a:solidFill>
                <a:latin typeface="Segoe UI"/>
              </a:defRPr>
            </a:pPr>
            <a:r>
              <a:t>• Expand across regional university hubs</a:t>
            </a:r>
          </a:p>
          <a:p>
            <a:pPr>
              <a:spcBef>
                <a:spcPts val="600"/>
              </a:spcBef>
              <a:defRPr sz="1050">
                <a:solidFill>
                  <a:srgbClr val="A1A1AA"/>
                </a:solidFill>
                <a:latin typeface="Segoe UI"/>
              </a:defRPr>
            </a:pPr>
            <a:r>
              <a:t>• Target 50 campus deployments</a:t>
            </a:r>
          </a:p>
          <a:p>
            <a:pPr>
              <a:spcBef>
                <a:spcPts val="600"/>
              </a:spcBef>
              <a:defRPr sz="1050">
                <a:solidFill>
                  <a:srgbClr val="A1A1AA"/>
                </a:solidFill>
                <a:latin typeface="Segoe UI"/>
              </a:defRPr>
            </a:pPr>
            <a:r>
              <a:t>• Launch campus delivery with student runners</a:t>
            </a:r>
          </a:p>
          <a:p>
            <a:pPr>
              <a:spcBef>
                <a:spcPts val="600"/>
              </a:spcBef>
              <a:defRPr sz="1050">
                <a:solidFill>
                  <a:srgbClr val="A1A1AA"/>
                </a:solidFill>
                <a:latin typeface="Segoe UI"/>
              </a:defRPr>
            </a:pPr>
            <a:r>
              <a:t>• Introduce Merchant Analytics SaaS</a:t>
            </a:r>
          </a:p>
          <a:p>
            <a:pPr>
              <a:spcBef>
                <a:spcPts val="600"/>
              </a:spcBef>
              <a:defRPr sz="1050">
                <a:solidFill>
                  <a:srgbClr val="A1A1AA"/>
                </a:solidFill>
                <a:latin typeface="Segoe UI"/>
              </a:defRPr>
            </a:pPr>
            <a:r>
              <a:t>• Target ₹35 Cr annualized GMV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1920240"/>
            <a:ext cx="3474720" cy="438912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2D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2148840"/>
            <a:ext cx="3108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6B2C"/>
                </a:solidFill>
                <a:latin typeface="Outfit"/>
              </a:defRPr>
            </a:pPr>
            <a:r>
              <a:t>PHASE 3</a:t>
            </a:r>
          </a:p>
          <a:p>
            <a:pPr>
              <a:spcBef>
                <a:spcPts val="400"/>
              </a:spcBef>
              <a:defRPr sz="1600" b="1">
                <a:solidFill>
                  <a:srgbClr val="F5F5F7"/>
                </a:solidFill>
                <a:latin typeface="Outfit"/>
              </a:defRPr>
            </a:pPr>
            <a:r>
              <a:t>National Standardization</a:t>
            </a:r>
          </a:p>
          <a:p>
            <a:pPr>
              <a:spcBef>
                <a:spcPts val="200"/>
              </a:spcBef>
              <a:defRPr sz="1100">
                <a:solidFill>
                  <a:srgbClr val="FFB347"/>
                </a:solidFill>
                <a:latin typeface="Segoe UI"/>
              </a:defRPr>
            </a:pPr>
            <a:r>
              <a:t>5,000+ Colleges Across India</a:t>
            </a:r>
          </a:p>
          <a:p>
            <a:pPr>
              <a:spcBef>
                <a:spcPts val="600"/>
              </a:spcBef>
              <a:defRPr sz="1050">
                <a:solidFill>
                  <a:srgbClr val="A1A1AA"/>
                </a:solidFill>
                <a:latin typeface="Segoe UI"/>
              </a:defRPr>
            </a:pPr>
            <a:r>
              <a:t>• Scale across major universities nationwide</a:t>
            </a:r>
          </a:p>
          <a:p>
            <a:pPr>
              <a:spcBef>
                <a:spcPts val="600"/>
              </a:spcBef>
              <a:defRPr sz="1050">
                <a:solidFill>
                  <a:srgbClr val="A1A1AA"/>
                </a:solidFill>
                <a:latin typeface="Segoe UI"/>
              </a:defRPr>
            </a:pPr>
            <a:r>
              <a:t>• Partner with university administrations</a:t>
            </a:r>
          </a:p>
          <a:p>
            <a:pPr>
              <a:spcBef>
                <a:spcPts val="600"/>
              </a:spcBef>
              <a:defRPr sz="1050">
                <a:solidFill>
                  <a:srgbClr val="A1A1AA"/>
                </a:solidFill>
                <a:latin typeface="Segoe UI"/>
              </a:defRPr>
            </a:pPr>
            <a:r>
              <a:t>• Launch FoodLine API for canteen POS systems</a:t>
            </a:r>
          </a:p>
          <a:p>
            <a:pPr>
              <a:spcBef>
                <a:spcPts val="600"/>
              </a:spcBef>
              <a:defRPr sz="1050">
                <a:solidFill>
                  <a:srgbClr val="A1A1AA"/>
                </a:solidFill>
                <a:latin typeface="Segoe UI"/>
              </a:defRPr>
            </a:pPr>
            <a:r>
              <a:t>• AI-powered demand prediction engine</a:t>
            </a:r>
          </a:p>
          <a:p>
            <a:pPr>
              <a:spcBef>
                <a:spcPts val="600"/>
              </a:spcBef>
              <a:defRPr sz="1050">
                <a:solidFill>
                  <a:srgbClr val="A1A1AA"/>
                </a:solidFill>
                <a:latin typeface="Segoe UI"/>
              </a:defRPr>
            </a:pPr>
            <a:r>
              <a:t>• Target ₹500 Cr+ annual GMV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6B2C"/>
                </a:solidFill>
                <a:latin typeface="Outfit"/>
              </a:defRPr>
            </a:pPr>
            <a:r>
              <a:t>FINANCIAL PROJECTIONS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5F5F7"/>
                </a:solidFill>
                <a:latin typeface="Outfit"/>
              </a:defRPr>
            </a:pPr>
            <a:r>
              <a:t>Revenue &amp; Growth Trajectory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1A1AA"/>
                </a:solidFill>
                <a:latin typeface="Segoe UI"/>
              </a:defRPr>
            </a:pPr>
            <a:r>
              <a:t>Projections based on target unit economics and Maharashtra campus density.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3474720" cy="164592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2D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B347"/>
                </a:solidFill>
                <a:latin typeface="Outfit"/>
              </a:defRPr>
            </a:pPr>
            <a:r>
              <a:t>Year 1 (Pilot Phase)</a:t>
            </a:r>
          </a:p>
          <a:p>
            <a:pPr>
              <a:spcBef>
                <a:spcPts val="400"/>
              </a:spcBef>
              <a:defRPr sz="2800" b="1">
                <a:solidFill>
                  <a:srgbClr val="F5F5F7"/>
                </a:solidFill>
                <a:latin typeface="Outfit"/>
              </a:defRPr>
            </a:pPr>
            <a:r>
              <a:t>₹1.2 Cr</a:t>
            </a:r>
          </a:p>
          <a:p>
            <a:pPr>
              <a:defRPr sz="1050">
                <a:solidFill>
                  <a:srgbClr val="00D4AA"/>
                </a:solidFill>
                <a:latin typeface="Segoe UI"/>
              </a:defRPr>
            </a:pPr>
            <a:r>
              <a:t>Gross Target Revenue  [Pilot Target]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828800"/>
            <a:ext cx="3474720" cy="164592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2D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96596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B347"/>
                </a:solidFill>
                <a:latin typeface="Outfit"/>
              </a:defRPr>
            </a:pPr>
            <a:r>
              <a:t>Year 2 (Expansion)</a:t>
            </a:r>
          </a:p>
          <a:p>
            <a:pPr>
              <a:spcBef>
                <a:spcPts val="400"/>
              </a:spcBef>
              <a:defRPr sz="2800" b="1">
                <a:solidFill>
                  <a:srgbClr val="F5F5F7"/>
                </a:solidFill>
                <a:latin typeface="Outfit"/>
              </a:defRPr>
            </a:pPr>
            <a:r>
              <a:t>₹8.5 Cr</a:t>
            </a:r>
          </a:p>
          <a:p>
            <a:pPr>
              <a:defRPr sz="1050">
                <a:solidFill>
                  <a:srgbClr val="00D4AA"/>
                </a:solidFill>
                <a:latin typeface="Segoe UI"/>
              </a:defRPr>
            </a:pPr>
            <a:r>
              <a:t>Gross Target Revenue  [↑ 608% YoY Growth]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1828800"/>
            <a:ext cx="3474720" cy="164592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2D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96596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B347"/>
                </a:solidFill>
                <a:latin typeface="Outfit"/>
              </a:defRPr>
            </a:pPr>
            <a:r>
              <a:t>Year 3 (Scale)</a:t>
            </a:r>
          </a:p>
          <a:p>
            <a:pPr>
              <a:spcBef>
                <a:spcPts val="400"/>
              </a:spcBef>
              <a:defRPr sz="2800" b="1">
                <a:solidFill>
                  <a:srgbClr val="F5F5F7"/>
                </a:solidFill>
                <a:latin typeface="Outfit"/>
              </a:defRPr>
            </a:pPr>
            <a:r>
              <a:t>₹35 Cr</a:t>
            </a:r>
          </a:p>
          <a:p>
            <a:pPr>
              <a:defRPr sz="1050">
                <a:solidFill>
                  <a:srgbClr val="00D4AA"/>
                </a:solidFill>
                <a:latin typeface="Segoe UI"/>
              </a:defRPr>
            </a:pPr>
            <a:r>
              <a:t>Gross Target Revenue  [↑ 312% YoY Growth]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657600"/>
            <a:ext cx="3474720" cy="146304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2D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79476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1A1AA"/>
                </a:solidFill>
                <a:latin typeface="Outfit"/>
              </a:defRPr>
            </a:pPr>
            <a:r>
              <a:t>Avg Order Value</a:t>
            </a:r>
          </a:p>
          <a:p>
            <a:pPr>
              <a:spcBef>
                <a:spcPts val="400"/>
              </a:spcBef>
              <a:defRPr sz="2400" b="1">
                <a:solidFill>
                  <a:srgbClr val="F5F5F7"/>
                </a:solidFill>
                <a:latin typeface="Outfit"/>
              </a:defRPr>
            </a:pPr>
            <a:r>
              <a:t>₹45</a:t>
            </a:r>
          </a:p>
          <a:p>
            <a:pPr>
              <a:defRPr sz="1050">
                <a:solidFill>
                  <a:srgbClr val="71717A"/>
                </a:solidFill>
                <a:latin typeface="Segoe UI"/>
              </a:defRPr>
            </a:pPr>
            <a:r>
              <a:t>Per Transaction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3657600"/>
            <a:ext cx="3474720" cy="146304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2D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379476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1A1AA"/>
                </a:solidFill>
                <a:latin typeface="Outfit"/>
              </a:defRPr>
            </a:pPr>
            <a:r>
              <a:t>Target Daily Orders</a:t>
            </a:r>
          </a:p>
          <a:p>
            <a:pPr>
              <a:spcBef>
                <a:spcPts val="400"/>
              </a:spcBef>
              <a:defRPr sz="2400" b="1">
                <a:solidFill>
                  <a:srgbClr val="F5F5F7"/>
                </a:solidFill>
                <a:latin typeface="Outfit"/>
              </a:defRPr>
            </a:pPr>
            <a:r>
              <a:t>12,000+</a:t>
            </a:r>
          </a:p>
          <a:p>
            <a:pPr>
              <a:defRPr sz="1050">
                <a:solidFill>
                  <a:srgbClr val="71717A"/>
                </a:solidFill>
                <a:latin typeface="Segoe UI"/>
              </a:defRPr>
            </a:pPr>
            <a:r>
              <a:t>Across 50 Campuses (Y2)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55280" y="3657600"/>
            <a:ext cx="3474720" cy="146304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2D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0" y="379476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1A1AA"/>
                </a:solidFill>
                <a:latin typeface="Outfit"/>
              </a:defRPr>
            </a:pPr>
            <a:r>
              <a:t>Target Gross Margin</a:t>
            </a:r>
          </a:p>
          <a:p>
            <a:pPr>
              <a:spcBef>
                <a:spcPts val="400"/>
              </a:spcBef>
              <a:defRPr sz="2400" b="1">
                <a:solidFill>
                  <a:srgbClr val="F5F5F7"/>
                </a:solidFill>
                <a:latin typeface="Outfit"/>
              </a:defRPr>
            </a:pPr>
            <a:r>
              <a:t>72%</a:t>
            </a:r>
          </a:p>
          <a:p>
            <a:pPr>
              <a:defRPr sz="1050">
                <a:solidFill>
                  <a:srgbClr val="71717A"/>
                </a:solidFill>
                <a:latin typeface="Segoe UI"/>
              </a:defRPr>
            </a:pPr>
            <a:r>
              <a:t>Asset-Light Model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303520"/>
            <a:ext cx="10698480" cy="1005840"/>
          </a:xfrm>
          <a:prstGeom prst="roundRect">
            <a:avLst/>
          </a:prstGeom>
          <a:solidFill>
            <a:srgbClr val="191414"/>
          </a:solidFill>
          <a:ln w="12700">
            <a:solidFill>
              <a:srgbClr val="FF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3492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6B2C"/>
                </a:solidFill>
                <a:latin typeface="Outfit"/>
              </a:defRPr>
            </a:pPr>
            <a:r>
              <a:t>💡 UNIT ECONOMICS ADVANTAGE</a:t>
            </a:r>
          </a:p>
          <a:p>
            <a:pPr>
              <a:defRPr sz="1150">
                <a:solidFill>
                  <a:srgbClr val="F5F5F7"/>
                </a:solidFill>
                <a:latin typeface="Segoe UI"/>
              </a:defRPr>
            </a:pPr>
            <a:r>
              <a:t>CAC: ₹0 (organic campus adoption via QR standees) • LTV: ₹2,400+/year (avg student places 200+ orders/year) • LTV:CAC Ratio: ∞. Break-even expected within 8 months of campus deployment.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6B2C"/>
                </a:solidFill>
                <a:latin typeface="Outfit"/>
              </a:defRPr>
            </a:pPr>
            <a:r>
              <a:t>THE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5F5F7"/>
                </a:solidFill>
                <a:latin typeface="Outfit"/>
              </a:defRPr>
            </a:pPr>
            <a:r>
              <a:t>Built by Students, for Students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1A1AA"/>
                </a:solidFill>
                <a:latin typeface="Segoe UI"/>
              </a:defRPr>
            </a:pPr>
            <a:r>
              <a:t>A founding team with deep campus insight and full-stack engineering capabilities.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20240"/>
            <a:ext cx="3474720" cy="438912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2D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5840" y="2286000"/>
            <a:ext cx="822960" cy="822960"/>
          </a:xfrm>
          <a:prstGeom prst="ellipse">
            <a:avLst/>
          </a:prstGeom>
          <a:solidFill>
            <a:srgbClr val="FF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A0A0F"/>
                </a:solidFill>
                <a:latin typeface="Outfit"/>
              </a:defRPr>
            </a:pPr>
            <a:r>
              <a:t>SN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291840"/>
            <a:ext cx="29260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F5F7"/>
                </a:solidFill>
                <a:latin typeface="Outfit"/>
              </a:defRPr>
            </a:pPr>
            <a:r>
              <a:t>Shivam Nirmal</a:t>
            </a:r>
          </a:p>
          <a:p>
            <a:pPr>
              <a:spcBef>
                <a:spcPts val="200"/>
              </a:spcBef>
              <a:defRPr sz="1200" b="1">
                <a:solidFill>
                  <a:srgbClr val="FF6B2C"/>
                </a:solidFill>
                <a:latin typeface="Outfit"/>
              </a:defRPr>
            </a:pPr>
            <a:r>
              <a:t>Founder &amp; CEO</a:t>
            </a:r>
          </a:p>
          <a:p>
            <a:pPr>
              <a:spcBef>
                <a:spcPts val="1000"/>
              </a:spcBef>
              <a:defRPr sz="1150">
                <a:solidFill>
                  <a:srgbClr val="A1A1AA"/>
                </a:solidFill>
                <a:latin typeface="Segoe UI"/>
              </a:defRPr>
            </a:pPr>
            <a:r>
              <a:t>Full-stack engineer and campus operations strategist. Architect of FoodLine's Option C payment engine and SSE infrastructure.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920240"/>
            <a:ext cx="3474720" cy="438912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2D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617720" y="2286000"/>
            <a:ext cx="822960" cy="82296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A0A0F"/>
                </a:solidFill>
                <a:latin typeface="Outfit"/>
              </a:defRPr>
            </a:pPr>
            <a:r>
              <a:t>TC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3291840"/>
            <a:ext cx="29260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F5F7"/>
                </a:solidFill>
                <a:latin typeface="Outfit"/>
              </a:defRPr>
            </a:pPr>
            <a:r>
              <a:t>Technical Co-Founder</a:t>
            </a:r>
          </a:p>
          <a:p>
            <a:pPr>
              <a:spcBef>
                <a:spcPts val="200"/>
              </a:spcBef>
              <a:defRPr sz="1200" b="1">
                <a:solidFill>
                  <a:srgbClr val="00D4AA"/>
                </a:solidFill>
                <a:latin typeface="Outfit"/>
              </a:defRPr>
            </a:pPr>
            <a:r>
              <a:t>Chief Technology Officer (CTO)</a:t>
            </a:r>
          </a:p>
          <a:p>
            <a:pPr>
              <a:spcBef>
                <a:spcPts val="1000"/>
              </a:spcBef>
              <a:defRPr sz="1150">
                <a:solidFill>
                  <a:srgbClr val="A1A1AA"/>
                </a:solidFill>
                <a:latin typeface="Segoe UI"/>
              </a:defRPr>
            </a:pPr>
            <a:r>
              <a:t>Systems architect specializing in real-time event-driven architectures, database optimization, and mobile-first experiences.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1920240"/>
            <a:ext cx="3474720" cy="438912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2D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229600" y="2286000"/>
            <a:ext cx="822960" cy="82296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A0A0F"/>
                </a:solidFill>
                <a:latin typeface="Outfit"/>
              </a:defRPr>
            </a:pPr>
            <a:r>
              <a:t>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3291840"/>
            <a:ext cx="29260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F5F7"/>
                </a:solidFill>
                <a:latin typeface="Outfit"/>
              </a:defRPr>
            </a:pPr>
            <a:r>
              <a:t>Operations Lead</a:t>
            </a:r>
          </a:p>
          <a:p>
            <a:pPr>
              <a:spcBef>
                <a:spcPts val="200"/>
              </a:spcBef>
              <a:defRPr sz="1200" b="1">
                <a:solidFill>
                  <a:srgbClr val="8B5CF6"/>
                </a:solidFill>
                <a:latin typeface="Outfit"/>
              </a:defRPr>
            </a:pPr>
            <a:r>
              <a:t>Chief Operating Officer (COO)</a:t>
            </a:r>
          </a:p>
          <a:p>
            <a:pPr>
              <a:spcBef>
                <a:spcPts val="1000"/>
              </a:spcBef>
              <a:defRPr sz="1150">
                <a:solidFill>
                  <a:srgbClr val="A1A1AA"/>
                </a:solidFill>
                <a:latin typeface="Segoe UI"/>
              </a:defRPr>
            </a:pPr>
            <a:r>
              <a:t>Campus engagement expert managing vendor relationships, student ambassador programs, and ground-level pilot execution.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914400"/>
            <a:ext cx="9418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6B2C"/>
                </a:solidFill>
                <a:latin typeface="Outfit"/>
              </a:defRPr>
            </a:pPr>
            <a:r>
              <a:t>THE FUTURE OF CAMPUS DINING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280160"/>
            <a:ext cx="94183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5F5F7"/>
                </a:solidFill>
                <a:latin typeface="Outfit"/>
              </a:defRPr>
            </a:pPr>
            <a:r>
              <a:t>The Future of Campus Dining Starts 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377440"/>
            <a:ext cx="9418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A1A1AA"/>
                </a:solidFill>
                <a:latin typeface="Segoe UI"/>
              </a:defRPr>
            </a:pPr>
            <a:r>
              <a:t>A Startup Concept Ready to Scale: From Sanjivani University to 5,000+ Campuses Across India.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11680" y="3108960"/>
            <a:ext cx="2560320" cy="118872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2D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48840" y="32461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6B2C"/>
                </a:solidFill>
                <a:latin typeface="Outfit"/>
              </a:defRPr>
            </a:pPr>
            <a:r>
              <a:t>PHASE 1</a:t>
            </a:r>
          </a:p>
          <a:p>
            <a:pPr algn="ctr">
              <a:defRPr sz="1300" b="1">
                <a:solidFill>
                  <a:srgbClr val="F5F5F7"/>
                </a:solidFill>
                <a:latin typeface="Outfit"/>
              </a:defRPr>
            </a:pPr>
            <a:r>
              <a:t>Flagship Pilot</a:t>
            </a:r>
          </a:p>
          <a:p>
            <a:pPr algn="ctr">
              <a:defRPr sz="1000">
                <a:solidFill>
                  <a:srgbClr val="71717A"/>
                </a:solidFill>
                <a:latin typeface="Segoe UI"/>
              </a:defRPr>
            </a:pPr>
            <a:r>
              <a:t>Sanjivani University (Cafe @7)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46320" y="3108960"/>
            <a:ext cx="2560320" cy="118872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2D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83480" y="32461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6B2C"/>
                </a:solidFill>
                <a:latin typeface="Outfit"/>
              </a:defRPr>
            </a:pPr>
            <a:r>
              <a:t>PHASE 2</a:t>
            </a:r>
          </a:p>
          <a:p>
            <a:pPr algn="ctr">
              <a:defRPr sz="1300" b="1">
                <a:solidFill>
                  <a:srgbClr val="F5F5F7"/>
                </a:solidFill>
                <a:latin typeface="Outfit"/>
              </a:defRPr>
            </a:pPr>
            <a:r>
              <a:t>City Expansion</a:t>
            </a:r>
          </a:p>
          <a:p>
            <a:pPr algn="ctr">
              <a:defRPr sz="1000">
                <a:solidFill>
                  <a:srgbClr val="71717A"/>
                </a:solidFill>
                <a:latin typeface="Segoe UI"/>
              </a:defRPr>
            </a:pPr>
            <a:r>
              <a:t>50 Campuses across MH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3108960"/>
            <a:ext cx="2560320" cy="118872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2D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18120" y="32461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6B2C"/>
                </a:solidFill>
                <a:latin typeface="Outfit"/>
              </a:defRPr>
            </a:pPr>
            <a:r>
              <a:t>PHASE 3</a:t>
            </a:r>
          </a:p>
          <a:p>
            <a:pPr algn="ctr">
              <a:defRPr sz="1300" b="1">
                <a:solidFill>
                  <a:srgbClr val="F5F5F7"/>
                </a:solidFill>
                <a:latin typeface="Outfit"/>
              </a:defRPr>
            </a:pPr>
            <a:r>
              <a:t>National Scale</a:t>
            </a:r>
          </a:p>
          <a:p>
            <a:pPr algn="ctr">
              <a:defRPr sz="1000">
                <a:solidFill>
                  <a:srgbClr val="71717A"/>
                </a:solidFill>
                <a:latin typeface="Segoe UI"/>
              </a:defRPr>
            </a:pPr>
            <a:r>
              <a:t>5,000+ Colleges Pan-India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57200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5F5F7"/>
                </a:solidFill>
                <a:latin typeface="Outfit"/>
              </a:defRPr>
            </a:pPr>
            <a:r>
              <a:t>🚀 FoodLine — Skip the Line, Not the Meal.</a:t>
            </a:r>
          </a:p>
          <a:p>
            <a:pPr algn="ctr">
              <a:defRPr sz="1200">
                <a:solidFill>
                  <a:srgbClr val="71717A"/>
                </a:solidFill>
                <a:latin typeface="Segoe UI"/>
              </a:defRPr>
            </a:pPr>
            <a:r>
              <a:t>Prototype Architecture Ready • Next.js 15 + React 19 + Supabase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60" y="5486400"/>
            <a:ext cx="2743200" cy="640080"/>
          </a:xfrm>
          <a:prstGeom prst="roundRect">
            <a:avLst/>
          </a:prstGeom>
          <a:solidFill>
            <a:srgbClr val="FF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A0A0F"/>
                </a:solidFill>
                <a:latin typeface="Outfit"/>
              </a:defRPr>
            </a:pPr>
            <a:r>
              <a:t>Let's Talk  →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